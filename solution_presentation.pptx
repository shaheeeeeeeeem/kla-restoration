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2E"/>
                </a:solidFill>
                <a:latin typeface="Cambria"/>
              </a:defRPr>
            </a:pPr>
            <a:r>
              <a:rPr sz="1300" b="0" i="0" u="none" strike="noStrike">
                <a:solidFill>
                  <a:srgbClr val="13202E"/>
                </a:solidFill>
                <a:latin typeface="Cambria"/>
              </a:rPr>
              <a:t>Validation PSNR vs training step</a:t>
            </a:r>
          </a:p>
        </c:rich>
      </c:tx>
      <c:layout/>
      <c:overlay val="0"/>
    </c:title>
    <c:autoTitleDeleted val="0"/>
    <c:plotArea>
      <c:layout/>
      <c:lineChart>
        <c:varyColors val="0"/>
        <c:ser>
          <c:idx val="0"/>
          <c:order val="0"/>
          <c:tx>
            <c:strRef>
              <c:f>Sheet1!$B$1</c:f>
              <c:strCache>
                <c:ptCount val="1"/>
                <c:pt idx="0">
                  <c:v>val PSNR</c:v>
                </c:pt>
              </c:strCache>
            </c:strRef>
          </c:tx>
          <c:spPr>
            <a:solidFill>
              <a:srgbClr val="1C7293"/>
            </a:solidFill>
            <a:ln w="38100" cap="flat">
              <a:solidFill>
                <a:srgbClr val="1C729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C7293"/>
              </a:solidFill>
              <a:ln w="9525" cap="flat">
                <a:solidFill>
                  <a:srgbClr val="1C7293"/>
                </a:solidFill>
                <a:prstDash val="solid"/>
                <a:round/>
              </a:ln>
              <a:effectLst/>
            </c:spPr>
          </c:marker>
          <c:cat>
            <c:multiLvlStrRef>
              <c:f>Sheet1!$A$2:$A$10</c:f>
              <c:multiLvlStrCache>
                <c:ptCount val="9"/>
                <c:lvl>
                  <c:pt idx="0">
                    <c:v>1000</c:v>
                  </c:pt>
                  <c:pt idx="1">
                    <c:v>2000</c:v>
                  </c:pt>
                  <c:pt idx="2">
                    <c:v>3000</c:v>
                  </c:pt>
                  <c:pt idx="3">
                    <c:v>4000</c:v>
                  </c:pt>
                  <c:pt idx="4">
                    <c:v>5000</c:v>
                  </c:pt>
                  <c:pt idx="5">
                    <c:v>6000</c:v>
                  </c:pt>
                  <c:pt idx="6">
                    <c:v>7000</c:v>
                  </c:pt>
                  <c:pt idx="7">
                    <c:v>8000</c:v>
                  </c:pt>
                  <c:pt idx="8">
                    <c:v>9000</c:v>
                  </c:pt>
                </c:lvl>
              </c:multiLvlStrCache>
            </c:multiLvlStrRef>
          </c:cat>
          <c:val>
            <c:numRef>
              <c:f>Sheet1!$B$2:$B$10</c:f>
              <c:numCache>
                <c:formatCode>General</c:formatCode>
                <c:ptCount val="9"/>
                <c:pt idx="0">
                  <c:v>24.544</c:v>
                </c:pt>
                <c:pt idx="1">
                  <c:v>26.2598</c:v>
                </c:pt>
                <c:pt idx="2">
                  <c:v>27.3359</c:v>
                </c:pt>
                <c:pt idx="3">
                  <c:v>27.515</c:v>
                </c:pt>
                <c:pt idx="4">
                  <c:v>27.3137</c:v>
                </c:pt>
                <c:pt idx="5">
                  <c:v>27.0902</c:v>
                </c:pt>
                <c:pt idx="6">
                  <c:v>26.9022</c:v>
                </c:pt>
                <c:pt idx="7">
                  <c:v>26.7345</c:v>
                </c:pt>
                <c:pt idx="8">
                  <c:v>26.5777</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186"/>
                </a:solidFill>
                <a:latin typeface="Arial"/>
              </a:defRPr>
            </a:pPr>
            <a:endParaRPr lang="en-US"/>
          </a:p>
        </c:txPr>
        <c:crossAx val="2094734552"/>
        <c:crosses val="autoZero"/>
        <c:auto val="1"/>
        <c:lblAlgn val="ctr"/>
        <c:noMultiLvlLbl val="1"/>
      </c:catAx>
      <c:valAx>
        <c:axId val="2094734552"/>
        <c:scaling>
          <c:orientation val="minMax"/>
          <c:min val="22"/>
        </c:scaling>
        <c:delete val="0"/>
        <c:axPos val="l"/>
        <c:majorGridlines>
          <c:spPr>
            <a:ln w="12700" cap="flat">
              <a:solidFill>
                <a:srgbClr val="D9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7186"/>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learn the inverse of speckle + Gaussian noise + 2x downsampling, applied in undisclosed random order. Single-channel grayscale natural imagery.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decision: one joint mapping, not a cascade, because the degradation order is not disclosed.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 is exactly in [0,1] over all 3200. NoisyLR exceeds on BOTH ends, including negative values, which the brief did not mention.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global residual means the network only learns the correction, which converges faster and preserves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Augmentation is restricted to geometry because intensity augmentation would change the noise statistics we are trying to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implementation of the NAFNet block design (Chen et al., ECCV 2022). No code or weights copied.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rejection here is a deliberate, defensible engineering decision, not 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Sanity A is the check that de-risks everything: if a 4M net cannot overfit 2 images, the pipeline is wired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split is 200 images held out by image from train/, seeded and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scoring clock includes I/O, which is why writing is threaded and reads are overlapped.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Mandatory checklist item: at least one honest failure case is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 is public; weights resolve relative to the script, not the CWD.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C2E"/>
        </a:solidFill>
      </p:bgPr>
    </p:bg>
    <p:spTree>
      <p:nvGrpSpPr>
        <p:cNvPr id="1" name=""/>
        <p:cNvGrpSpPr/>
        <p:nvPr/>
      </p:nvGrpSpPr>
      <p:grpSpPr>
        <a:xfrm>
          <a:off x="0" y="0"/>
          <a:ext cx="0" cy="0"/>
          <a:chOff x="0" y="0"/>
          <a:chExt cx="0" cy="0"/>
        </a:xfrm>
      </p:grpSpPr>
      <p:sp>
        <p:nvSpPr>
          <p:cNvPr id="2" name="Shape 0"/>
          <p:cNvSpPr/>
          <p:nvPr/>
        </p:nvSpPr>
        <p:spPr>
          <a:xfrm>
            <a:off x="8778240" y="-1371600"/>
            <a:ext cx="5120640" cy="5120640"/>
          </a:xfrm>
          <a:prstGeom prst="ellipse">
            <a:avLst/>
          </a:prstGeom>
          <a:solidFill>
            <a:srgbClr val="16324F"/>
          </a:solidFill>
          <a:ln w="12700">
            <a:solidFill>
              <a:srgbClr val="16324F"/>
            </a:solidFill>
            <a:prstDash val="solid"/>
          </a:ln>
        </p:spPr>
      </p:sp>
      <p:sp>
        <p:nvSpPr>
          <p:cNvPr id="3" name="Shape 1"/>
          <p:cNvSpPr/>
          <p:nvPr/>
        </p:nvSpPr>
        <p:spPr>
          <a:xfrm>
            <a:off x="9966960" y="3108960"/>
            <a:ext cx="3108960" cy="3108960"/>
          </a:xfrm>
          <a:prstGeom prst="ellipse">
            <a:avLst/>
          </a:prstGeom>
          <a:solidFill>
            <a:srgbClr val="065A82"/>
          </a:solidFill>
          <a:ln w="12700">
            <a:solidFill>
              <a:srgbClr val="065A82"/>
            </a:solidFill>
            <a:prstDash val="solid"/>
          </a:ln>
        </p:spPr>
      </p:sp>
      <p:sp>
        <p:nvSpPr>
          <p:cNvPr id="4" name="Text 2"/>
          <p:cNvSpPr/>
          <p:nvPr/>
        </p:nvSpPr>
        <p:spPr>
          <a:xfrm>
            <a:off x="566928" y="1234440"/>
            <a:ext cx="7680960" cy="320040"/>
          </a:xfrm>
          <a:prstGeom prst="rect">
            <a:avLst/>
          </a:prstGeom>
          <a:noFill/>
          <a:ln/>
        </p:spPr>
        <p:txBody>
          <a:bodyPr wrap="square" lIns="0" tIns="0" rIns="0" bIns="0" rtlCol="0" anchor="ctr"/>
          <a:lstStyle/>
          <a:p>
            <a:pPr indent="0" marL="0">
              <a:buNone/>
            </a:pPr>
            <a:r>
              <a:rPr lang="en-US" sz="1350" b="1" spc="160" kern="0" dirty="0">
                <a:solidFill>
                  <a:srgbClr val="F2A65A"/>
                </a:solidFill>
                <a:latin typeface="Calibri" pitchFamily="34" charset="0"/>
                <a:ea typeface="Calibri" pitchFamily="34" charset="-122"/>
                <a:cs typeface="Calibri" pitchFamily="34" charset="-120"/>
              </a:rPr>
              <a:t>KLA · Image Restoration Challenge</a:t>
            </a:r>
            <a:endParaRPr lang="en-US" sz="1350" dirty="0"/>
          </a:p>
        </p:txBody>
      </p:sp>
      <p:sp>
        <p:nvSpPr>
          <p:cNvPr id="5" name="Text 3"/>
          <p:cNvSpPr/>
          <p:nvPr/>
        </p:nvSpPr>
        <p:spPr>
          <a:xfrm>
            <a:off x="566928" y="1664208"/>
            <a:ext cx="7863840" cy="169164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Recovering clean images from</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speckle, noise and ×2 downsampling</a:t>
            </a:r>
            <a:endParaRPr lang="en-US" sz="4000" dirty="0"/>
          </a:p>
        </p:txBody>
      </p:sp>
      <p:sp>
        <p:nvSpPr>
          <p:cNvPr id="6" name="Text 4"/>
          <p:cNvSpPr/>
          <p:nvPr/>
        </p:nvSpPr>
        <p:spPr>
          <a:xfrm>
            <a:off x="566928" y="3456432"/>
            <a:ext cx="7680960" cy="640080"/>
          </a:xfrm>
          <a:prstGeom prst="rect">
            <a:avLst/>
          </a:prstGeom>
          <a:noFill/>
          <a:ln/>
        </p:spPr>
        <p:txBody>
          <a:bodyPr wrap="square" lIns="0" tIns="0" rIns="0" bIns="0" rtlCol="0" anchor="ctr"/>
          <a:lstStyle/>
          <a:p>
            <a:pPr indent="0" marL="0">
              <a:buNone/>
            </a:pPr>
            <a:r>
              <a:rPr lang="en-US" sz="1450" dirty="0">
                <a:solidFill>
                  <a:srgbClr val="B9CBDA"/>
                </a:solidFill>
                <a:latin typeface="Calibri" pitchFamily="34" charset="0"/>
                <a:ea typeface="Calibri" pitchFamily="34" charset="-122"/>
                <a:cs typeface="Calibri" pitchFamily="34" charset="-120"/>
              </a:rPr>
              <a:t>A 4.02 M-parameter NAFNet-style restoration network, trained from scratch — no pretrained weights, no GAN loss.</a:t>
            </a:r>
            <a:endParaRPr lang="en-US" sz="1450" dirty="0"/>
          </a:p>
        </p:txBody>
      </p:sp>
      <p:sp>
        <p:nvSpPr>
          <p:cNvPr id="7" name="Text 5"/>
          <p:cNvSpPr/>
          <p:nvPr/>
        </p:nvSpPr>
        <p:spPr>
          <a:xfrm>
            <a:off x="566928" y="4443984"/>
            <a:ext cx="1783080" cy="457200"/>
          </a:xfrm>
          <a:prstGeom prst="rect">
            <a:avLst/>
          </a:prstGeom>
          <a:noFill/>
          <a:ln/>
        </p:spPr>
        <p:txBody>
          <a:bodyPr wrap="square" lIns="0" tIns="0" rIns="0" bIns="0" rtlCol="0" anchor="ctr"/>
          <a:lstStyle/>
          <a:p>
            <a:pPr indent="0" marL="0">
              <a:buNone/>
            </a:pPr>
            <a:r>
              <a:rPr lang="en-US" sz="2200" b="1" dirty="0">
                <a:solidFill>
                  <a:srgbClr val="F2A65A"/>
                </a:solidFill>
                <a:latin typeface="Cambria" pitchFamily="34" charset="0"/>
                <a:ea typeface="Cambria" pitchFamily="34" charset="-122"/>
                <a:cs typeface="Cambria" pitchFamily="34" charset="-120"/>
              </a:rPr>
              <a:t>27.52 dB</a:t>
            </a:r>
            <a:endParaRPr lang="en-US" sz="2200" dirty="0"/>
          </a:p>
        </p:txBody>
      </p:sp>
      <p:sp>
        <p:nvSpPr>
          <p:cNvPr id="8" name="Text 6"/>
          <p:cNvSpPr/>
          <p:nvPr/>
        </p:nvSpPr>
        <p:spPr>
          <a:xfrm>
            <a:off x="566928" y="4864608"/>
            <a:ext cx="1783080" cy="292608"/>
          </a:xfrm>
          <a:prstGeom prst="rect">
            <a:avLst/>
          </a:prstGeom>
          <a:noFill/>
          <a:ln/>
        </p:spPr>
        <p:txBody>
          <a:bodyPr wrap="square" lIns="0" tIns="0" rIns="0" bIns="0" rtlCol="0" anchor="ctr"/>
          <a:lstStyle/>
          <a:p>
            <a:pPr indent="0" marL="0">
              <a:buNone/>
            </a:pPr>
            <a:r>
              <a:rPr lang="en-US" sz="1050" dirty="0">
                <a:solidFill>
                  <a:srgbClr val="8FA3B8"/>
                </a:solidFill>
                <a:latin typeface="Calibri" pitchFamily="34" charset="0"/>
                <a:ea typeface="Calibri" pitchFamily="34" charset="-122"/>
                <a:cs typeface="Calibri" pitchFamily="34" charset="-120"/>
              </a:rPr>
              <a:t>val PSNR</a:t>
            </a:r>
            <a:endParaRPr lang="en-US" sz="1050" dirty="0"/>
          </a:p>
        </p:txBody>
      </p:sp>
      <p:sp>
        <p:nvSpPr>
          <p:cNvPr id="9" name="Text 7"/>
          <p:cNvSpPr/>
          <p:nvPr/>
        </p:nvSpPr>
        <p:spPr>
          <a:xfrm>
            <a:off x="2459736" y="4443984"/>
            <a:ext cx="1783080" cy="457200"/>
          </a:xfrm>
          <a:prstGeom prst="rect">
            <a:avLst/>
          </a:prstGeom>
          <a:noFill/>
          <a:ln/>
        </p:spPr>
        <p:txBody>
          <a:bodyPr wrap="square" lIns="0" tIns="0" rIns="0" bIns="0" rtlCol="0" anchor="ctr"/>
          <a:lstStyle/>
          <a:p>
            <a:pPr indent="0" marL="0">
              <a:buNone/>
            </a:pPr>
            <a:r>
              <a:rPr lang="en-US" sz="2200" b="1" dirty="0">
                <a:solidFill>
                  <a:srgbClr val="F2A65A"/>
                </a:solidFill>
                <a:latin typeface="Cambria" pitchFamily="34" charset="0"/>
                <a:ea typeface="Cambria" pitchFamily="34" charset="-122"/>
                <a:cs typeface="Cambria" pitchFamily="34" charset="-120"/>
              </a:rPr>
              <a:t>+4.79 dB</a:t>
            </a:r>
            <a:endParaRPr lang="en-US" sz="2200" dirty="0"/>
          </a:p>
        </p:txBody>
      </p:sp>
      <p:sp>
        <p:nvSpPr>
          <p:cNvPr id="10" name="Text 8"/>
          <p:cNvSpPr/>
          <p:nvPr/>
        </p:nvSpPr>
        <p:spPr>
          <a:xfrm>
            <a:off x="2459736" y="4864608"/>
            <a:ext cx="1783080" cy="292608"/>
          </a:xfrm>
          <a:prstGeom prst="rect">
            <a:avLst/>
          </a:prstGeom>
          <a:noFill/>
          <a:ln/>
        </p:spPr>
        <p:txBody>
          <a:bodyPr wrap="square" lIns="0" tIns="0" rIns="0" bIns="0" rtlCol="0" anchor="ctr"/>
          <a:lstStyle/>
          <a:p>
            <a:pPr indent="0" marL="0">
              <a:buNone/>
            </a:pPr>
            <a:r>
              <a:rPr lang="en-US" sz="1050" dirty="0">
                <a:solidFill>
                  <a:srgbClr val="8FA3B8"/>
                </a:solidFill>
                <a:latin typeface="Calibri" pitchFamily="34" charset="0"/>
                <a:ea typeface="Calibri" pitchFamily="34" charset="-122"/>
                <a:cs typeface="Calibri" pitchFamily="34" charset="-120"/>
              </a:rPr>
              <a:t>over bicubic</a:t>
            </a:r>
            <a:endParaRPr lang="en-US" sz="1050" dirty="0"/>
          </a:p>
        </p:txBody>
      </p:sp>
      <p:sp>
        <p:nvSpPr>
          <p:cNvPr id="11" name="Text 9"/>
          <p:cNvSpPr/>
          <p:nvPr/>
        </p:nvSpPr>
        <p:spPr>
          <a:xfrm>
            <a:off x="4352544" y="4443984"/>
            <a:ext cx="1783080" cy="457200"/>
          </a:xfrm>
          <a:prstGeom prst="rect">
            <a:avLst/>
          </a:prstGeom>
          <a:noFill/>
          <a:ln/>
        </p:spPr>
        <p:txBody>
          <a:bodyPr wrap="square" lIns="0" tIns="0" rIns="0" bIns="0" rtlCol="0" anchor="ctr"/>
          <a:lstStyle/>
          <a:p>
            <a:pPr indent="0" marL="0">
              <a:buNone/>
            </a:pPr>
            <a:r>
              <a:rPr lang="en-US" sz="2200" b="1" dirty="0">
                <a:solidFill>
                  <a:srgbClr val="F2A65A"/>
                </a:solidFill>
                <a:latin typeface="Cambria" pitchFamily="34" charset="0"/>
                <a:ea typeface="Cambria" pitchFamily="34" charset="-122"/>
                <a:cs typeface="Cambria" pitchFamily="34" charset="-120"/>
              </a:rPr>
              <a:t>4.02 M</a:t>
            </a:r>
            <a:endParaRPr lang="en-US" sz="2200" dirty="0"/>
          </a:p>
        </p:txBody>
      </p:sp>
      <p:sp>
        <p:nvSpPr>
          <p:cNvPr id="12" name="Text 10"/>
          <p:cNvSpPr/>
          <p:nvPr/>
        </p:nvSpPr>
        <p:spPr>
          <a:xfrm>
            <a:off x="4352544" y="4864608"/>
            <a:ext cx="1783080" cy="292608"/>
          </a:xfrm>
          <a:prstGeom prst="rect">
            <a:avLst/>
          </a:prstGeom>
          <a:noFill/>
          <a:ln/>
        </p:spPr>
        <p:txBody>
          <a:bodyPr wrap="square" lIns="0" tIns="0" rIns="0" bIns="0" rtlCol="0" anchor="ctr"/>
          <a:lstStyle/>
          <a:p>
            <a:pPr indent="0" marL="0">
              <a:buNone/>
            </a:pPr>
            <a:r>
              <a:rPr lang="en-US" sz="1050" dirty="0">
                <a:solidFill>
                  <a:srgbClr val="8FA3B8"/>
                </a:solidFill>
                <a:latin typeface="Calibri" pitchFamily="34" charset="0"/>
                <a:ea typeface="Calibri" pitchFamily="34" charset="-122"/>
                <a:cs typeface="Calibri" pitchFamily="34" charset="-120"/>
              </a:rPr>
              <a:t>parameters</a:t>
            </a:r>
            <a:endParaRPr lang="en-US" sz="1050" dirty="0"/>
          </a:p>
        </p:txBody>
      </p:sp>
      <p:sp>
        <p:nvSpPr>
          <p:cNvPr id="13" name="Text 11"/>
          <p:cNvSpPr/>
          <p:nvPr/>
        </p:nvSpPr>
        <p:spPr>
          <a:xfrm>
            <a:off x="6245352" y="4443984"/>
            <a:ext cx="1783080" cy="457200"/>
          </a:xfrm>
          <a:prstGeom prst="rect">
            <a:avLst/>
          </a:prstGeom>
          <a:noFill/>
          <a:ln/>
        </p:spPr>
        <p:txBody>
          <a:bodyPr wrap="square" lIns="0" tIns="0" rIns="0" bIns="0" rtlCol="0" anchor="ctr"/>
          <a:lstStyle/>
          <a:p>
            <a:pPr indent="0" marL="0">
              <a:buNone/>
            </a:pPr>
            <a:r>
              <a:rPr lang="en-US" sz="2200" b="1" dirty="0">
                <a:solidFill>
                  <a:srgbClr val="F2A65A"/>
                </a:solidFill>
                <a:latin typeface="Cambria" pitchFamily="34" charset="0"/>
                <a:ea typeface="Cambria" pitchFamily="34" charset="-122"/>
                <a:cs typeface="Cambria" pitchFamily="34" charset="-120"/>
              </a:rPr>
              <a:t>0</a:t>
            </a:r>
            <a:endParaRPr lang="en-US" sz="2200" dirty="0"/>
          </a:p>
        </p:txBody>
      </p:sp>
      <p:sp>
        <p:nvSpPr>
          <p:cNvPr id="14" name="Text 12"/>
          <p:cNvSpPr/>
          <p:nvPr/>
        </p:nvSpPr>
        <p:spPr>
          <a:xfrm>
            <a:off x="6245352" y="4864608"/>
            <a:ext cx="1783080" cy="292608"/>
          </a:xfrm>
          <a:prstGeom prst="rect">
            <a:avLst/>
          </a:prstGeom>
          <a:noFill/>
          <a:ln/>
        </p:spPr>
        <p:txBody>
          <a:bodyPr wrap="square" lIns="0" tIns="0" rIns="0" bIns="0" rtlCol="0" anchor="ctr"/>
          <a:lstStyle/>
          <a:p>
            <a:pPr indent="0" marL="0">
              <a:buNone/>
            </a:pPr>
            <a:r>
              <a:rPr lang="en-US" sz="1050" dirty="0">
                <a:solidFill>
                  <a:srgbClr val="8FA3B8"/>
                </a:solidFill>
                <a:latin typeface="Calibri" pitchFamily="34" charset="0"/>
                <a:ea typeface="Calibri" pitchFamily="34" charset="-122"/>
                <a:cs typeface="Calibri" pitchFamily="34" charset="-120"/>
              </a:rPr>
              <a:t>pretrained weights</a:t>
            </a:r>
            <a:endParaRPr lang="en-US" sz="1050" dirty="0"/>
          </a:p>
        </p:txBody>
      </p:sp>
      <p:sp>
        <p:nvSpPr>
          <p:cNvPr id="15" name="Text 13"/>
          <p:cNvSpPr/>
          <p:nvPr/>
        </p:nvSpPr>
        <p:spPr>
          <a:xfrm>
            <a:off x="566928" y="5943600"/>
            <a:ext cx="8229600" cy="292608"/>
          </a:xfrm>
          <a:prstGeom prst="rect">
            <a:avLst/>
          </a:prstGeom>
          <a:noFill/>
          <a:ln/>
        </p:spPr>
        <p:txBody>
          <a:bodyPr wrap="square" lIns="0" tIns="0" rIns="0" bIns="0" rtlCol="0" anchor="ctr"/>
          <a:lstStyle/>
          <a:p>
            <a:pPr indent="0" marL="0">
              <a:buNone/>
            </a:pPr>
            <a:r>
              <a:rPr lang="en-US" sz="1150" dirty="0">
                <a:solidFill>
                  <a:srgbClr val="7E93A8"/>
                </a:solidFill>
                <a:latin typeface="Calibri" pitchFamily="34" charset="0"/>
                <a:ea typeface="Calibri" pitchFamily="34" charset="-122"/>
                <a:cs typeface="Calibri" pitchFamily="34" charset="-120"/>
              </a:rPr>
              <a:t>Team ViSaSha  ·  Mohamed Shaheem · Sahasra Reddy · Vishnu Vardhan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66928" y="384048"/>
            <a:ext cx="11055096" cy="566928"/>
          </a:xfrm>
          <a:prstGeom prst="rect">
            <a:avLst/>
          </a:prstGeom>
          <a:noFill/>
          <a:ln/>
        </p:spPr>
        <p:txBody>
          <a:bodyPr wrap="square" lIns="0" tIns="0" rIns="0" bIns="0" rtlCol="0" anchor="ctr"/>
          <a:lstStyle/>
          <a:p>
            <a:pPr indent="0" marL="0">
              <a:buNone/>
            </a:pPr>
            <a:r>
              <a:rPr lang="en-US" sz="3200" b="1" dirty="0">
                <a:solidFill>
                  <a:srgbClr val="13202E"/>
                </a:solidFill>
                <a:latin typeface="Cambria" pitchFamily="34" charset="0"/>
                <a:ea typeface="Cambria" pitchFamily="34" charset="-122"/>
                <a:cs typeface="Cambria" pitchFamily="34" charset="-120"/>
              </a:rPr>
              <a:t>Problem understanding</a:t>
            </a:r>
            <a:endParaRPr lang="en-US" sz="3200" dirty="0"/>
          </a:p>
        </p:txBody>
      </p:sp>
      <p:sp>
        <p:nvSpPr>
          <p:cNvPr id="3" name="Text 1"/>
          <p:cNvSpPr/>
          <p:nvPr/>
        </p:nvSpPr>
        <p:spPr>
          <a:xfrm>
            <a:off x="566928" y="941832"/>
            <a:ext cx="11055096" cy="292608"/>
          </a:xfrm>
          <a:prstGeom prst="rect">
            <a:avLst/>
          </a:prstGeom>
          <a:noFill/>
          <a:ln/>
        </p:spPr>
        <p:txBody>
          <a:bodyPr wrap="square" lIns="0" tIns="0" rIns="0" bIns="0" rtlCol="0" anchor="ctr"/>
          <a:lstStyle/>
          <a:p>
            <a:pPr indent="0" marL="0">
              <a:buNone/>
            </a:pPr>
            <a:r>
              <a:rPr lang="en-US" sz="1350" i="1" dirty="0">
                <a:solidFill>
                  <a:srgbClr val="5B7186"/>
                </a:solidFill>
                <a:latin typeface="Calibri" pitchFamily="34" charset="0"/>
                <a:ea typeface="Calibri" pitchFamily="34" charset="-122"/>
                <a:cs typeface="Calibri" pitchFamily="34" charset="-120"/>
              </a:rPr>
              <a:t>Learn f⁻¹ : y → x, where y is the degraded low-resolution observation</a:t>
            </a:r>
            <a:endParaRPr lang="en-US" sz="1350" dirty="0"/>
          </a:p>
        </p:txBody>
      </p:sp>
      <p:sp>
        <p:nvSpPr>
          <p:cNvPr id="4" name="Shape 2"/>
          <p:cNvSpPr/>
          <p:nvPr/>
        </p:nvSpPr>
        <p:spPr>
          <a:xfrm>
            <a:off x="566928" y="1481328"/>
            <a:ext cx="3529584" cy="2121408"/>
          </a:xfrm>
          <a:prstGeom prst="roundRect">
            <a:avLst>
              <a:gd name="adj" fmla="val 2586"/>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5" name="Shape 3"/>
          <p:cNvSpPr/>
          <p:nvPr/>
        </p:nvSpPr>
        <p:spPr>
          <a:xfrm>
            <a:off x="804672" y="1709928"/>
            <a:ext cx="475488" cy="475488"/>
          </a:xfrm>
          <a:prstGeom prst="ellipse">
            <a:avLst/>
          </a:prstGeom>
          <a:solidFill>
            <a:srgbClr val="1C7293"/>
          </a:solidFill>
          <a:ln w="12700">
            <a:solidFill>
              <a:srgbClr val="1C7293"/>
            </a:solidFill>
            <a:prstDash val="solid"/>
          </a:ln>
        </p:spPr>
      </p:sp>
      <p:sp>
        <p:nvSpPr>
          <p:cNvPr id="6" name="Text 4"/>
          <p:cNvSpPr/>
          <p:nvPr/>
        </p:nvSpPr>
        <p:spPr>
          <a:xfrm>
            <a:off x="804672" y="170992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408176" y="1764792"/>
            <a:ext cx="2560320" cy="365760"/>
          </a:xfrm>
          <a:prstGeom prst="rect">
            <a:avLst/>
          </a:prstGeom>
          <a:noFill/>
          <a:ln/>
        </p:spPr>
        <p:txBody>
          <a:bodyPr wrap="square" lIns="0" tIns="0" rIns="0" bIns="0" rtlCol="0" anchor="ctr"/>
          <a:lstStyle/>
          <a:p>
            <a:pPr indent="0" marL="0">
              <a:buNone/>
            </a:pPr>
            <a:r>
              <a:rPr lang="en-US" sz="1600" b="1" dirty="0">
                <a:solidFill>
                  <a:srgbClr val="13202E"/>
                </a:solidFill>
                <a:latin typeface="Cambria" pitchFamily="34" charset="0"/>
                <a:ea typeface="Cambria" pitchFamily="34" charset="-122"/>
                <a:cs typeface="Cambria" pitchFamily="34" charset="-120"/>
              </a:rPr>
              <a:t>Speckle noise</a:t>
            </a:r>
            <a:endParaRPr lang="en-US" sz="1600" dirty="0"/>
          </a:p>
        </p:txBody>
      </p:sp>
      <p:sp>
        <p:nvSpPr>
          <p:cNvPr id="8" name="Text 6"/>
          <p:cNvSpPr/>
          <p:nvPr/>
        </p:nvSpPr>
        <p:spPr>
          <a:xfrm>
            <a:off x="804672" y="2340864"/>
            <a:ext cx="3054096" cy="1097280"/>
          </a:xfrm>
          <a:prstGeom prst="rect">
            <a:avLst/>
          </a:prstGeom>
          <a:noFill/>
          <a:ln/>
        </p:spPr>
        <p:txBody>
          <a:bodyPr wrap="square" lIns="0" tIns="0" rIns="0" bIns="0" rtlCol="0" anchor="ctr"/>
          <a:lstStyle/>
          <a:p>
            <a:pPr indent="0" marL="0">
              <a:lnSpc>
                <a:spcPts val="1500"/>
              </a:lnSpc>
              <a:buNone/>
            </a:pPr>
            <a:r>
              <a:rPr lang="en-US" sz="1150" dirty="0">
                <a:solidFill>
                  <a:srgbClr val="5B7186"/>
                </a:solidFill>
                <a:latin typeface="Calibri" pitchFamily="34" charset="0"/>
                <a:ea typeface="Calibri" pitchFamily="34" charset="-122"/>
                <a:cs typeface="Calibri" pitchFamily="34" charset="-120"/>
              </a:rPr>
              <a:t>Multiplicative, PDF centred at 1.0. Scales with local intensity, so flat bright regions suffer most.</a:t>
            </a:r>
            <a:endParaRPr lang="en-US" sz="1150" dirty="0"/>
          </a:p>
        </p:txBody>
      </p:sp>
      <p:sp>
        <p:nvSpPr>
          <p:cNvPr id="9" name="Shape 7"/>
          <p:cNvSpPr/>
          <p:nvPr/>
        </p:nvSpPr>
        <p:spPr>
          <a:xfrm>
            <a:off x="4334256" y="1481328"/>
            <a:ext cx="3529584" cy="2121408"/>
          </a:xfrm>
          <a:prstGeom prst="roundRect">
            <a:avLst>
              <a:gd name="adj" fmla="val 2586"/>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10" name="Shape 8"/>
          <p:cNvSpPr/>
          <p:nvPr/>
        </p:nvSpPr>
        <p:spPr>
          <a:xfrm>
            <a:off x="4572000" y="1709928"/>
            <a:ext cx="475488" cy="475488"/>
          </a:xfrm>
          <a:prstGeom prst="ellipse">
            <a:avLst/>
          </a:prstGeom>
          <a:solidFill>
            <a:srgbClr val="1C7293"/>
          </a:solidFill>
          <a:ln w="12700">
            <a:solidFill>
              <a:srgbClr val="1C7293"/>
            </a:solidFill>
            <a:prstDash val="solid"/>
          </a:ln>
        </p:spPr>
      </p:sp>
      <p:sp>
        <p:nvSpPr>
          <p:cNvPr id="11" name="Text 9"/>
          <p:cNvSpPr/>
          <p:nvPr/>
        </p:nvSpPr>
        <p:spPr>
          <a:xfrm>
            <a:off x="4572000" y="170992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5175504" y="1764792"/>
            <a:ext cx="2560320" cy="365760"/>
          </a:xfrm>
          <a:prstGeom prst="rect">
            <a:avLst/>
          </a:prstGeom>
          <a:noFill/>
          <a:ln/>
        </p:spPr>
        <p:txBody>
          <a:bodyPr wrap="square" lIns="0" tIns="0" rIns="0" bIns="0" rtlCol="0" anchor="ctr"/>
          <a:lstStyle/>
          <a:p>
            <a:pPr indent="0" marL="0">
              <a:buNone/>
            </a:pPr>
            <a:r>
              <a:rPr lang="en-US" sz="1600" b="1" dirty="0">
                <a:solidFill>
                  <a:srgbClr val="13202E"/>
                </a:solidFill>
                <a:latin typeface="Cambria" pitchFamily="34" charset="0"/>
                <a:ea typeface="Cambria" pitchFamily="34" charset="-122"/>
                <a:cs typeface="Cambria" pitchFamily="34" charset="-120"/>
              </a:rPr>
              <a:t>Additive Gaussian</a:t>
            </a:r>
            <a:endParaRPr lang="en-US" sz="1600" dirty="0"/>
          </a:p>
        </p:txBody>
      </p:sp>
      <p:sp>
        <p:nvSpPr>
          <p:cNvPr id="13" name="Text 11"/>
          <p:cNvSpPr/>
          <p:nvPr/>
        </p:nvSpPr>
        <p:spPr>
          <a:xfrm>
            <a:off x="4572000" y="2340864"/>
            <a:ext cx="3054096" cy="1097280"/>
          </a:xfrm>
          <a:prstGeom prst="rect">
            <a:avLst/>
          </a:prstGeom>
          <a:noFill/>
          <a:ln/>
        </p:spPr>
        <p:txBody>
          <a:bodyPr wrap="square" lIns="0" tIns="0" rIns="0" bIns="0" rtlCol="0" anchor="ctr"/>
          <a:lstStyle/>
          <a:p>
            <a:pPr indent="0" marL="0">
              <a:lnSpc>
                <a:spcPts val="1500"/>
              </a:lnSpc>
              <a:buNone/>
            </a:pPr>
            <a:r>
              <a:rPr lang="en-US" sz="1150" dirty="0">
                <a:solidFill>
                  <a:srgbClr val="5B7186"/>
                </a:solidFill>
                <a:latin typeface="Calibri" pitchFamily="34" charset="0"/>
                <a:ea typeface="Calibri" pitchFamily="34" charset="-122"/>
                <a:cs typeface="Calibri" pitchFamily="34" charset="-120"/>
              </a:rPr>
              <a:t>Organizer sweep spans σ ≈ 0.05 → 0.50. Independent of signal level.</a:t>
            </a:r>
            <a:endParaRPr lang="en-US" sz="1150" dirty="0"/>
          </a:p>
        </p:txBody>
      </p:sp>
      <p:sp>
        <p:nvSpPr>
          <p:cNvPr id="14" name="Shape 12"/>
          <p:cNvSpPr/>
          <p:nvPr/>
        </p:nvSpPr>
        <p:spPr>
          <a:xfrm>
            <a:off x="8101584" y="1481328"/>
            <a:ext cx="3529584" cy="2121408"/>
          </a:xfrm>
          <a:prstGeom prst="roundRect">
            <a:avLst>
              <a:gd name="adj" fmla="val 2586"/>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15" name="Shape 13"/>
          <p:cNvSpPr/>
          <p:nvPr/>
        </p:nvSpPr>
        <p:spPr>
          <a:xfrm>
            <a:off x="8339328" y="1709928"/>
            <a:ext cx="475488" cy="475488"/>
          </a:xfrm>
          <a:prstGeom prst="ellipse">
            <a:avLst/>
          </a:prstGeom>
          <a:solidFill>
            <a:srgbClr val="1C7293"/>
          </a:solidFill>
          <a:ln w="12700">
            <a:solidFill>
              <a:srgbClr val="1C7293"/>
            </a:solidFill>
            <a:prstDash val="solid"/>
          </a:ln>
        </p:spPr>
      </p:sp>
      <p:sp>
        <p:nvSpPr>
          <p:cNvPr id="16" name="Text 14"/>
          <p:cNvSpPr/>
          <p:nvPr/>
        </p:nvSpPr>
        <p:spPr>
          <a:xfrm>
            <a:off x="8339328" y="170992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8942832" y="1764792"/>
            <a:ext cx="2560320" cy="365760"/>
          </a:xfrm>
          <a:prstGeom prst="rect">
            <a:avLst/>
          </a:prstGeom>
          <a:noFill/>
          <a:ln/>
        </p:spPr>
        <p:txBody>
          <a:bodyPr wrap="square" lIns="0" tIns="0" rIns="0" bIns="0" rtlCol="0" anchor="ctr"/>
          <a:lstStyle/>
          <a:p>
            <a:pPr indent="0" marL="0">
              <a:buNone/>
            </a:pPr>
            <a:r>
              <a:rPr lang="en-US" sz="1600" b="1" dirty="0">
                <a:solidFill>
                  <a:srgbClr val="13202E"/>
                </a:solidFill>
                <a:latin typeface="Cambria" pitchFamily="34" charset="0"/>
                <a:ea typeface="Cambria" pitchFamily="34" charset="-122"/>
                <a:cs typeface="Cambria" pitchFamily="34" charset="-120"/>
              </a:rPr>
              <a:t>Downsampling ×2</a:t>
            </a:r>
            <a:endParaRPr lang="en-US" sz="1600" dirty="0"/>
          </a:p>
        </p:txBody>
      </p:sp>
      <p:sp>
        <p:nvSpPr>
          <p:cNvPr id="18" name="Text 16"/>
          <p:cNvSpPr/>
          <p:nvPr/>
        </p:nvSpPr>
        <p:spPr>
          <a:xfrm>
            <a:off x="8339328" y="2340864"/>
            <a:ext cx="3054096" cy="1097280"/>
          </a:xfrm>
          <a:prstGeom prst="rect">
            <a:avLst/>
          </a:prstGeom>
          <a:noFill/>
          <a:ln/>
        </p:spPr>
        <p:txBody>
          <a:bodyPr wrap="square" lIns="0" tIns="0" rIns="0" bIns="0" rtlCol="0" anchor="ctr"/>
          <a:lstStyle/>
          <a:p>
            <a:pPr indent="0" marL="0">
              <a:lnSpc>
                <a:spcPts val="1500"/>
              </a:lnSpc>
              <a:buNone/>
            </a:pPr>
            <a:r>
              <a:rPr lang="en-US" sz="1150" dirty="0">
                <a:solidFill>
                  <a:srgbClr val="5B7186"/>
                </a:solidFill>
                <a:latin typeface="Calibri" pitchFamily="34" charset="0"/>
                <a:ea typeface="Calibri" pitchFamily="34" charset="-122"/>
                <a:cs typeface="Calibri" pitchFamily="34" charset="-120"/>
              </a:rPr>
              <a:t>256×256 → 128×128. Anti-aliased kernel — we measured this rather than assuming it.</a:t>
            </a:r>
            <a:endParaRPr lang="en-US" sz="1150" dirty="0"/>
          </a:p>
        </p:txBody>
      </p:sp>
      <p:sp>
        <p:nvSpPr>
          <p:cNvPr id="19" name="Shape 17"/>
          <p:cNvSpPr/>
          <p:nvPr/>
        </p:nvSpPr>
        <p:spPr>
          <a:xfrm>
            <a:off x="566928" y="3858768"/>
            <a:ext cx="6949440" cy="1371600"/>
          </a:xfrm>
          <a:prstGeom prst="roundRect">
            <a:avLst>
              <a:gd name="adj" fmla="val 4000"/>
            </a:avLst>
          </a:prstGeom>
          <a:solidFill>
            <a:srgbClr val="FFF4E8"/>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20" name="Text 18"/>
          <p:cNvSpPr/>
          <p:nvPr/>
        </p:nvSpPr>
        <p:spPr>
          <a:xfrm>
            <a:off x="841248" y="4041648"/>
            <a:ext cx="6400800" cy="329184"/>
          </a:xfrm>
          <a:prstGeom prst="rect">
            <a:avLst/>
          </a:prstGeom>
          <a:noFill/>
          <a:ln/>
        </p:spPr>
        <p:txBody>
          <a:bodyPr wrap="square" lIns="0" tIns="0" rIns="0" bIns="0" rtlCol="0" anchor="ctr"/>
          <a:lstStyle/>
          <a:p>
            <a:pPr indent="0" marL="0">
              <a:buNone/>
            </a:pPr>
            <a:r>
              <a:rPr lang="en-US" sz="1500" b="1" dirty="0">
                <a:solidFill>
                  <a:srgbClr val="9C5A1E"/>
                </a:solidFill>
                <a:latin typeface="Cambria" pitchFamily="34" charset="0"/>
                <a:ea typeface="Cambria" pitchFamily="34" charset="-122"/>
                <a:cs typeface="Cambria" pitchFamily="34" charset="-120"/>
              </a:rPr>
              <a:t>Blur is NOT a benchmark degradation</a:t>
            </a:r>
            <a:endParaRPr lang="en-US" sz="1500" dirty="0"/>
          </a:p>
        </p:txBody>
      </p:sp>
      <p:sp>
        <p:nvSpPr>
          <p:cNvPr id="21" name="Text 19"/>
          <p:cNvSpPr/>
          <p:nvPr/>
        </p:nvSpPr>
        <p:spPr>
          <a:xfrm>
            <a:off x="841248" y="4389120"/>
            <a:ext cx="6400800" cy="731520"/>
          </a:xfrm>
          <a:prstGeom prst="rect">
            <a:avLst/>
          </a:prstGeom>
          <a:noFill/>
          <a:ln/>
        </p:spPr>
        <p:txBody>
          <a:bodyPr wrap="square" lIns="0" tIns="0" rIns="0" bIns="0" rtlCol="0" anchor="ctr"/>
          <a:lstStyle/>
          <a:p>
            <a:pPr indent="0" marL="0">
              <a:lnSpc>
                <a:spcPts val="1450"/>
              </a:lnSpc>
              <a:buNone/>
            </a:pPr>
            <a:r>
              <a:rPr lang="en-US" sz="1150" dirty="0">
                <a:solidFill>
                  <a:srgbClr val="8A5A2B"/>
                </a:solidFill>
                <a:latin typeface="Calibri" pitchFamily="34" charset="0"/>
                <a:ea typeface="Calibri" pitchFamily="34" charset="-122"/>
                <a:cs typeface="Calibri" pitchFamily="34" charset="-120"/>
              </a:rPr>
              <a:t>It appears in the organizer deck only as illustration. We deliberately build no deblurring stage — adding one would spend capacity and latency on a degradation that is not scored.</a:t>
            </a:r>
            <a:endParaRPr lang="en-US" sz="1150" dirty="0"/>
          </a:p>
        </p:txBody>
      </p:sp>
      <p:sp>
        <p:nvSpPr>
          <p:cNvPr id="22" name="Shape 20"/>
          <p:cNvSpPr/>
          <p:nvPr/>
        </p:nvSpPr>
        <p:spPr>
          <a:xfrm>
            <a:off x="7790688" y="3858768"/>
            <a:ext cx="3822192" cy="1371600"/>
          </a:xfrm>
          <a:prstGeom prst="roundRect">
            <a:avLst>
              <a:gd name="adj" fmla="val 4000"/>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23" name="Text 21"/>
          <p:cNvSpPr/>
          <p:nvPr/>
        </p:nvSpPr>
        <p:spPr>
          <a:xfrm>
            <a:off x="8065008" y="4041648"/>
            <a:ext cx="3291840" cy="329184"/>
          </a:xfrm>
          <a:prstGeom prst="rect">
            <a:avLst/>
          </a:prstGeom>
          <a:noFill/>
          <a:ln/>
        </p:spPr>
        <p:txBody>
          <a:bodyPr wrap="square" lIns="0" tIns="0" rIns="0" bIns="0" rtlCol="0" anchor="ctr"/>
          <a:lstStyle/>
          <a:p>
            <a:pPr indent="0" marL="0">
              <a:buNone/>
            </a:pPr>
            <a:r>
              <a:rPr lang="en-US" sz="1500" b="1" dirty="0">
                <a:solidFill>
                  <a:srgbClr val="13202E"/>
                </a:solidFill>
                <a:latin typeface="Cambria" pitchFamily="34" charset="0"/>
                <a:ea typeface="Cambria" pitchFamily="34" charset="-122"/>
                <a:cs typeface="Cambria" pitchFamily="34" charset="-120"/>
              </a:rPr>
              <a:t>Order is undisclosed</a:t>
            </a:r>
            <a:endParaRPr lang="en-US" sz="1500" dirty="0"/>
          </a:p>
        </p:txBody>
      </p:sp>
      <p:sp>
        <p:nvSpPr>
          <p:cNvPr id="24" name="Text 22"/>
          <p:cNvSpPr/>
          <p:nvPr/>
        </p:nvSpPr>
        <p:spPr>
          <a:xfrm>
            <a:off x="8065008" y="4389120"/>
            <a:ext cx="3273552" cy="822960"/>
          </a:xfrm>
          <a:prstGeom prst="rect">
            <a:avLst/>
          </a:prstGeom>
          <a:noFill/>
          <a:ln/>
        </p:spPr>
        <p:txBody>
          <a:bodyPr wrap="square" lIns="0" tIns="0" rIns="0" bIns="0" rtlCol="0" anchor="ctr"/>
          <a:lstStyle/>
          <a:p>
            <a:pPr indent="0" marL="0">
              <a:lnSpc>
                <a:spcPts val="1450"/>
              </a:lnSpc>
              <a:buNone/>
            </a:pPr>
            <a:r>
              <a:rPr lang="en-US" sz="1150" dirty="0">
                <a:solidFill>
                  <a:srgbClr val="5B7186"/>
                </a:solidFill>
                <a:latin typeface="Calibri" pitchFamily="34" charset="0"/>
                <a:ea typeface="Calibri" pitchFamily="34" charset="-122"/>
                <a:cs typeface="Calibri" pitchFamily="34" charset="-120"/>
              </a:rPr>
              <a:t>The three degradations are applied in random order, so no fixed inverse sequence exists. We learn one joint mapping instead of chaining separate stages.</a:t>
            </a:r>
            <a:endParaRPr lang="en-US" sz="1150" dirty="0"/>
          </a:p>
        </p:txBody>
      </p:sp>
      <p:sp>
        <p:nvSpPr>
          <p:cNvPr id="25" name="Text 23"/>
          <p:cNvSpPr/>
          <p:nvPr/>
        </p:nvSpPr>
        <p:spPr>
          <a:xfrm>
            <a:off x="566928" y="5486400"/>
            <a:ext cx="11055096" cy="36576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Output contract: KLA does not clip or renormalize. Whatever we save is scored verbatim — our pipeline clips to [0,1] and formats.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66928" y="384048"/>
            <a:ext cx="11055096" cy="566928"/>
          </a:xfrm>
          <a:prstGeom prst="rect">
            <a:avLst/>
          </a:prstGeom>
          <a:noFill/>
          <a:ln/>
        </p:spPr>
        <p:txBody>
          <a:bodyPr wrap="square" lIns="0" tIns="0" rIns="0" bIns="0" rtlCol="0" anchor="ctr"/>
          <a:lstStyle/>
          <a:p>
            <a:pPr indent="0" marL="0">
              <a:buNone/>
            </a:pPr>
            <a:r>
              <a:rPr lang="en-US" sz="3200" b="1" dirty="0">
                <a:solidFill>
                  <a:srgbClr val="13202E"/>
                </a:solidFill>
                <a:latin typeface="Cambria" pitchFamily="34" charset="0"/>
                <a:ea typeface="Cambria" pitchFamily="34" charset="-122"/>
                <a:cs typeface="Cambria" pitchFamily="34" charset="-120"/>
              </a:rPr>
              <a:t>Dataset analysis</a:t>
            </a:r>
            <a:endParaRPr lang="en-US" sz="3200" dirty="0"/>
          </a:p>
        </p:txBody>
      </p:sp>
      <p:sp>
        <p:nvSpPr>
          <p:cNvPr id="3" name="Text 1"/>
          <p:cNvSpPr/>
          <p:nvPr/>
        </p:nvSpPr>
        <p:spPr>
          <a:xfrm>
            <a:off x="566928" y="941832"/>
            <a:ext cx="11055096" cy="292608"/>
          </a:xfrm>
          <a:prstGeom prst="rect">
            <a:avLst/>
          </a:prstGeom>
          <a:noFill/>
          <a:ln/>
        </p:spPr>
        <p:txBody>
          <a:bodyPr wrap="square" lIns="0" tIns="0" rIns="0" bIns="0" rtlCol="0" anchor="ctr"/>
          <a:lstStyle/>
          <a:p>
            <a:pPr indent="0" marL="0">
              <a:buNone/>
            </a:pPr>
            <a:r>
              <a:rPr lang="en-US" sz="1350" i="1" dirty="0">
                <a:solidFill>
                  <a:srgbClr val="5B7186"/>
                </a:solidFill>
                <a:latin typeface="Calibri" pitchFamily="34" charset="0"/>
                <a:ea typeface="Calibri" pitchFamily="34" charset="-122"/>
                <a:cs typeface="Calibri" pitchFamily="34" charset="-120"/>
              </a:rPr>
              <a:t>Every one of the 6,800 arrays was inspected — no sampling, no assumptions</a:t>
            </a:r>
            <a:endParaRPr lang="en-US" sz="1350" dirty="0"/>
          </a:p>
        </p:txBody>
      </p:sp>
      <p:sp>
        <p:nvSpPr>
          <p:cNvPr id="4" name="Text 2"/>
          <p:cNvSpPr/>
          <p:nvPr/>
        </p:nvSpPr>
        <p:spPr>
          <a:xfrm>
            <a:off x="566928" y="1517904"/>
            <a:ext cx="1572768" cy="329184"/>
          </a:xfrm>
          <a:prstGeom prst="rect">
            <a:avLst/>
          </a:prstGeom>
          <a:noFill/>
          <a:ln/>
        </p:spPr>
        <p:txBody>
          <a:bodyPr wrap="square" lIns="0" tIns="0" rIns="0" bIns="0" rtlCol="0" anchor="ctr"/>
          <a:lstStyle/>
          <a:p>
            <a:pPr algn="l" indent="0" marL="0">
              <a:buNone/>
            </a:pPr>
            <a:endParaRPr lang="en-US" sz="1100" dirty="0"/>
          </a:p>
        </p:txBody>
      </p:sp>
      <p:sp>
        <p:nvSpPr>
          <p:cNvPr id="5" name="Text 3"/>
          <p:cNvSpPr/>
          <p:nvPr/>
        </p:nvSpPr>
        <p:spPr>
          <a:xfrm>
            <a:off x="2139696" y="1517904"/>
            <a:ext cx="786384" cy="329184"/>
          </a:xfrm>
          <a:prstGeom prst="rect">
            <a:avLst/>
          </a:prstGeom>
          <a:noFill/>
          <a:ln/>
        </p:spPr>
        <p:txBody>
          <a:bodyPr wrap="square" lIns="0" tIns="0" rIns="0" bIns="0" rtlCol="0" anchor="ctr"/>
          <a:lstStyle/>
          <a:p>
            <a:pPr algn="ctr" indent="0" marL="0">
              <a:buNone/>
            </a:pPr>
            <a:r>
              <a:rPr lang="en-US" sz="1100" b="1" dirty="0">
                <a:solidFill>
                  <a:srgbClr val="5B7186"/>
                </a:solidFill>
                <a:latin typeface="Calibri" pitchFamily="34" charset="0"/>
                <a:ea typeface="Calibri" pitchFamily="34" charset="-122"/>
                <a:cs typeface="Calibri" pitchFamily="34" charset="-120"/>
              </a:rPr>
              <a:t>count</a:t>
            </a:r>
            <a:endParaRPr lang="en-US" sz="1100" dirty="0"/>
          </a:p>
        </p:txBody>
      </p:sp>
      <p:sp>
        <p:nvSpPr>
          <p:cNvPr id="6" name="Text 4"/>
          <p:cNvSpPr/>
          <p:nvPr/>
        </p:nvSpPr>
        <p:spPr>
          <a:xfrm>
            <a:off x="2926080" y="1517904"/>
            <a:ext cx="969264" cy="329184"/>
          </a:xfrm>
          <a:prstGeom prst="rect">
            <a:avLst/>
          </a:prstGeom>
          <a:noFill/>
          <a:ln/>
        </p:spPr>
        <p:txBody>
          <a:bodyPr wrap="square" lIns="0" tIns="0" rIns="0" bIns="0" rtlCol="0" anchor="ctr"/>
          <a:lstStyle/>
          <a:p>
            <a:pPr algn="ctr" indent="0" marL="0">
              <a:buNone/>
            </a:pPr>
            <a:r>
              <a:rPr lang="en-US" sz="1100" b="1" dirty="0">
                <a:solidFill>
                  <a:srgbClr val="5B7186"/>
                </a:solidFill>
                <a:latin typeface="Calibri" pitchFamily="34" charset="0"/>
                <a:ea typeface="Calibri" pitchFamily="34" charset="-122"/>
                <a:cs typeface="Calibri" pitchFamily="34" charset="-120"/>
              </a:rPr>
              <a:t>shape</a:t>
            </a:r>
            <a:endParaRPr lang="en-US" sz="1100" dirty="0"/>
          </a:p>
        </p:txBody>
      </p:sp>
      <p:sp>
        <p:nvSpPr>
          <p:cNvPr id="7" name="Text 5"/>
          <p:cNvSpPr/>
          <p:nvPr/>
        </p:nvSpPr>
        <p:spPr>
          <a:xfrm>
            <a:off x="3895344" y="1517904"/>
            <a:ext cx="1572768" cy="329184"/>
          </a:xfrm>
          <a:prstGeom prst="rect">
            <a:avLst/>
          </a:prstGeom>
          <a:noFill/>
          <a:ln/>
        </p:spPr>
        <p:txBody>
          <a:bodyPr wrap="square" lIns="0" tIns="0" rIns="0" bIns="0" rtlCol="0" anchor="ctr"/>
          <a:lstStyle/>
          <a:p>
            <a:pPr algn="ctr" indent="0" marL="0">
              <a:buNone/>
            </a:pPr>
            <a:r>
              <a:rPr lang="en-US" sz="1100" b="1" dirty="0">
                <a:solidFill>
                  <a:srgbClr val="5B7186"/>
                </a:solidFill>
                <a:latin typeface="Calibri" pitchFamily="34" charset="0"/>
                <a:ea typeface="Calibri" pitchFamily="34" charset="-122"/>
                <a:cs typeface="Calibri" pitchFamily="34" charset="-120"/>
              </a:rPr>
              <a:t>range</a:t>
            </a:r>
            <a:endParaRPr lang="en-US" sz="1100" dirty="0"/>
          </a:p>
        </p:txBody>
      </p:sp>
      <p:sp>
        <p:nvSpPr>
          <p:cNvPr id="8" name="Text 6"/>
          <p:cNvSpPr/>
          <p:nvPr/>
        </p:nvSpPr>
        <p:spPr>
          <a:xfrm>
            <a:off x="5468112" y="1517904"/>
            <a:ext cx="1133856" cy="329184"/>
          </a:xfrm>
          <a:prstGeom prst="rect">
            <a:avLst/>
          </a:prstGeom>
          <a:noFill/>
          <a:ln/>
        </p:spPr>
        <p:txBody>
          <a:bodyPr wrap="square" lIns="0" tIns="0" rIns="0" bIns="0" rtlCol="0" anchor="ctr"/>
          <a:lstStyle/>
          <a:p>
            <a:pPr algn="ctr" indent="0" marL="0">
              <a:buNone/>
            </a:pPr>
            <a:r>
              <a:rPr lang="en-US" sz="1100" b="1" dirty="0">
                <a:solidFill>
                  <a:srgbClr val="5B7186"/>
                </a:solidFill>
                <a:latin typeface="Calibri" pitchFamily="34" charset="0"/>
                <a:ea typeface="Calibri" pitchFamily="34" charset="-122"/>
                <a:cs typeface="Calibri" pitchFamily="34" charset="-120"/>
              </a:rPr>
              <a:t>outside [0,1]</a:t>
            </a:r>
            <a:endParaRPr lang="en-US" sz="1100" dirty="0"/>
          </a:p>
        </p:txBody>
      </p:sp>
      <p:sp>
        <p:nvSpPr>
          <p:cNvPr id="9" name="Shape 7"/>
          <p:cNvSpPr/>
          <p:nvPr/>
        </p:nvSpPr>
        <p:spPr>
          <a:xfrm>
            <a:off x="566928" y="1847088"/>
            <a:ext cx="6035040" cy="0"/>
          </a:xfrm>
          <a:prstGeom prst="line">
            <a:avLst/>
          </a:prstGeom>
          <a:noFill/>
          <a:ln w="12700">
            <a:solidFill>
              <a:srgbClr val="D9E2EC"/>
            </a:solidFill>
            <a:prstDash val="solid"/>
          </a:ln>
        </p:spPr>
      </p:sp>
      <p:sp>
        <p:nvSpPr>
          <p:cNvPr id="10" name="Text 8"/>
          <p:cNvSpPr/>
          <p:nvPr/>
        </p:nvSpPr>
        <p:spPr>
          <a:xfrm>
            <a:off x="566928" y="1901952"/>
            <a:ext cx="1572768" cy="329184"/>
          </a:xfrm>
          <a:prstGeom prst="rect">
            <a:avLst/>
          </a:prstGeom>
          <a:noFill/>
          <a:ln/>
        </p:spPr>
        <p:txBody>
          <a:bodyPr wrap="square" lIns="0" tIns="0" rIns="0" bIns="0" rtlCol="0" anchor="ctr"/>
          <a:lstStyle/>
          <a:p>
            <a:pPr algn="l" indent="0" marL="0">
              <a:buNone/>
            </a:pPr>
            <a:r>
              <a:rPr lang="en-US" sz="1100" b="1" dirty="0">
                <a:solidFill>
                  <a:srgbClr val="13202E"/>
                </a:solidFill>
                <a:latin typeface="Calibri" pitchFamily="34" charset="0"/>
                <a:ea typeface="Calibri" pitchFamily="34" charset="-122"/>
                <a:cs typeface="Calibri" pitchFamily="34" charset="-120"/>
              </a:rPr>
              <a:t>train GT</a:t>
            </a:r>
            <a:endParaRPr lang="en-US" sz="1100" dirty="0"/>
          </a:p>
        </p:txBody>
      </p:sp>
      <p:sp>
        <p:nvSpPr>
          <p:cNvPr id="11" name="Text 9"/>
          <p:cNvSpPr/>
          <p:nvPr/>
        </p:nvSpPr>
        <p:spPr>
          <a:xfrm>
            <a:off x="2139696" y="1901952"/>
            <a:ext cx="786384" cy="329184"/>
          </a:xfrm>
          <a:prstGeom prst="rect">
            <a:avLst/>
          </a:prstGeom>
          <a:noFill/>
          <a:ln/>
        </p:spPr>
        <p:txBody>
          <a:bodyPr wrap="square" lIns="0" tIns="0" rIns="0" bIns="0" rtlCol="0" anchor="ctr"/>
          <a:lstStyle/>
          <a:p>
            <a:pPr algn="ctr" indent="0" marL="0">
              <a:buNone/>
            </a:pPr>
            <a:r>
              <a:rPr lang="en-US" sz="1100" dirty="0">
                <a:solidFill>
                  <a:srgbClr val="13202E"/>
                </a:solidFill>
                <a:latin typeface="Calibri" pitchFamily="34" charset="0"/>
                <a:ea typeface="Calibri" pitchFamily="34" charset="-122"/>
                <a:cs typeface="Calibri" pitchFamily="34" charset="-120"/>
              </a:rPr>
              <a:t>3,200</a:t>
            </a:r>
            <a:endParaRPr lang="en-US" sz="1100" dirty="0"/>
          </a:p>
        </p:txBody>
      </p:sp>
      <p:sp>
        <p:nvSpPr>
          <p:cNvPr id="12" name="Text 10"/>
          <p:cNvSpPr/>
          <p:nvPr/>
        </p:nvSpPr>
        <p:spPr>
          <a:xfrm>
            <a:off x="2926080" y="1901952"/>
            <a:ext cx="969264" cy="329184"/>
          </a:xfrm>
          <a:prstGeom prst="rect">
            <a:avLst/>
          </a:prstGeom>
          <a:noFill/>
          <a:ln/>
        </p:spPr>
        <p:txBody>
          <a:bodyPr wrap="square" lIns="0" tIns="0" rIns="0" bIns="0" rtlCol="0" anchor="ctr"/>
          <a:lstStyle/>
          <a:p>
            <a:pPr algn="ctr" indent="0" marL="0">
              <a:buNone/>
            </a:pPr>
            <a:r>
              <a:rPr lang="en-US" sz="1100" dirty="0">
                <a:solidFill>
                  <a:srgbClr val="13202E"/>
                </a:solidFill>
                <a:latin typeface="Calibri" pitchFamily="34" charset="0"/>
                <a:ea typeface="Calibri" pitchFamily="34" charset="-122"/>
                <a:cs typeface="Calibri" pitchFamily="34" charset="-120"/>
              </a:rPr>
              <a:t>256×256</a:t>
            </a:r>
            <a:endParaRPr lang="en-US" sz="1100" dirty="0"/>
          </a:p>
        </p:txBody>
      </p:sp>
      <p:sp>
        <p:nvSpPr>
          <p:cNvPr id="13" name="Text 11"/>
          <p:cNvSpPr/>
          <p:nvPr/>
        </p:nvSpPr>
        <p:spPr>
          <a:xfrm>
            <a:off x="3895344" y="1901952"/>
            <a:ext cx="1572768" cy="329184"/>
          </a:xfrm>
          <a:prstGeom prst="rect">
            <a:avLst/>
          </a:prstGeom>
          <a:noFill/>
          <a:ln/>
        </p:spPr>
        <p:txBody>
          <a:bodyPr wrap="square" lIns="0" tIns="0" rIns="0" bIns="0" rtlCol="0" anchor="ctr"/>
          <a:lstStyle/>
          <a:p>
            <a:pPr algn="ctr" indent="0" marL="0">
              <a:buNone/>
            </a:pPr>
            <a:r>
              <a:rPr lang="en-US" sz="1100" dirty="0">
                <a:solidFill>
                  <a:srgbClr val="13202E"/>
                </a:solidFill>
                <a:latin typeface="Calibri" pitchFamily="34" charset="0"/>
                <a:ea typeface="Calibri" pitchFamily="34" charset="-122"/>
                <a:cs typeface="Calibri" pitchFamily="34" charset="-120"/>
              </a:rPr>
              <a:t>0.000 … 1.000</a:t>
            </a:r>
            <a:endParaRPr lang="en-US" sz="1100" dirty="0"/>
          </a:p>
        </p:txBody>
      </p:sp>
      <p:sp>
        <p:nvSpPr>
          <p:cNvPr id="14" name="Text 12"/>
          <p:cNvSpPr/>
          <p:nvPr/>
        </p:nvSpPr>
        <p:spPr>
          <a:xfrm>
            <a:off x="5468112" y="1901952"/>
            <a:ext cx="1133856" cy="329184"/>
          </a:xfrm>
          <a:prstGeom prst="rect">
            <a:avLst/>
          </a:prstGeom>
          <a:noFill/>
          <a:ln/>
        </p:spPr>
        <p:txBody>
          <a:bodyPr wrap="square" lIns="0" tIns="0" rIns="0" bIns="0" rtlCol="0" anchor="ctr"/>
          <a:lstStyle/>
          <a:p>
            <a:pPr algn="ctr" indent="0" marL="0">
              <a:buNone/>
            </a:pPr>
            <a:r>
              <a:rPr lang="en-US" sz="1100" dirty="0">
                <a:solidFill>
                  <a:srgbClr val="13202E"/>
                </a:solidFill>
                <a:latin typeface="Calibri" pitchFamily="34" charset="0"/>
                <a:ea typeface="Calibri" pitchFamily="34" charset="-122"/>
                <a:cs typeface="Calibri" pitchFamily="34" charset="-120"/>
              </a:rPr>
              <a:t>0.00%</a:t>
            </a:r>
            <a:endParaRPr lang="en-US" sz="1100" dirty="0"/>
          </a:p>
        </p:txBody>
      </p:sp>
      <p:sp>
        <p:nvSpPr>
          <p:cNvPr id="15" name="Text 13"/>
          <p:cNvSpPr/>
          <p:nvPr/>
        </p:nvSpPr>
        <p:spPr>
          <a:xfrm>
            <a:off x="566928" y="2286000"/>
            <a:ext cx="1572768" cy="329184"/>
          </a:xfrm>
          <a:prstGeom prst="rect">
            <a:avLst/>
          </a:prstGeom>
          <a:noFill/>
          <a:ln/>
        </p:spPr>
        <p:txBody>
          <a:bodyPr wrap="square" lIns="0" tIns="0" rIns="0" bIns="0" rtlCol="0" anchor="ctr"/>
          <a:lstStyle/>
          <a:p>
            <a:pPr algn="l" indent="0" marL="0">
              <a:buNone/>
            </a:pPr>
            <a:r>
              <a:rPr lang="en-US" sz="1100" b="1" dirty="0">
                <a:solidFill>
                  <a:srgbClr val="13202E"/>
                </a:solidFill>
                <a:latin typeface="Calibri" pitchFamily="34" charset="0"/>
                <a:ea typeface="Calibri" pitchFamily="34" charset="-122"/>
                <a:cs typeface="Calibri" pitchFamily="34" charset="-120"/>
              </a:rPr>
              <a:t>train NoisyLR</a:t>
            </a:r>
            <a:endParaRPr lang="en-US" sz="1100" dirty="0"/>
          </a:p>
        </p:txBody>
      </p:sp>
      <p:sp>
        <p:nvSpPr>
          <p:cNvPr id="16" name="Text 14"/>
          <p:cNvSpPr/>
          <p:nvPr/>
        </p:nvSpPr>
        <p:spPr>
          <a:xfrm>
            <a:off x="2139696" y="2286000"/>
            <a:ext cx="786384" cy="329184"/>
          </a:xfrm>
          <a:prstGeom prst="rect">
            <a:avLst/>
          </a:prstGeom>
          <a:noFill/>
          <a:ln/>
        </p:spPr>
        <p:txBody>
          <a:bodyPr wrap="square" lIns="0" tIns="0" rIns="0" bIns="0" rtlCol="0" anchor="ctr"/>
          <a:lstStyle/>
          <a:p>
            <a:pPr algn="ctr" indent="0" marL="0">
              <a:buNone/>
            </a:pPr>
            <a:r>
              <a:rPr lang="en-US" sz="1100" dirty="0">
                <a:solidFill>
                  <a:srgbClr val="13202E"/>
                </a:solidFill>
                <a:latin typeface="Calibri" pitchFamily="34" charset="0"/>
                <a:ea typeface="Calibri" pitchFamily="34" charset="-122"/>
                <a:cs typeface="Calibri" pitchFamily="34" charset="-120"/>
              </a:rPr>
              <a:t>3,200</a:t>
            </a:r>
            <a:endParaRPr lang="en-US" sz="1100" dirty="0"/>
          </a:p>
        </p:txBody>
      </p:sp>
      <p:sp>
        <p:nvSpPr>
          <p:cNvPr id="17" name="Text 15"/>
          <p:cNvSpPr/>
          <p:nvPr/>
        </p:nvSpPr>
        <p:spPr>
          <a:xfrm>
            <a:off x="2926080" y="2286000"/>
            <a:ext cx="969264" cy="329184"/>
          </a:xfrm>
          <a:prstGeom prst="rect">
            <a:avLst/>
          </a:prstGeom>
          <a:noFill/>
          <a:ln/>
        </p:spPr>
        <p:txBody>
          <a:bodyPr wrap="square" lIns="0" tIns="0" rIns="0" bIns="0" rtlCol="0" anchor="ctr"/>
          <a:lstStyle/>
          <a:p>
            <a:pPr algn="ctr" indent="0" marL="0">
              <a:buNone/>
            </a:pPr>
            <a:r>
              <a:rPr lang="en-US" sz="1100" dirty="0">
                <a:solidFill>
                  <a:srgbClr val="13202E"/>
                </a:solidFill>
                <a:latin typeface="Calibri" pitchFamily="34" charset="0"/>
                <a:ea typeface="Calibri" pitchFamily="34" charset="-122"/>
                <a:cs typeface="Calibri" pitchFamily="34" charset="-120"/>
              </a:rPr>
              <a:t>128×128</a:t>
            </a:r>
            <a:endParaRPr lang="en-US" sz="1100" dirty="0"/>
          </a:p>
        </p:txBody>
      </p:sp>
      <p:sp>
        <p:nvSpPr>
          <p:cNvPr id="18" name="Text 16"/>
          <p:cNvSpPr/>
          <p:nvPr/>
        </p:nvSpPr>
        <p:spPr>
          <a:xfrm>
            <a:off x="3895344" y="2286000"/>
            <a:ext cx="1572768" cy="329184"/>
          </a:xfrm>
          <a:prstGeom prst="rect">
            <a:avLst/>
          </a:prstGeom>
          <a:noFill/>
          <a:ln/>
        </p:spPr>
        <p:txBody>
          <a:bodyPr wrap="square" lIns="0" tIns="0" rIns="0" bIns="0" rtlCol="0" anchor="ctr"/>
          <a:lstStyle/>
          <a:p>
            <a:pPr algn="ctr" indent="0" marL="0">
              <a:buNone/>
            </a:pPr>
            <a:r>
              <a:rPr lang="en-US" sz="1100" dirty="0">
                <a:solidFill>
                  <a:srgbClr val="13202E"/>
                </a:solidFill>
                <a:latin typeface="Calibri" pitchFamily="34" charset="0"/>
                <a:ea typeface="Calibri" pitchFamily="34" charset="-122"/>
                <a:cs typeface="Calibri" pitchFamily="34" charset="-120"/>
              </a:rPr>
              <a:t>−0.279 … 2.158</a:t>
            </a:r>
            <a:endParaRPr lang="en-US" sz="1100" dirty="0"/>
          </a:p>
        </p:txBody>
      </p:sp>
      <p:sp>
        <p:nvSpPr>
          <p:cNvPr id="19" name="Text 17"/>
          <p:cNvSpPr/>
          <p:nvPr/>
        </p:nvSpPr>
        <p:spPr>
          <a:xfrm>
            <a:off x="5468112" y="2286000"/>
            <a:ext cx="1133856" cy="329184"/>
          </a:xfrm>
          <a:prstGeom prst="rect">
            <a:avLst/>
          </a:prstGeom>
          <a:noFill/>
          <a:ln/>
        </p:spPr>
        <p:txBody>
          <a:bodyPr wrap="square" lIns="0" tIns="0" rIns="0" bIns="0" rtlCol="0" anchor="ctr"/>
          <a:lstStyle/>
          <a:p>
            <a:pPr algn="ctr" indent="0" marL="0">
              <a:buNone/>
            </a:pPr>
            <a:r>
              <a:rPr lang="en-US" sz="1100" dirty="0">
                <a:solidFill>
                  <a:srgbClr val="13202E"/>
                </a:solidFill>
                <a:latin typeface="Calibri" pitchFamily="34" charset="0"/>
                <a:ea typeface="Calibri" pitchFamily="34" charset="-122"/>
                <a:cs typeface="Calibri" pitchFamily="34" charset="-120"/>
              </a:rPr>
              <a:t>3.39%</a:t>
            </a:r>
            <a:endParaRPr lang="en-US" sz="1100" dirty="0"/>
          </a:p>
        </p:txBody>
      </p:sp>
      <p:sp>
        <p:nvSpPr>
          <p:cNvPr id="20" name="Text 18"/>
          <p:cNvSpPr/>
          <p:nvPr/>
        </p:nvSpPr>
        <p:spPr>
          <a:xfrm>
            <a:off x="566928" y="2670048"/>
            <a:ext cx="1572768" cy="329184"/>
          </a:xfrm>
          <a:prstGeom prst="rect">
            <a:avLst/>
          </a:prstGeom>
          <a:noFill/>
          <a:ln/>
        </p:spPr>
        <p:txBody>
          <a:bodyPr wrap="square" lIns="0" tIns="0" rIns="0" bIns="0" rtlCol="0" anchor="ctr"/>
          <a:lstStyle/>
          <a:p>
            <a:pPr algn="l" indent="0" marL="0">
              <a:buNone/>
            </a:pPr>
            <a:r>
              <a:rPr lang="en-US" sz="1100" b="1" dirty="0">
                <a:solidFill>
                  <a:srgbClr val="13202E"/>
                </a:solidFill>
                <a:latin typeface="Calibri" pitchFamily="34" charset="0"/>
                <a:ea typeface="Calibri" pitchFamily="34" charset="-122"/>
                <a:cs typeface="Calibri" pitchFamily="34" charset="-120"/>
              </a:rPr>
              <a:t>test NoisyLR</a:t>
            </a:r>
            <a:endParaRPr lang="en-US" sz="1100" dirty="0"/>
          </a:p>
        </p:txBody>
      </p:sp>
      <p:sp>
        <p:nvSpPr>
          <p:cNvPr id="21" name="Text 19"/>
          <p:cNvSpPr/>
          <p:nvPr/>
        </p:nvSpPr>
        <p:spPr>
          <a:xfrm>
            <a:off x="2139696" y="2670048"/>
            <a:ext cx="786384" cy="329184"/>
          </a:xfrm>
          <a:prstGeom prst="rect">
            <a:avLst/>
          </a:prstGeom>
          <a:noFill/>
          <a:ln/>
        </p:spPr>
        <p:txBody>
          <a:bodyPr wrap="square" lIns="0" tIns="0" rIns="0" bIns="0" rtlCol="0" anchor="ctr"/>
          <a:lstStyle/>
          <a:p>
            <a:pPr algn="ctr" indent="0" marL="0">
              <a:buNone/>
            </a:pPr>
            <a:r>
              <a:rPr lang="en-US" sz="1100" dirty="0">
                <a:solidFill>
                  <a:srgbClr val="13202E"/>
                </a:solidFill>
                <a:latin typeface="Calibri" pitchFamily="34" charset="0"/>
                <a:ea typeface="Calibri" pitchFamily="34" charset="-122"/>
                <a:cs typeface="Calibri" pitchFamily="34" charset="-120"/>
              </a:rPr>
              <a:t>400</a:t>
            </a:r>
            <a:endParaRPr lang="en-US" sz="1100" dirty="0"/>
          </a:p>
        </p:txBody>
      </p:sp>
      <p:sp>
        <p:nvSpPr>
          <p:cNvPr id="22" name="Text 20"/>
          <p:cNvSpPr/>
          <p:nvPr/>
        </p:nvSpPr>
        <p:spPr>
          <a:xfrm>
            <a:off x="2926080" y="2670048"/>
            <a:ext cx="969264" cy="329184"/>
          </a:xfrm>
          <a:prstGeom prst="rect">
            <a:avLst/>
          </a:prstGeom>
          <a:noFill/>
          <a:ln/>
        </p:spPr>
        <p:txBody>
          <a:bodyPr wrap="square" lIns="0" tIns="0" rIns="0" bIns="0" rtlCol="0" anchor="ctr"/>
          <a:lstStyle/>
          <a:p>
            <a:pPr algn="ctr" indent="0" marL="0">
              <a:buNone/>
            </a:pPr>
            <a:r>
              <a:rPr lang="en-US" sz="1100" dirty="0">
                <a:solidFill>
                  <a:srgbClr val="13202E"/>
                </a:solidFill>
                <a:latin typeface="Calibri" pitchFamily="34" charset="0"/>
                <a:ea typeface="Calibri" pitchFamily="34" charset="-122"/>
                <a:cs typeface="Calibri" pitchFamily="34" charset="-120"/>
              </a:rPr>
              <a:t>128×128</a:t>
            </a:r>
            <a:endParaRPr lang="en-US" sz="1100" dirty="0"/>
          </a:p>
        </p:txBody>
      </p:sp>
      <p:sp>
        <p:nvSpPr>
          <p:cNvPr id="23" name="Text 21"/>
          <p:cNvSpPr/>
          <p:nvPr/>
        </p:nvSpPr>
        <p:spPr>
          <a:xfrm>
            <a:off x="3895344" y="2670048"/>
            <a:ext cx="1572768" cy="329184"/>
          </a:xfrm>
          <a:prstGeom prst="rect">
            <a:avLst/>
          </a:prstGeom>
          <a:noFill/>
          <a:ln/>
        </p:spPr>
        <p:txBody>
          <a:bodyPr wrap="square" lIns="0" tIns="0" rIns="0" bIns="0" rtlCol="0" anchor="ctr"/>
          <a:lstStyle/>
          <a:p>
            <a:pPr algn="ctr" indent="0" marL="0">
              <a:buNone/>
            </a:pPr>
            <a:r>
              <a:rPr lang="en-US" sz="1100" dirty="0">
                <a:solidFill>
                  <a:srgbClr val="13202E"/>
                </a:solidFill>
                <a:latin typeface="Calibri" pitchFamily="34" charset="0"/>
                <a:ea typeface="Calibri" pitchFamily="34" charset="-122"/>
                <a:cs typeface="Calibri" pitchFamily="34" charset="-120"/>
              </a:rPr>
              <a:t>−0.225 … 2.158</a:t>
            </a:r>
            <a:endParaRPr lang="en-US" sz="1100" dirty="0"/>
          </a:p>
        </p:txBody>
      </p:sp>
      <p:sp>
        <p:nvSpPr>
          <p:cNvPr id="24" name="Text 22"/>
          <p:cNvSpPr/>
          <p:nvPr/>
        </p:nvSpPr>
        <p:spPr>
          <a:xfrm>
            <a:off x="5468112" y="2670048"/>
            <a:ext cx="1133856" cy="329184"/>
          </a:xfrm>
          <a:prstGeom prst="rect">
            <a:avLst/>
          </a:prstGeom>
          <a:noFill/>
          <a:ln/>
        </p:spPr>
        <p:txBody>
          <a:bodyPr wrap="square" lIns="0" tIns="0" rIns="0" bIns="0" rtlCol="0" anchor="ctr"/>
          <a:lstStyle/>
          <a:p>
            <a:pPr algn="ctr" indent="0" marL="0">
              <a:buNone/>
            </a:pPr>
            <a:r>
              <a:rPr lang="en-US" sz="1100" dirty="0">
                <a:solidFill>
                  <a:srgbClr val="13202E"/>
                </a:solidFill>
                <a:latin typeface="Calibri" pitchFamily="34" charset="0"/>
                <a:ea typeface="Calibri" pitchFamily="34" charset="-122"/>
                <a:cs typeface="Calibri" pitchFamily="34" charset="-120"/>
              </a:rPr>
              <a:t>3.74%</a:t>
            </a:r>
            <a:endParaRPr lang="en-US" sz="1100" dirty="0"/>
          </a:p>
        </p:txBody>
      </p:sp>
      <p:sp>
        <p:nvSpPr>
          <p:cNvPr id="25" name="Shape 23"/>
          <p:cNvSpPr/>
          <p:nvPr/>
        </p:nvSpPr>
        <p:spPr>
          <a:xfrm>
            <a:off x="566928" y="2999232"/>
            <a:ext cx="6035040" cy="0"/>
          </a:xfrm>
          <a:prstGeom prst="line">
            <a:avLst/>
          </a:prstGeom>
          <a:noFill/>
          <a:ln w="12700">
            <a:solidFill>
              <a:srgbClr val="D9E2EC"/>
            </a:solidFill>
            <a:prstDash val="solid"/>
          </a:ln>
        </p:spPr>
      </p:sp>
      <p:sp>
        <p:nvSpPr>
          <p:cNvPr id="26" name="Text 24"/>
          <p:cNvSpPr/>
          <p:nvPr/>
        </p:nvSpPr>
        <p:spPr>
          <a:xfrm>
            <a:off x="566928" y="3200400"/>
            <a:ext cx="6035040" cy="310896"/>
          </a:xfrm>
          <a:prstGeom prst="rect">
            <a:avLst/>
          </a:prstGeom>
          <a:noFill/>
          <a:ln/>
        </p:spPr>
        <p:txBody>
          <a:bodyPr wrap="square" lIns="0" tIns="0" rIns="0" bIns="0" rtlCol="0" anchor="ctr"/>
          <a:lstStyle/>
          <a:p>
            <a:pPr indent="0" marL="0">
              <a:buNone/>
            </a:pPr>
            <a:r>
              <a:rPr lang="en-US" sz="1500" b="1" dirty="0">
                <a:solidFill>
                  <a:srgbClr val="13202E"/>
                </a:solidFill>
                <a:latin typeface="Cambria" pitchFamily="34" charset="0"/>
                <a:ea typeface="Cambria" pitchFamily="34" charset="-122"/>
                <a:cs typeface="Cambria" pitchFamily="34" charset="-120"/>
              </a:rPr>
              <a:t>Pairing rule: identical filename</a:t>
            </a:r>
            <a:endParaRPr lang="en-US" sz="1500" dirty="0"/>
          </a:p>
        </p:txBody>
      </p:sp>
      <p:sp>
        <p:nvSpPr>
          <p:cNvPr id="27" name="Text 25"/>
          <p:cNvSpPr/>
          <p:nvPr/>
        </p:nvSpPr>
        <p:spPr>
          <a:xfrm>
            <a:off x="566928" y="3547872"/>
            <a:ext cx="6035040" cy="137160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150" dirty="0">
                <a:solidFill>
                  <a:srgbClr val="13202E"/>
                </a:solidFill>
                <a:latin typeface="Calibri" pitchFamily="34" charset="0"/>
                <a:ea typeface="Calibri" pitchFamily="34" charset="-122"/>
                <a:cs typeface="Calibri" pitchFamily="34" charset="-120"/>
              </a:rPr>
              <a:t>GT/000123.npy ↔ NoisyLR/000123.npy — no suffix, no offset, no index table</a:t>
            </a:r>
            <a:endParaRPr lang="en-US" sz="1150" dirty="0"/>
          </a:p>
          <a:p>
            <a:pPr marL="342900" indent="-342900">
              <a:lnSpc>
                <a:spcPts val="1700"/>
              </a:lnSpc>
              <a:spcAft>
                <a:spcPts val="700"/>
              </a:spcAft>
              <a:buSzPct val="100000"/>
              <a:buChar char="•"/>
            </a:pPr>
            <a:r>
              <a:rPr lang="en-US" sz="1150" dirty="0">
                <a:solidFill>
                  <a:srgbClr val="13202E"/>
                </a:solidFill>
                <a:latin typeface="Calibri" pitchFamily="34" charset="0"/>
                <a:ea typeface="Calibri" pitchFamily="34" charset="-122"/>
                <a:cs typeface="Calibri" pitchFamily="34" charset="-120"/>
              </a:rPr>
              <a:t>×2 scale confirmed on every pair checked; zero exceptions</a:t>
            </a:r>
            <a:endParaRPr lang="en-US" sz="1150" dirty="0"/>
          </a:p>
          <a:p>
            <a:pPr marL="342900" indent="-342900">
              <a:lnSpc>
                <a:spcPts val="1700"/>
              </a:lnSpc>
              <a:spcAft>
                <a:spcPts val="700"/>
              </a:spcAft>
              <a:buSzPct val="100000"/>
              <a:buChar char="•"/>
            </a:pPr>
            <a:r>
              <a:rPr lang="en-US" sz="1150" dirty="0">
                <a:solidFill>
                  <a:srgbClr val="13202E"/>
                </a:solidFill>
                <a:latin typeface="Calibri" pitchFamily="34" charset="0"/>
                <a:ea typeface="Calibri" pitchFamily="34" charset="-122"/>
                <a:cs typeface="Calibri" pitchFamily="34" charset="-120"/>
              </a:rPr>
              <a:t>Train and test NoisyLR statistics match (mean 0.4335 vs 0.4427) — the OOD half differs in content, not degradation strength</a:t>
            </a:r>
            <a:endParaRPr lang="en-US" sz="1150" dirty="0"/>
          </a:p>
        </p:txBody>
      </p:sp>
      <p:sp>
        <p:nvSpPr>
          <p:cNvPr id="28" name="Shape 26"/>
          <p:cNvSpPr/>
          <p:nvPr/>
        </p:nvSpPr>
        <p:spPr>
          <a:xfrm>
            <a:off x="566928" y="5047488"/>
            <a:ext cx="6035040" cy="1170432"/>
          </a:xfrm>
          <a:prstGeom prst="roundRect">
            <a:avLst>
              <a:gd name="adj" fmla="val 4688"/>
            </a:avLst>
          </a:prstGeom>
          <a:solidFill>
            <a:srgbClr val="EAF2F7"/>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29" name="Text 27"/>
          <p:cNvSpPr/>
          <p:nvPr/>
        </p:nvSpPr>
        <p:spPr>
          <a:xfrm>
            <a:off x="804672" y="5175504"/>
            <a:ext cx="5577840" cy="274320"/>
          </a:xfrm>
          <a:prstGeom prst="rect">
            <a:avLst/>
          </a:prstGeom>
          <a:noFill/>
          <a:ln/>
        </p:spPr>
        <p:txBody>
          <a:bodyPr wrap="square" lIns="0" tIns="0" rIns="0" bIns="0" rtlCol="0" anchor="ctr"/>
          <a:lstStyle/>
          <a:p>
            <a:pPr indent="0" marL="0">
              <a:buNone/>
            </a:pPr>
            <a:r>
              <a:rPr lang="en-US" sz="1300" b="1" dirty="0">
                <a:solidFill>
                  <a:srgbClr val="065A82"/>
                </a:solidFill>
                <a:latin typeface="Cambria" pitchFamily="34" charset="0"/>
                <a:ea typeface="Cambria" pitchFamily="34" charset="-122"/>
                <a:cs typeface="Cambria" pitchFamily="34" charset="-120"/>
              </a:rPr>
              <a:t>Measured, not assumed</a:t>
            </a:r>
            <a:endParaRPr lang="en-US" sz="1300" dirty="0"/>
          </a:p>
        </p:txBody>
      </p:sp>
      <p:sp>
        <p:nvSpPr>
          <p:cNvPr id="30" name="Text 28"/>
          <p:cNvSpPr/>
          <p:nvPr/>
        </p:nvSpPr>
        <p:spPr>
          <a:xfrm>
            <a:off x="804672" y="5468112"/>
            <a:ext cx="5577840" cy="658368"/>
          </a:xfrm>
          <a:prstGeom prst="rect">
            <a:avLst/>
          </a:prstGeom>
          <a:noFill/>
          <a:ln/>
        </p:spPr>
        <p:txBody>
          <a:bodyPr wrap="square" lIns="0" tIns="0" rIns="0" bIns="0" rtlCol="0" anchor="ctr"/>
          <a:lstStyle/>
          <a:p>
            <a:pPr indent="0" marL="0">
              <a:lnSpc>
                <a:spcPts val="1350"/>
              </a:lnSpc>
              <a:buNone/>
            </a:pPr>
            <a:r>
              <a:rPr lang="en-US" sz="1050" dirty="0">
                <a:solidFill>
                  <a:srgbClr val="5B7186"/>
                </a:solidFill>
                <a:latin typeface="Calibri" pitchFamily="34" charset="0"/>
                <a:ea typeface="Calibri" pitchFamily="34" charset="-122"/>
                <a:cs typeface="Calibri" pitchFamily="34" charset="-120"/>
              </a:rPr>
              <a:t>Downsampler is anti-aliased, not nearest (residual RMSE 0.0853 vs 0.0979). Effective noise std varies per image from 0.025 to 0.20 — the model must be blind to noise strength.</a:t>
            </a:r>
            <a:endParaRPr lang="en-US" sz="1050" dirty="0"/>
          </a:p>
        </p:txBody>
      </p:sp>
      <p:pic>
        <p:nvPicPr>
          <p:cNvPr id="31" name="Image 0" descr="C:\Users\mdsha\Downloads\KLA Hackathon\kla-restoration\results\figures\phase1_dataset_peek.png">    </p:cNvPr>
          <p:cNvPicPr>
            <a:picLocks noChangeAspect="1"/>
          </p:cNvPicPr>
          <p:nvPr/>
        </p:nvPicPr>
        <p:blipFill>
          <a:blip r:embed="rId1"/>
          <a:stretch>
            <a:fillRect/>
          </a:stretch>
        </p:blipFill>
        <p:spPr>
          <a:xfrm>
            <a:off x="6858000" y="1481328"/>
            <a:ext cx="4754880" cy="3566160"/>
          </a:xfrm>
          <a:prstGeom prst="rect">
            <a:avLst/>
          </a:prstGeom>
        </p:spPr>
      </p:pic>
      <p:sp>
        <p:nvSpPr>
          <p:cNvPr id="32" name="Text 29"/>
          <p:cNvSpPr/>
          <p:nvPr/>
        </p:nvSpPr>
        <p:spPr>
          <a:xfrm>
            <a:off x="6858000" y="5102352"/>
            <a:ext cx="4754880" cy="457200"/>
          </a:xfrm>
          <a:prstGeom prst="rect">
            <a:avLst/>
          </a:prstGeom>
          <a:noFill/>
          <a:ln/>
        </p:spPr>
        <p:txBody>
          <a:bodyPr wrap="square" lIns="0" tIns="0" rIns="0" bIns="0" rtlCol="0" anchor="ctr"/>
          <a:lstStyle/>
          <a:p>
            <a:pPr indent="0" marL="0">
              <a:buNone/>
            </a:pPr>
            <a:r>
              <a:rPr lang="en-US" sz="1000" i="1" dirty="0">
                <a:solidFill>
                  <a:srgbClr val="5B7186"/>
                </a:solidFill>
                <a:latin typeface="Calibri" pitchFamily="34" charset="0"/>
                <a:ea typeface="Calibri" pitchFamily="34" charset="-122"/>
                <a:cs typeface="Calibri" pitchFamily="34" charset="-120"/>
              </a:rPr>
              <a:t>GT (top) · train NoisyLR (middle) · test NoisyLR (bottom). Natural imagery, not wafer scans.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66928" y="384048"/>
            <a:ext cx="11055096" cy="566928"/>
          </a:xfrm>
          <a:prstGeom prst="rect">
            <a:avLst/>
          </a:prstGeom>
          <a:noFill/>
          <a:ln/>
        </p:spPr>
        <p:txBody>
          <a:bodyPr wrap="square" lIns="0" tIns="0" rIns="0" bIns="0" rtlCol="0" anchor="ctr"/>
          <a:lstStyle/>
          <a:p>
            <a:pPr indent="0" marL="0">
              <a:buNone/>
            </a:pPr>
            <a:r>
              <a:rPr lang="en-US" sz="3200" b="1" dirty="0">
                <a:solidFill>
                  <a:srgbClr val="13202E"/>
                </a:solidFill>
                <a:latin typeface="Cambria" pitchFamily="34" charset="0"/>
                <a:ea typeface="Cambria" pitchFamily="34" charset="-122"/>
                <a:cs typeface="Cambria" pitchFamily="34" charset="-120"/>
              </a:rPr>
              <a:t>End-to-end pipeline</a:t>
            </a:r>
            <a:endParaRPr lang="en-US" sz="3200" dirty="0"/>
          </a:p>
        </p:txBody>
      </p:sp>
      <p:sp>
        <p:nvSpPr>
          <p:cNvPr id="3" name="Text 1"/>
          <p:cNvSpPr/>
          <p:nvPr/>
        </p:nvSpPr>
        <p:spPr>
          <a:xfrm>
            <a:off x="566928" y="941832"/>
            <a:ext cx="11055096" cy="292608"/>
          </a:xfrm>
          <a:prstGeom prst="rect">
            <a:avLst/>
          </a:prstGeom>
          <a:noFill/>
          <a:ln/>
        </p:spPr>
        <p:txBody>
          <a:bodyPr wrap="square" lIns="0" tIns="0" rIns="0" bIns="0" rtlCol="0" anchor="ctr"/>
          <a:lstStyle/>
          <a:p>
            <a:pPr indent="0" marL="0">
              <a:buNone/>
            </a:pPr>
            <a:r>
              <a:rPr lang="en-US" sz="1350" i="1" dirty="0">
                <a:solidFill>
                  <a:srgbClr val="5B7186"/>
                </a:solidFill>
                <a:latin typeface="Calibri" pitchFamily="34" charset="0"/>
                <a:ea typeface="Calibri" pitchFamily="34" charset="-122"/>
                <a:cs typeface="Calibri" pitchFamily="34" charset="-120"/>
              </a:rPr>
              <a:t>One joint mapping — no cascade of per-degradation stages</a:t>
            </a:r>
            <a:endParaRPr lang="en-US" sz="1350" dirty="0"/>
          </a:p>
        </p:txBody>
      </p:sp>
      <p:sp>
        <p:nvSpPr>
          <p:cNvPr id="4" name="Shape 2"/>
          <p:cNvSpPr/>
          <p:nvPr/>
        </p:nvSpPr>
        <p:spPr>
          <a:xfrm>
            <a:off x="566928" y="1828800"/>
            <a:ext cx="1755648" cy="1481328"/>
          </a:xfrm>
          <a:prstGeom prst="roundRect">
            <a:avLst>
              <a:gd name="adj" fmla="val 3704"/>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5" name="Text 3"/>
          <p:cNvSpPr/>
          <p:nvPr/>
        </p:nvSpPr>
        <p:spPr>
          <a:xfrm>
            <a:off x="658368" y="1993392"/>
            <a:ext cx="1572768" cy="347472"/>
          </a:xfrm>
          <a:prstGeom prst="rect">
            <a:avLst/>
          </a:prstGeom>
          <a:noFill/>
          <a:ln/>
        </p:spPr>
        <p:txBody>
          <a:bodyPr wrap="square" lIns="0" tIns="0" rIns="0" bIns="0" rtlCol="0" anchor="ctr"/>
          <a:lstStyle/>
          <a:p>
            <a:pPr algn="ctr" indent="0" marL="0">
              <a:buNone/>
            </a:pPr>
            <a:r>
              <a:rPr lang="en-US" sz="1350" b="1" dirty="0">
                <a:solidFill>
                  <a:srgbClr val="13202E"/>
                </a:solidFill>
                <a:latin typeface="Cambria" pitchFamily="34" charset="0"/>
                <a:ea typeface="Cambria" pitchFamily="34" charset="-122"/>
                <a:cs typeface="Cambria" pitchFamily="34" charset="-120"/>
              </a:rPr>
              <a:t>Load</a:t>
            </a:r>
            <a:endParaRPr lang="en-US" sz="1350" dirty="0"/>
          </a:p>
        </p:txBody>
      </p:sp>
      <p:sp>
        <p:nvSpPr>
          <p:cNvPr id="6" name="Text 4"/>
          <p:cNvSpPr/>
          <p:nvPr/>
        </p:nvSpPr>
        <p:spPr>
          <a:xfrm>
            <a:off x="640080" y="2377440"/>
            <a:ext cx="1609344" cy="822960"/>
          </a:xfrm>
          <a:prstGeom prst="rect">
            <a:avLst/>
          </a:prstGeom>
          <a:noFill/>
          <a:ln/>
        </p:spPr>
        <p:txBody>
          <a:bodyPr wrap="square" lIns="0" tIns="0" rIns="0" bIns="0" rtlCol="0" anchor="ctr"/>
          <a:lstStyle/>
          <a:p>
            <a:pPr algn="ctr" indent="0" marL="0">
              <a:lnSpc>
                <a:spcPts val="1300"/>
              </a:lnSpc>
              <a:buNone/>
            </a:pPr>
            <a:r>
              <a:rPr lang="en-US" sz="1000" dirty="0">
                <a:solidFill>
                  <a:srgbClr val="5B7186"/>
                </a:solidFill>
                <a:latin typeface="Calibri" pitchFamily="34" charset="0"/>
                <a:ea typeface="Calibri" pitchFamily="34" charset="-122"/>
                <a:cs typeface="Calibri" pitchFamily="34" charset="-120"/>
              </a:rPr>
              <a:t>.npy float32</a:t>
            </a:r>
            <a:endParaRPr lang="en-US" sz="1000" dirty="0"/>
          </a:p>
          <a:p>
            <a:pPr algn="ctr" indent="0" marL="0">
              <a:lnSpc>
                <a:spcPts val="1300"/>
              </a:lnSpc>
              <a:buNone/>
            </a:pPr>
            <a:r>
              <a:rPr lang="en-US" sz="1000" dirty="0">
                <a:solidFill>
                  <a:srgbClr val="5B7186"/>
                </a:solidFill>
                <a:latin typeface="Calibri" pitchFamily="34" charset="0"/>
                <a:ea typeface="Calibri" pitchFamily="34" charset="-122"/>
                <a:cs typeface="Calibri" pitchFamily="34" charset="-120"/>
              </a:rPr>
              <a:t>raw, unclipped</a:t>
            </a:r>
            <a:endParaRPr lang="en-US" sz="1000" dirty="0"/>
          </a:p>
        </p:txBody>
      </p:sp>
      <p:sp>
        <p:nvSpPr>
          <p:cNvPr id="7" name="Text 5"/>
          <p:cNvSpPr/>
          <p:nvPr/>
        </p:nvSpPr>
        <p:spPr>
          <a:xfrm>
            <a:off x="2304288" y="2331720"/>
            <a:ext cx="173736" cy="457200"/>
          </a:xfrm>
          <a:prstGeom prst="rect">
            <a:avLst/>
          </a:prstGeom>
          <a:noFill/>
          <a:ln/>
        </p:spPr>
        <p:txBody>
          <a:bodyPr wrap="square" lIns="0" tIns="0" rIns="0" bIns="0"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459736" y="1828800"/>
            <a:ext cx="1755648" cy="1481328"/>
          </a:xfrm>
          <a:prstGeom prst="roundRect">
            <a:avLst>
              <a:gd name="adj" fmla="val 3704"/>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9" name="Text 7"/>
          <p:cNvSpPr/>
          <p:nvPr/>
        </p:nvSpPr>
        <p:spPr>
          <a:xfrm>
            <a:off x="2551176" y="1993392"/>
            <a:ext cx="1572768" cy="347472"/>
          </a:xfrm>
          <a:prstGeom prst="rect">
            <a:avLst/>
          </a:prstGeom>
          <a:noFill/>
          <a:ln/>
        </p:spPr>
        <p:txBody>
          <a:bodyPr wrap="square" lIns="0" tIns="0" rIns="0" bIns="0" rtlCol="0" anchor="ctr"/>
          <a:lstStyle/>
          <a:p>
            <a:pPr algn="ctr" indent="0" marL="0">
              <a:buNone/>
            </a:pPr>
            <a:r>
              <a:rPr lang="en-US" sz="1350" b="1" dirty="0">
                <a:solidFill>
                  <a:srgbClr val="13202E"/>
                </a:solidFill>
                <a:latin typeface="Cambria" pitchFamily="34" charset="0"/>
                <a:ea typeface="Cambria" pitchFamily="34" charset="-122"/>
                <a:cs typeface="Cambria" pitchFamily="34" charset="-120"/>
              </a:rPr>
              <a:t>Normalize</a:t>
            </a:r>
            <a:endParaRPr lang="en-US" sz="1350" dirty="0"/>
          </a:p>
        </p:txBody>
      </p:sp>
      <p:sp>
        <p:nvSpPr>
          <p:cNvPr id="10" name="Text 8"/>
          <p:cNvSpPr/>
          <p:nvPr/>
        </p:nvSpPr>
        <p:spPr>
          <a:xfrm>
            <a:off x="2532888" y="2377440"/>
            <a:ext cx="1609344" cy="822960"/>
          </a:xfrm>
          <a:prstGeom prst="rect">
            <a:avLst/>
          </a:prstGeom>
          <a:noFill/>
          <a:ln/>
        </p:spPr>
        <p:txBody>
          <a:bodyPr wrap="square" lIns="0" tIns="0" rIns="0" bIns="0" rtlCol="0" anchor="ctr"/>
          <a:lstStyle/>
          <a:p>
            <a:pPr algn="ctr" indent="0" marL="0">
              <a:lnSpc>
                <a:spcPts val="1300"/>
              </a:lnSpc>
              <a:buNone/>
            </a:pPr>
            <a:r>
              <a:rPr lang="en-US" sz="1000" dirty="0">
                <a:solidFill>
                  <a:srgbClr val="5B7186"/>
                </a:solidFill>
                <a:latin typeface="Calibri" pitchFamily="34" charset="0"/>
                <a:ea typeface="Calibri" pitchFamily="34" charset="-122"/>
                <a:cs typeface="Calibri" pitchFamily="34" charset="-120"/>
              </a:rPr>
              <a:t>fixed mean shift</a:t>
            </a:r>
            <a:endParaRPr lang="en-US" sz="1000" dirty="0"/>
          </a:p>
          <a:p>
            <a:pPr algn="ctr" indent="0" marL="0">
              <a:lnSpc>
                <a:spcPts val="1300"/>
              </a:lnSpc>
              <a:buNone/>
            </a:pPr>
            <a:r>
              <a:rPr lang="en-US" sz="1000" dirty="0">
                <a:solidFill>
                  <a:srgbClr val="5B7186"/>
                </a:solidFill>
                <a:latin typeface="Calibri" pitchFamily="34" charset="0"/>
                <a:ea typeface="Calibri" pitchFamily="34" charset="-122"/>
                <a:cs typeface="Calibri" pitchFamily="34" charset="-120"/>
              </a:rPr>
              <a:t>−0.4335</a:t>
            </a:r>
            <a:endParaRPr lang="en-US" sz="1000" dirty="0"/>
          </a:p>
        </p:txBody>
      </p:sp>
      <p:sp>
        <p:nvSpPr>
          <p:cNvPr id="11" name="Text 9"/>
          <p:cNvSpPr/>
          <p:nvPr/>
        </p:nvSpPr>
        <p:spPr>
          <a:xfrm>
            <a:off x="4197096" y="2331720"/>
            <a:ext cx="173736" cy="457200"/>
          </a:xfrm>
          <a:prstGeom prst="rect">
            <a:avLst/>
          </a:prstGeom>
          <a:noFill/>
          <a:ln/>
        </p:spPr>
        <p:txBody>
          <a:bodyPr wrap="square" lIns="0" tIns="0" rIns="0" bIns="0"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4352544" y="1828800"/>
            <a:ext cx="1755648" cy="1481328"/>
          </a:xfrm>
          <a:prstGeom prst="roundRect">
            <a:avLst>
              <a:gd name="adj" fmla="val 3704"/>
            </a:avLst>
          </a:prstGeom>
          <a:solidFill>
            <a:srgbClr val="1C7293"/>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13" name="Text 11"/>
          <p:cNvSpPr/>
          <p:nvPr/>
        </p:nvSpPr>
        <p:spPr>
          <a:xfrm>
            <a:off x="4443984" y="1993392"/>
            <a:ext cx="1572768" cy="347472"/>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NAFNet-SR</a:t>
            </a:r>
            <a:endParaRPr lang="en-US" sz="1350" dirty="0"/>
          </a:p>
        </p:txBody>
      </p:sp>
      <p:sp>
        <p:nvSpPr>
          <p:cNvPr id="14" name="Text 12"/>
          <p:cNvSpPr/>
          <p:nvPr/>
        </p:nvSpPr>
        <p:spPr>
          <a:xfrm>
            <a:off x="4425696" y="2377440"/>
            <a:ext cx="1609344" cy="822960"/>
          </a:xfrm>
          <a:prstGeom prst="rect">
            <a:avLst/>
          </a:prstGeom>
          <a:noFill/>
          <a:ln/>
        </p:spPr>
        <p:txBody>
          <a:bodyPr wrap="square" lIns="0" tIns="0" rIns="0" bIns="0" rtlCol="0" anchor="ctr"/>
          <a:lstStyle/>
          <a:p>
            <a:pPr algn="ctr" indent="0" marL="0">
              <a:lnSpc>
                <a:spcPts val="1300"/>
              </a:lnSpc>
              <a:buNone/>
            </a:pPr>
            <a:r>
              <a:rPr lang="en-US" sz="1000" dirty="0">
                <a:solidFill>
                  <a:srgbClr val="DCEAF2"/>
                </a:solidFill>
                <a:latin typeface="Calibri" pitchFamily="34" charset="0"/>
                <a:ea typeface="Calibri" pitchFamily="34" charset="-122"/>
                <a:cs typeface="Calibri" pitchFamily="34" charset="-120"/>
              </a:rPr>
              <a:t>enc–dec at LR res</a:t>
            </a:r>
            <a:endParaRPr lang="en-US" sz="1000" dirty="0"/>
          </a:p>
          <a:p>
            <a:pPr algn="ctr" indent="0" marL="0">
              <a:lnSpc>
                <a:spcPts val="1300"/>
              </a:lnSpc>
              <a:buNone/>
            </a:pPr>
            <a:r>
              <a:rPr lang="en-US" sz="1000" dirty="0">
                <a:solidFill>
                  <a:srgbClr val="DCEAF2"/>
                </a:solidFill>
                <a:latin typeface="Calibri" pitchFamily="34" charset="0"/>
                <a:ea typeface="Calibri" pitchFamily="34" charset="-122"/>
                <a:cs typeface="Calibri" pitchFamily="34" charset="-120"/>
              </a:rPr>
              <a:t>4.02 M params</a:t>
            </a:r>
            <a:endParaRPr lang="en-US" sz="1000" dirty="0"/>
          </a:p>
        </p:txBody>
      </p:sp>
      <p:sp>
        <p:nvSpPr>
          <p:cNvPr id="15" name="Text 13"/>
          <p:cNvSpPr/>
          <p:nvPr/>
        </p:nvSpPr>
        <p:spPr>
          <a:xfrm>
            <a:off x="6089904" y="2331720"/>
            <a:ext cx="173736" cy="457200"/>
          </a:xfrm>
          <a:prstGeom prst="rect">
            <a:avLst/>
          </a:prstGeom>
          <a:noFill/>
          <a:ln/>
        </p:spPr>
        <p:txBody>
          <a:bodyPr wrap="square" lIns="0" tIns="0" rIns="0" bIns="0"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245352" y="1828800"/>
            <a:ext cx="1755648" cy="1481328"/>
          </a:xfrm>
          <a:prstGeom prst="roundRect">
            <a:avLst>
              <a:gd name="adj" fmla="val 3704"/>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17" name="Text 15"/>
          <p:cNvSpPr/>
          <p:nvPr/>
        </p:nvSpPr>
        <p:spPr>
          <a:xfrm>
            <a:off x="6336792" y="1993392"/>
            <a:ext cx="1572768" cy="347472"/>
          </a:xfrm>
          <a:prstGeom prst="rect">
            <a:avLst/>
          </a:prstGeom>
          <a:noFill/>
          <a:ln/>
        </p:spPr>
        <p:txBody>
          <a:bodyPr wrap="square" lIns="0" tIns="0" rIns="0" bIns="0" rtlCol="0" anchor="ctr"/>
          <a:lstStyle/>
          <a:p>
            <a:pPr algn="ctr" indent="0" marL="0">
              <a:buNone/>
            </a:pPr>
            <a:r>
              <a:rPr lang="en-US" sz="1350" b="1" dirty="0">
                <a:solidFill>
                  <a:srgbClr val="13202E"/>
                </a:solidFill>
                <a:latin typeface="Cambria" pitchFamily="34" charset="0"/>
                <a:ea typeface="Cambria" pitchFamily="34" charset="-122"/>
                <a:cs typeface="Cambria" pitchFamily="34" charset="-120"/>
              </a:rPr>
              <a:t>PixelShuffle ×2</a:t>
            </a:r>
            <a:endParaRPr lang="en-US" sz="1350" dirty="0"/>
          </a:p>
        </p:txBody>
      </p:sp>
      <p:sp>
        <p:nvSpPr>
          <p:cNvPr id="18" name="Text 16"/>
          <p:cNvSpPr/>
          <p:nvPr/>
        </p:nvSpPr>
        <p:spPr>
          <a:xfrm>
            <a:off x="6318504" y="2377440"/>
            <a:ext cx="1609344" cy="822960"/>
          </a:xfrm>
          <a:prstGeom prst="rect">
            <a:avLst/>
          </a:prstGeom>
          <a:noFill/>
          <a:ln/>
        </p:spPr>
        <p:txBody>
          <a:bodyPr wrap="square" lIns="0" tIns="0" rIns="0" bIns="0" rtlCol="0" anchor="ctr"/>
          <a:lstStyle/>
          <a:p>
            <a:pPr algn="ctr" indent="0" marL="0">
              <a:lnSpc>
                <a:spcPts val="1300"/>
              </a:lnSpc>
              <a:buNone/>
            </a:pPr>
            <a:r>
              <a:rPr lang="en-US" sz="1000" dirty="0">
                <a:solidFill>
                  <a:srgbClr val="5B7186"/>
                </a:solidFill>
                <a:latin typeface="Calibri" pitchFamily="34" charset="0"/>
                <a:ea typeface="Calibri" pitchFamily="34" charset="-122"/>
                <a:cs typeface="Calibri" pitchFamily="34" charset="-120"/>
              </a:rPr>
              <a:t>upsample deferred</a:t>
            </a:r>
            <a:endParaRPr lang="en-US" sz="1000" dirty="0"/>
          </a:p>
          <a:p>
            <a:pPr algn="ctr" indent="0" marL="0">
              <a:lnSpc>
                <a:spcPts val="1300"/>
              </a:lnSpc>
              <a:buNone/>
            </a:pPr>
            <a:r>
              <a:rPr lang="en-US" sz="1000" dirty="0">
                <a:solidFill>
                  <a:srgbClr val="5B7186"/>
                </a:solidFill>
                <a:latin typeface="Calibri" pitchFamily="34" charset="0"/>
                <a:ea typeface="Calibri" pitchFamily="34" charset="-122"/>
                <a:cs typeface="Calibri" pitchFamily="34" charset="-120"/>
              </a:rPr>
              <a:t>to the last layer</a:t>
            </a:r>
            <a:endParaRPr lang="en-US" sz="1000" dirty="0"/>
          </a:p>
        </p:txBody>
      </p:sp>
      <p:sp>
        <p:nvSpPr>
          <p:cNvPr id="19" name="Text 17"/>
          <p:cNvSpPr/>
          <p:nvPr/>
        </p:nvSpPr>
        <p:spPr>
          <a:xfrm>
            <a:off x="7982712" y="2331720"/>
            <a:ext cx="173736" cy="457200"/>
          </a:xfrm>
          <a:prstGeom prst="rect">
            <a:avLst/>
          </a:prstGeom>
          <a:noFill/>
          <a:ln/>
        </p:spPr>
        <p:txBody>
          <a:bodyPr wrap="square" lIns="0" tIns="0" rIns="0" bIns="0"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8138160" y="1828800"/>
            <a:ext cx="1755648" cy="1481328"/>
          </a:xfrm>
          <a:prstGeom prst="roundRect">
            <a:avLst>
              <a:gd name="adj" fmla="val 3704"/>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21" name="Text 19"/>
          <p:cNvSpPr/>
          <p:nvPr/>
        </p:nvSpPr>
        <p:spPr>
          <a:xfrm>
            <a:off x="8229600" y="1993392"/>
            <a:ext cx="1572768" cy="347472"/>
          </a:xfrm>
          <a:prstGeom prst="rect">
            <a:avLst/>
          </a:prstGeom>
          <a:noFill/>
          <a:ln/>
        </p:spPr>
        <p:txBody>
          <a:bodyPr wrap="square" lIns="0" tIns="0" rIns="0" bIns="0" rtlCol="0" anchor="ctr"/>
          <a:lstStyle/>
          <a:p>
            <a:pPr algn="ctr" indent="0" marL="0">
              <a:buNone/>
            </a:pPr>
            <a:r>
              <a:rPr lang="en-US" sz="1350" b="1" dirty="0">
                <a:solidFill>
                  <a:srgbClr val="13202E"/>
                </a:solidFill>
                <a:latin typeface="Cambria" pitchFamily="34" charset="0"/>
                <a:ea typeface="Cambria" pitchFamily="34" charset="-122"/>
                <a:cs typeface="Cambria" pitchFamily="34" charset="-120"/>
              </a:rPr>
              <a:t>+ bicubic</a:t>
            </a:r>
            <a:endParaRPr lang="en-US" sz="1350" dirty="0"/>
          </a:p>
        </p:txBody>
      </p:sp>
      <p:sp>
        <p:nvSpPr>
          <p:cNvPr id="22" name="Text 20"/>
          <p:cNvSpPr/>
          <p:nvPr/>
        </p:nvSpPr>
        <p:spPr>
          <a:xfrm>
            <a:off x="8211312" y="2377440"/>
            <a:ext cx="1609344" cy="822960"/>
          </a:xfrm>
          <a:prstGeom prst="rect">
            <a:avLst/>
          </a:prstGeom>
          <a:noFill/>
          <a:ln/>
        </p:spPr>
        <p:txBody>
          <a:bodyPr wrap="square" lIns="0" tIns="0" rIns="0" bIns="0" rtlCol="0" anchor="ctr"/>
          <a:lstStyle/>
          <a:p>
            <a:pPr algn="ctr" indent="0" marL="0">
              <a:lnSpc>
                <a:spcPts val="1300"/>
              </a:lnSpc>
              <a:buNone/>
            </a:pPr>
            <a:r>
              <a:rPr lang="en-US" sz="1000" dirty="0">
                <a:solidFill>
                  <a:srgbClr val="5B7186"/>
                </a:solidFill>
                <a:latin typeface="Calibri" pitchFamily="34" charset="0"/>
                <a:ea typeface="Calibri" pitchFamily="34" charset="-122"/>
                <a:cs typeface="Calibri" pitchFamily="34" charset="-120"/>
              </a:rPr>
              <a:t>global residual</a:t>
            </a:r>
            <a:endParaRPr lang="en-US" sz="1000" dirty="0"/>
          </a:p>
          <a:p>
            <a:pPr algn="ctr" indent="0" marL="0">
              <a:lnSpc>
                <a:spcPts val="1300"/>
              </a:lnSpc>
              <a:buNone/>
            </a:pPr>
            <a:r>
              <a:rPr lang="en-US" sz="1000" dirty="0">
                <a:solidFill>
                  <a:srgbClr val="5B7186"/>
                </a:solidFill>
                <a:latin typeface="Calibri" pitchFamily="34" charset="0"/>
                <a:ea typeface="Calibri" pitchFamily="34" charset="-122"/>
                <a:cs typeface="Calibri" pitchFamily="34" charset="-120"/>
              </a:rPr>
              <a:t>zero-init tail</a:t>
            </a:r>
            <a:endParaRPr lang="en-US" sz="1000" dirty="0"/>
          </a:p>
        </p:txBody>
      </p:sp>
      <p:sp>
        <p:nvSpPr>
          <p:cNvPr id="23" name="Text 21"/>
          <p:cNvSpPr/>
          <p:nvPr/>
        </p:nvSpPr>
        <p:spPr>
          <a:xfrm>
            <a:off x="9875520" y="2331720"/>
            <a:ext cx="173736" cy="457200"/>
          </a:xfrm>
          <a:prstGeom prst="rect">
            <a:avLst/>
          </a:prstGeom>
          <a:noFill/>
          <a:ln/>
        </p:spPr>
        <p:txBody>
          <a:bodyPr wrap="square" lIns="0" tIns="0" rIns="0" bIns="0"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24" name="Shape 22"/>
          <p:cNvSpPr/>
          <p:nvPr/>
        </p:nvSpPr>
        <p:spPr>
          <a:xfrm>
            <a:off x="10030968" y="1828800"/>
            <a:ext cx="1755648" cy="1481328"/>
          </a:xfrm>
          <a:prstGeom prst="roundRect">
            <a:avLst>
              <a:gd name="adj" fmla="val 3704"/>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25" name="Text 23"/>
          <p:cNvSpPr/>
          <p:nvPr/>
        </p:nvSpPr>
        <p:spPr>
          <a:xfrm>
            <a:off x="10122408" y="1993392"/>
            <a:ext cx="1572768" cy="347472"/>
          </a:xfrm>
          <a:prstGeom prst="rect">
            <a:avLst/>
          </a:prstGeom>
          <a:noFill/>
          <a:ln/>
        </p:spPr>
        <p:txBody>
          <a:bodyPr wrap="square" lIns="0" tIns="0" rIns="0" bIns="0" rtlCol="0" anchor="ctr"/>
          <a:lstStyle/>
          <a:p>
            <a:pPr algn="ctr" indent="0" marL="0">
              <a:buNone/>
            </a:pPr>
            <a:r>
              <a:rPr lang="en-US" sz="1350" b="1" dirty="0">
                <a:solidFill>
                  <a:srgbClr val="13202E"/>
                </a:solidFill>
                <a:latin typeface="Cambria" pitchFamily="34" charset="0"/>
                <a:ea typeface="Cambria" pitchFamily="34" charset="-122"/>
                <a:cs typeface="Cambria" pitchFamily="34" charset="-120"/>
              </a:rPr>
              <a:t>Clip &amp; save</a:t>
            </a:r>
            <a:endParaRPr lang="en-US" sz="1350" dirty="0"/>
          </a:p>
        </p:txBody>
      </p:sp>
      <p:sp>
        <p:nvSpPr>
          <p:cNvPr id="26" name="Text 24"/>
          <p:cNvSpPr/>
          <p:nvPr/>
        </p:nvSpPr>
        <p:spPr>
          <a:xfrm>
            <a:off x="10104120" y="2377440"/>
            <a:ext cx="1609344" cy="822960"/>
          </a:xfrm>
          <a:prstGeom prst="rect">
            <a:avLst/>
          </a:prstGeom>
          <a:noFill/>
          <a:ln/>
        </p:spPr>
        <p:txBody>
          <a:bodyPr wrap="square" lIns="0" tIns="0" rIns="0" bIns="0" rtlCol="0" anchor="ctr"/>
          <a:lstStyle/>
          <a:p>
            <a:pPr algn="ctr" indent="0" marL="0">
              <a:lnSpc>
                <a:spcPts val="1300"/>
              </a:lnSpc>
              <a:buNone/>
            </a:pPr>
            <a:r>
              <a:rPr lang="en-US" sz="1000" dirty="0">
                <a:solidFill>
                  <a:srgbClr val="5B7186"/>
                </a:solidFill>
                <a:latin typeface="Calibri" pitchFamily="34" charset="0"/>
                <a:ea typeface="Calibri" pitchFamily="34" charset="-122"/>
                <a:cs typeface="Calibri" pitchFamily="34" charset="-120"/>
              </a:rPr>
              <a:t>[0,1] float32</a:t>
            </a:r>
            <a:endParaRPr lang="en-US" sz="1000" dirty="0"/>
          </a:p>
          <a:p>
            <a:pPr algn="ctr" indent="0" marL="0">
              <a:lnSpc>
                <a:spcPts val="1300"/>
              </a:lnSpc>
              <a:buNone/>
            </a:pPr>
            <a:r>
              <a:rPr lang="en-US" sz="1000" dirty="0">
                <a:solidFill>
                  <a:srgbClr val="5B7186"/>
                </a:solidFill>
                <a:latin typeface="Calibri" pitchFamily="34" charset="0"/>
                <a:ea typeface="Calibri" pitchFamily="34" charset="-122"/>
                <a:cs typeface="Calibri" pitchFamily="34" charset="-120"/>
              </a:rPr>
              <a:t>same filename</a:t>
            </a:r>
            <a:endParaRPr lang="en-US" sz="1000" dirty="0"/>
          </a:p>
        </p:txBody>
      </p:sp>
      <p:sp>
        <p:nvSpPr>
          <p:cNvPr id="27" name="Text 25"/>
          <p:cNvSpPr/>
          <p:nvPr/>
        </p:nvSpPr>
        <p:spPr>
          <a:xfrm>
            <a:off x="566928" y="3712464"/>
            <a:ext cx="5486400" cy="329184"/>
          </a:xfrm>
          <a:prstGeom prst="rect">
            <a:avLst/>
          </a:prstGeom>
          <a:noFill/>
          <a:ln/>
        </p:spPr>
        <p:txBody>
          <a:bodyPr wrap="square" lIns="0" tIns="0" rIns="0" bIns="0" rtlCol="0" anchor="ctr"/>
          <a:lstStyle/>
          <a:p>
            <a:pPr indent="0" marL="0">
              <a:buNone/>
            </a:pPr>
            <a:r>
              <a:rPr lang="en-US" sz="1600" b="1" dirty="0">
                <a:solidFill>
                  <a:srgbClr val="13202E"/>
                </a:solidFill>
                <a:latin typeface="Cambria" pitchFamily="34" charset="0"/>
                <a:ea typeface="Cambria" pitchFamily="34" charset="-122"/>
                <a:cs typeface="Cambria" pitchFamily="34" charset="-120"/>
              </a:rPr>
              <a:t>Two properties this buys us</a:t>
            </a:r>
            <a:endParaRPr lang="en-US" sz="1600" dirty="0"/>
          </a:p>
        </p:txBody>
      </p:sp>
      <p:sp>
        <p:nvSpPr>
          <p:cNvPr id="28" name="Shape 26"/>
          <p:cNvSpPr/>
          <p:nvPr/>
        </p:nvSpPr>
        <p:spPr>
          <a:xfrm>
            <a:off x="566928" y="4114800"/>
            <a:ext cx="5394960" cy="1737360"/>
          </a:xfrm>
          <a:prstGeom prst="roundRect">
            <a:avLst>
              <a:gd name="adj" fmla="val 3158"/>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29" name="Text 27"/>
          <p:cNvSpPr/>
          <p:nvPr/>
        </p:nvSpPr>
        <p:spPr>
          <a:xfrm>
            <a:off x="804672" y="4261104"/>
            <a:ext cx="4937760" cy="292608"/>
          </a:xfrm>
          <a:prstGeom prst="rect">
            <a:avLst/>
          </a:prstGeom>
          <a:noFill/>
          <a:ln/>
        </p:spPr>
        <p:txBody>
          <a:bodyPr wrap="square" lIns="0" tIns="0" rIns="0" bIns="0" rtlCol="0" anchor="ctr"/>
          <a:lstStyle/>
          <a:p>
            <a:pPr indent="0" marL="0">
              <a:buNone/>
            </a:pPr>
            <a:r>
              <a:rPr lang="en-US" sz="1350" b="1" dirty="0">
                <a:solidFill>
                  <a:srgbClr val="065A82"/>
                </a:solidFill>
                <a:latin typeface="Cambria" pitchFamily="34" charset="0"/>
                <a:ea typeface="Cambria" pitchFamily="34" charset="-122"/>
                <a:cs typeface="Cambria" pitchFamily="34" charset="-120"/>
              </a:rPr>
              <a:t>Resolution-agnostic</a:t>
            </a:r>
            <a:endParaRPr lang="en-US" sz="1350" dirty="0"/>
          </a:p>
        </p:txBody>
      </p:sp>
      <p:sp>
        <p:nvSpPr>
          <p:cNvPr id="30" name="Text 28"/>
          <p:cNvSpPr/>
          <p:nvPr/>
        </p:nvSpPr>
        <p:spPr>
          <a:xfrm>
            <a:off x="804672" y="4553712"/>
            <a:ext cx="4937760" cy="1188720"/>
          </a:xfrm>
          <a:prstGeom prst="rect">
            <a:avLst/>
          </a:prstGeom>
          <a:noFill/>
          <a:ln/>
        </p:spPr>
        <p:txBody>
          <a:bodyPr wrap="square" lIns="0" tIns="0" rIns="0" bIns="0" rtlCol="0" anchor="ctr"/>
          <a:lstStyle/>
          <a:p>
            <a:pPr indent="0" marL="0">
              <a:lnSpc>
                <a:spcPts val="1450"/>
              </a:lnSpc>
              <a:buNone/>
            </a:pPr>
            <a:r>
              <a:rPr lang="en-US" sz="1100" dirty="0">
                <a:solidFill>
                  <a:srgbClr val="5B7186"/>
                </a:solidFill>
                <a:latin typeface="Calibri" pitchFamily="34" charset="0"/>
                <a:ea typeface="Calibri" pitchFamily="34" charset="-122"/>
                <a:cs typeface="Calibri" pitchFamily="34" charset="-120"/>
              </a:rPr>
              <a:t>Fully convolutional; inputs are reflect-padded to a multiple of stride 8 and cropped back exactly. No spatial dimension is hardcoded anywhere. Verified on 128², 256² and a deliberately odd 130×97.</a:t>
            </a:r>
            <a:endParaRPr lang="en-US" sz="1100" dirty="0"/>
          </a:p>
        </p:txBody>
      </p:sp>
      <p:sp>
        <p:nvSpPr>
          <p:cNvPr id="31" name="Shape 29"/>
          <p:cNvSpPr/>
          <p:nvPr/>
        </p:nvSpPr>
        <p:spPr>
          <a:xfrm>
            <a:off x="6236208" y="4114800"/>
            <a:ext cx="5376672" cy="1737360"/>
          </a:xfrm>
          <a:prstGeom prst="roundRect">
            <a:avLst>
              <a:gd name="adj" fmla="val 3158"/>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32" name="Text 30"/>
          <p:cNvSpPr/>
          <p:nvPr/>
        </p:nvSpPr>
        <p:spPr>
          <a:xfrm>
            <a:off x="6473952" y="4261104"/>
            <a:ext cx="4937760" cy="292608"/>
          </a:xfrm>
          <a:prstGeom prst="rect">
            <a:avLst/>
          </a:prstGeom>
          <a:noFill/>
          <a:ln/>
        </p:spPr>
        <p:txBody>
          <a:bodyPr wrap="square" lIns="0" tIns="0" rIns="0" bIns="0" rtlCol="0" anchor="ctr"/>
          <a:lstStyle/>
          <a:p>
            <a:pPr indent="0" marL="0">
              <a:buNone/>
            </a:pPr>
            <a:r>
              <a:rPr lang="en-US" sz="1350" b="1" dirty="0">
                <a:solidFill>
                  <a:srgbClr val="065A82"/>
                </a:solidFill>
                <a:latin typeface="Cambria" pitchFamily="34" charset="0"/>
                <a:ea typeface="Cambria" pitchFamily="34" charset="-122"/>
                <a:cs typeface="Cambria" pitchFamily="34" charset="-120"/>
              </a:rPr>
              <a:t>Starts at the baseline, never below</a:t>
            </a:r>
            <a:endParaRPr lang="en-US" sz="1350" dirty="0"/>
          </a:p>
        </p:txBody>
      </p:sp>
      <p:sp>
        <p:nvSpPr>
          <p:cNvPr id="33" name="Text 31"/>
          <p:cNvSpPr/>
          <p:nvPr/>
        </p:nvSpPr>
        <p:spPr>
          <a:xfrm>
            <a:off x="6473952" y="4553712"/>
            <a:ext cx="4937760" cy="1188720"/>
          </a:xfrm>
          <a:prstGeom prst="rect">
            <a:avLst/>
          </a:prstGeom>
          <a:noFill/>
          <a:ln/>
        </p:spPr>
        <p:txBody>
          <a:bodyPr wrap="square" lIns="0" tIns="0" rIns="0" bIns="0" rtlCol="0" anchor="ctr"/>
          <a:lstStyle/>
          <a:p>
            <a:pPr indent="0" marL="0">
              <a:lnSpc>
                <a:spcPts val="1450"/>
              </a:lnSpc>
              <a:buNone/>
            </a:pPr>
            <a:r>
              <a:rPr lang="en-US" sz="1100" dirty="0">
                <a:solidFill>
                  <a:srgbClr val="5B7186"/>
                </a:solidFill>
                <a:latin typeface="Calibri" pitchFamily="34" charset="0"/>
                <a:ea typeface="Calibri" pitchFamily="34" charset="-122"/>
                <a:cs typeface="Calibri" pitchFamily="34" charset="-120"/>
              </a:rPr>
              <a:t>The tail convolution is zero-initialized and the bicubic upsample is added back, so an untrained model outputs exactly the bicubic baseline. Training can only improve on the floor — and convergence starts from a sensible point instead of noise.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66928" y="384048"/>
            <a:ext cx="11055096" cy="566928"/>
          </a:xfrm>
          <a:prstGeom prst="rect">
            <a:avLst/>
          </a:prstGeom>
          <a:noFill/>
          <a:ln/>
        </p:spPr>
        <p:txBody>
          <a:bodyPr wrap="square" lIns="0" tIns="0" rIns="0" bIns="0" rtlCol="0" anchor="ctr"/>
          <a:lstStyle/>
          <a:p>
            <a:pPr indent="0" marL="0">
              <a:buNone/>
            </a:pPr>
            <a:r>
              <a:rPr lang="en-US" sz="3200" b="1" dirty="0">
                <a:solidFill>
                  <a:srgbClr val="13202E"/>
                </a:solidFill>
                <a:latin typeface="Cambria" pitchFamily="34" charset="0"/>
                <a:ea typeface="Cambria" pitchFamily="34" charset="-122"/>
                <a:cs typeface="Cambria" pitchFamily="34" charset="-120"/>
              </a:rPr>
              <a:t>Preprocessing and data handling</a:t>
            </a:r>
            <a:endParaRPr lang="en-US" sz="3200" dirty="0"/>
          </a:p>
        </p:txBody>
      </p:sp>
      <p:sp>
        <p:nvSpPr>
          <p:cNvPr id="3" name="Text 1"/>
          <p:cNvSpPr/>
          <p:nvPr/>
        </p:nvSpPr>
        <p:spPr>
          <a:xfrm>
            <a:off x="566928" y="941832"/>
            <a:ext cx="11055096" cy="292608"/>
          </a:xfrm>
          <a:prstGeom prst="rect">
            <a:avLst/>
          </a:prstGeom>
          <a:noFill/>
          <a:ln/>
        </p:spPr>
        <p:txBody>
          <a:bodyPr wrap="square" lIns="0" tIns="0" rIns="0" bIns="0" rtlCol="0" anchor="ctr"/>
          <a:lstStyle/>
          <a:p>
            <a:pPr indent="0" marL="0">
              <a:buNone/>
            </a:pPr>
            <a:r>
              <a:rPr lang="en-US" sz="1350" i="1" dirty="0">
                <a:solidFill>
                  <a:srgbClr val="5B7186"/>
                </a:solidFill>
                <a:latin typeface="Calibri" pitchFamily="34" charset="0"/>
                <a:ea typeface="Calibri" pitchFamily="34" charset="-122"/>
                <a:cs typeface="Calibri" pitchFamily="34" charset="-120"/>
              </a:rPr>
              <a:t>The rule that matters: never clip the input, only the output</a:t>
            </a:r>
            <a:endParaRPr lang="en-US" sz="1350" dirty="0"/>
          </a:p>
        </p:txBody>
      </p:sp>
      <p:sp>
        <p:nvSpPr>
          <p:cNvPr id="4" name="Shape 2"/>
          <p:cNvSpPr/>
          <p:nvPr/>
        </p:nvSpPr>
        <p:spPr>
          <a:xfrm>
            <a:off x="566928" y="1517904"/>
            <a:ext cx="5394960" cy="2148840"/>
          </a:xfrm>
          <a:prstGeom prst="roundRect">
            <a:avLst>
              <a:gd name="adj" fmla="val 2553"/>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5" name="Text 3"/>
          <p:cNvSpPr/>
          <p:nvPr/>
        </p:nvSpPr>
        <p:spPr>
          <a:xfrm>
            <a:off x="822960" y="1682496"/>
            <a:ext cx="4846320" cy="310896"/>
          </a:xfrm>
          <a:prstGeom prst="rect">
            <a:avLst/>
          </a:prstGeom>
          <a:noFill/>
          <a:ln/>
        </p:spPr>
        <p:txBody>
          <a:bodyPr wrap="square" lIns="0" tIns="0" rIns="0" bIns="0" rtlCol="0" anchor="ctr"/>
          <a:lstStyle/>
          <a:p>
            <a:pPr indent="0" marL="0">
              <a:buNone/>
            </a:pPr>
            <a:r>
              <a:rPr lang="en-US" sz="1600" b="1" dirty="0">
                <a:solidFill>
                  <a:srgbClr val="13202E"/>
                </a:solidFill>
                <a:latin typeface="Cambria" pitchFamily="34" charset="0"/>
                <a:ea typeface="Cambria" pitchFamily="34" charset="-122"/>
                <a:cs typeface="Cambria" pitchFamily="34" charset="-120"/>
              </a:rPr>
              <a:t>Normalization</a:t>
            </a:r>
            <a:endParaRPr lang="en-US" sz="1600" dirty="0"/>
          </a:p>
        </p:txBody>
      </p:sp>
      <p:sp>
        <p:nvSpPr>
          <p:cNvPr id="6" name="Text 4"/>
          <p:cNvSpPr/>
          <p:nvPr/>
        </p:nvSpPr>
        <p:spPr>
          <a:xfrm>
            <a:off x="822960" y="2029968"/>
            <a:ext cx="4846320" cy="384048"/>
          </a:xfrm>
          <a:prstGeom prst="rect">
            <a:avLst/>
          </a:prstGeom>
          <a:noFill/>
          <a:ln/>
        </p:spPr>
        <p:txBody>
          <a:bodyPr wrap="square" lIns="0" tIns="0" rIns="0" bIns="0" rtlCol="0" anchor="ctr"/>
          <a:lstStyle/>
          <a:p>
            <a:pPr indent="0" marL="0">
              <a:buNone/>
            </a:pPr>
            <a:r>
              <a:rPr lang="en-US" sz="1500" b="1" dirty="0">
                <a:solidFill>
                  <a:srgbClr val="065A82"/>
                </a:solidFill>
                <a:latin typeface="Courier New" pitchFamily="34" charset="0"/>
                <a:ea typeface="Courier New" pitchFamily="34" charset="-122"/>
                <a:cs typeface="Courier New" pitchFamily="34" charset="-120"/>
              </a:rPr>
              <a:t>x_norm  =  y_raw  −  0.4335</a:t>
            </a:r>
            <a:endParaRPr lang="en-US" sz="1500" dirty="0"/>
          </a:p>
        </p:txBody>
      </p:sp>
      <p:sp>
        <p:nvSpPr>
          <p:cNvPr id="7" name="Text 5"/>
          <p:cNvSpPr/>
          <p:nvPr/>
        </p:nvSpPr>
        <p:spPr>
          <a:xfrm>
            <a:off x="822960" y="2468880"/>
            <a:ext cx="4882896" cy="109728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100" dirty="0">
                <a:solidFill>
                  <a:srgbClr val="13202E"/>
                </a:solidFill>
                <a:latin typeface="Calibri" pitchFamily="34" charset="0"/>
                <a:ea typeface="Calibri" pitchFamily="34" charset="-122"/>
                <a:cs typeface="Calibri" pitchFamily="34" charset="-120"/>
              </a:rPr>
              <a:t>A single fixed dataset-level constant, recorded in configs/final.yaml</a:t>
            </a:r>
            <a:endParaRPr lang="en-US" sz="1100" dirty="0"/>
          </a:p>
          <a:p>
            <a:pPr marL="342900" indent="-342900">
              <a:lnSpc>
                <a:spcPts val="1700"/>
              </a:lnSpc>
              <a:spcAft>
                <a:spcPts val="700"/>
              </a:spcAft>
              <a:buSzPct val="100000"/>
              <a:buChar char="•"/>
            </a:pPr>
            <a:r>
              <a:rPr lang="en-US" sz="1100" dirty="0">
                <a:solidFill>
                  <a:srgbClr val="13202E"/>
                </a:solidFill>
                <a:latin typeface="Calibri" pitchFamily="34" charset="0"/>
                <a:ea typeface="Calibri" pitchFamily="34" charset="-122"/>
                <a:cs typeface="Calibri" pitchFamily="34" charset="-120"/>
              </a:rPr>
              <a:t>No per-image statistics — those would leak test-time information</a:t>
            </a:r>
            <a:endParaRPr lang="en-US" sz="1100" dirty="0"/>
          </a:p>
          <a:p>
            <a:pPr marL="342900" indent="-342900">
              <a:lnSpc>
                <a:spcPts val="1700"/>
              </a:lnSpc>
              <a:spcAft>
                <a:spcPts val="700"/>
              </a:spcAft>
              <a:buSzPct val="100000"/>
              <a:buChar char="•"/>
            </a:pPr>
            <a:r>
              <a:rPr lang="en-US" sz="1100" dirty="0">
                <a:solidFill>
                  <a:srgbClr val="13202E"/>
                </a:solidFill>
                <a:latin typeface="Calibri" pitchFamily="34" charset="0"/>
                <a:ea typeface="Calibri" pitchFamily="34" charset="-122"/>
                <a:cs typeface="Calibri" pitchFamily="34" charset="-120"/>
              </a:rPr>
              <a:t>std deliberately left at 1.0: mean-shift only</a:t>
            </a:r>
            <a:endParaRPr lang="en-US" sz="1100" dirty="0"/>
          </a:p>
        </p:txBody>
      </p:sp>
      <p:sp>
        <p:nvSpPr>
          <p:cNvPr id="8" name="Shape 6"/>
          <p:cNvSpPr/>
          <p:nvPr/>
        </p:nvSpPr>
        <p:spPr>
          <a:xfrm>
            <a:off x="6236208" y="1517904"/>
            <a:ext cx="5376672" cy="2148840"/>
          </a:xfrm>
          <a:prstGeom prst="roundRect">
            <a:avLst>
              <a:gd name="adj" fmla="val 2553"/>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9" name="Text 7"/>
          <p:cNvSpPr/>
          <p:nvPr/>
        </p:nvSpPr>
        <p:spPr>
          <a:xfrm>
            <a:off x="6492240" y="1682496"/>
            <a:ext cx="4846320" cy="310896"/>
          </a:xfrm>
          <a:prstGeom prst="rect">
            <a:avLst/>
          </a:prstGeom>
          <a:noFill/>
          <a:ln/>
        </p:spPr>
        <p:txBody>
          <a:bodyPr wrap="square" lIns="0" tIns="0" rIns="0" bIns="0" rtlCol="0" anchor="ctr"/>
          <a:lstStyle/>
          <a:p>
            <a:pPr indent="0" marL="0">
              <a:buNone/>
            </a:pPr>
            <a:r>
              <a:rPr lang="en-US" sz="1600" b="1" dirty="0">
                <a:solidFill>
                  <a:srgbClr val="13202E"/>
                </a:solidFill>
                <a:latin typeface="Cambria" pitchFamily="34" charset="0"/>
                <a:ea typeface="Cambria" pitchFamily="34" charset="-122"/>
                <a:cs typeface="Cambria" pitchFamily="34" charset="-120"/>
              </a:rPr>
              <a:t>Why the input is never clipped</a:t>
            </a:r>
            <a:endParaRPr lang="en-US" sz="1600" dirty="0"/>
          </a:p>
        </p:txBody>
      </p:sp>
      <p:sp>
        <p:nvSpPr>
          <p:cNvPr id="10" name="Text 8"/>
          <p:cNvSpPr/>
          <p:nvPr/>
        </p:nvSpPr>
        <p:spPr>
          <a:xfrm>
            <a:off x="6492240" y="2048256"/>
            <a:ext cx="4864608" cy="1463040"/>
          </a:xfrm>
          <a:prstGeom prst="rect">
            <a:avLst/>
          </a:prstGeom>
          <a:noFill/>
          <a:ln/>
        </p:spPr>
        <p:txBody>
          <a:bodyPr wrap="square" lIns="0" tIns="0" rIns="0" bIns="0" rtlCol="0" anchor="ctr"/>
          <a:lstStyle/>
          <a:p>
            <a:pPr indent="0" marL="0">
              <a:lnSpc>
                <a:spcPts val="1500"/>
              </a:lnSpc>
              <a:buNone/>
            </a:pPr>
            <a:r>
              <a:rPr lang="en-US" sz="1150" dirty="0">
                <a:solidFill>
                  <a:srgbClr val="5B7186"/>
                </a:solidFill>
                <a:latin typeface="Calibri" pitchFamily="34" charset="0"/>
                <a:ea typeface="Calibri" pitchFamily="34" charset="-122"/>
                <a:cs typeface="Calibri" pitchFamily="34" charset="-120"/>
              </a:rPr>
              <a:t>3,120 of 3,200 training images contain a pixel above 1.0, and 1,967 contain a pixel below 0.0. Those out-of-range values are signal, not error — they carry the noise realization. Clipping the input would destroy evidence the network needs to estimate and remove the noise.</a:t>
            </a:r>
            <a:endParaRPr lang="en-US" sz="1150" dirty="0"/>
          </a:p>
        </p:txBody>
      </p:sp>
      <p:sp>
        <p:nvSpPr>
          <p:cNvPr id="11" name="Text 9"/>
          <p:cNvSpPr/>
          <p:nvPr/>
        </p:nvSpPr>
        <p:spPr>
          <a:xfrm>
            <a:off x="566928" y="3840480"/>
            <a:ext cx="5486400" cy="329184"/>
          </a:xfrm>
          <a:prstGeom prst="rect">
            <a:avLst/>
          </a:prstGeom>
          <a:noFill/>
          <a:ln/>
        </p:spPr>
        <p:txBody>
          <a:bodyPr wrap="square" lIns="0" tIns="0" rIns="0" bIns="0" rtlCol="0" anchor="ctr"/>
          <a:lstStyle/>
          <a:p>
            <a:pPr indent="0" marL="0">
              <a:buNone/>
            </a:pPr>
            <a:r>
              <a:rPr lang="en-US" sz="1600" b="1" dirty="0">
                <a:solidFill>
                  <a:srgbClr val="13202E"/>
                </a:solidFill>
                <a:latin typeface="Cambria" pitchFamily="34" charset="0"/>
                <a:ea typeface="Cambria" pitchFamily="34" charset="-122"/>
                <a:cs typeface="Cambria" pitchFamily="34" charset="-120"/>
              </a:rPr>
              <a:t>Augmentation and cropping</a:t>
            </a:r>
            <a:endParaRPr lang="en-US" sz="1600" dirty="0"/>
          </a:p>
        </p:txBody>
      </p:sp>
      <p:sp>
        <p:nvSpPr>
          <p:cNvPr id="12" name="Shape 10"/>
          <p:cNvSpPr/>
          <p:nvPr/>
        </p:nvSpPr>
        <p:spPr>
          <a:xfrm>
            <a:off x="566928" y="4224528"/>
            <a:ext cx="3529584" cy="1371600"/>
          </a:xfrm>
          <a:prstGeom prst="roundRect">
            <a:avLst>
              <a:gd name="adj" fmla="val 4000"/>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13" name="Shape 11"/>
          <p:cNvSpPr/>
          <p:nvPr/>
        </p:nvSpPr>
        <p:spPr>
          <a:xfrm>
            <a:off x="804672" y="4425696"/>
            <a:ext cx="329184" cy="329184"/>
          </a:xfrm>
          <a:prstGeom prst="ellipse">
            <a:avLst/>
          </a:prstGeom>
          <a:solidFill>
            <a:srgbClr val="F2A65A"/>
          </a:solidFill>
          <a:ln w="12700">
            <a:solidFill>
              <a:srgbClr val="F2A65A"/>
            </a:solidFill>
            <a:prstDash val="solid"/>
          </a:ln>
        </p:spPr>
      </p:sp>
      <p:sp>
        <p:nvSpPr>
          <p:cNvPr id="14" name="Text 12"/>
          <p:cNvSpPr/>
          <p:nvPr/>
        </p:nvSpPr>
        <p:spPr>
          <a:xfrm>
            <a:off x="1225296" y="4425696"/>
            <a:ext cx="2706624" cy="329184"/>
          </a:xfrm>
          <a:prstGeom prst="rect">
            <a:avLst/>
          </a:prstGeom>
          <a:noFill/>
          <a:ln/>
        </p:spPr>
        <p:txBody>
          <a:bodyPr wrap="square" lIns="0" tIns="0" rIns="0" bIns="0" rtlCol="0" anchor="ctr"/>
          <a:lstStyle/>
          <a:p>
            <a:pPr indent="0" marL="0">
              <a:buNone/>
            </a:pPr>
            <a:r>
              <a:rPr lang="en-US" sz="1250" b="1" dirty="0">
                <a:solidFill>
                  <a:srgbClr val="13202E"/>
                </a:solidFill>
                <a:latin typeface="Cambria" pitchFamily="34" charset="0"/>
                <a:ea typeface="Cambria" pitchFamily="34" charset="-122"/>
                <a:cs typeface="Cambria" pitchFamily="34" charset="-120"/>
              </a:rPr>
              <a:t>Random crop on the LR grid</a:t>
            </a:r>
            <a:endParaRPr lang="en-US" sz="1250" dirty="0"/>
          </a:p>
        </p:txBody>
      </p:sp>
      <p:sp>
        <p:nvSpPr>
          <p:cNvPr id="15" name="Text 13"/>
          <p:cNvSpPr/>
          <p:nvPr/>
        </p:nvSpPr>
        <p:spPr>
          <a:xfrm>
            <a:off x="804672" y="4846320"/>
            <a:ext cx="3054096" cy="640080"/>
          </a:xfrm>
          <a:prstGeom prst="rect">
            <a:avLst/>
          </a:prstGeom>
          <a:noFill/>
          <a:ln/>
        </p:spPr>
        <p:txBody>
          <a:bodyPr wrap="square" lIns="0" tIns="0" rIns="0" bIns="0" rtlCol="0" anchor="ctr"/>
          <a:lstStyle/>
          <a:p>
            <a:pPr indent="0" marL="0">
              <a:lnSpc>
                <a:spcPts val="1350"/>
              </a:lnSpc>
              <a:buNone/>
            </a:pPr>
            <a:r>
              <a:rPr lang="en-US" sz="1050" dirty="0">
                <a:solidFill>
                  <a:srgbClr val="5B7186"/>
                </a:solidFill>
                <a:latin typeface="Calibri" pitchFamily="34" charset="0"/>
                <a:ea typeface="Calibri" pitchFamily="34" charset="-122"/>
                <a:cs typeface="Calibri" pitchFamily="34" charset="-120"/>
              </a:rPr>
              <a:t>LR 64×64 with the exactly matched GT 128×128 crop</a:t>
            </a:r>
            <a:endParaRPr lang="en-US" sz="1050" dirty="0"/>
          </a:p>
        </p:txBody>
      </p:sp>
      <p:sp>
        <p:nvSpPr>
          <p:cNvPr id="16" name="Shape 14"/>
          <p:cNvSpPr/>
          <p:nvPr/>
        </p:nvSpPr>
        <p:spPr>
          <a:xfrm>
            <a:off x="4334256" y="4224528"/>
            <a:ext cx="3529584" cy="1371600"/>
          </a:xfrm>
          <a:prstGeom prst="roundRect">
            <a:avLst>
              <a:gd name="adj" fmla="val 4000"/>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17" name="Shape 15"/>
          <p:cNvSpPr/>
          <p:nvPr/>
        </p:nvSpPr>
        <p:spPr>
          <a:xfrm>
            <a:off x="4572000" y="4425696"/>
            <a:ext cx="329184" cy="329184"/>
          </a:xfrm>
          <a:prstGeom prst="ellipse">
            <a:avLst/>
          </a:prstGeom>
          <a:solidFill>
            <a:srgbClr val="F2A65A"/>
          </a:solidFill>
          <a:ln w="12700">
            <a:solidFill>
              <a:srgbClr val="F2A65A"/>
            </a:solidFill>
            <a:prstDash val="solid"/>
          </a:ln>
        </p:spPr>
      </p:sp>
      <p:sp>
        <p:nvSpPr>
          <p:cNvPr id="18" name="Text 16"/>
          <p:cNvSpPr/>
          <p:nvPr/>
        </p:nvSpPr>
        <p:spPr>
          <a:xfrm>
            <a:off x="4992624" y="4425696"/>
            <a:ext cx="2706624" cy="329184"/>
          </a:xfrm>
          <a:prstGeom prst="rect">
            <a:avLst/>
          </a:prstGeom>
          <a:noFill/>
          <a:ln/>
        </p:spPr>
        <p:txBody>
          <a:bodyPr wrap="square" lIns="0" tIns="0" rIns="0" bIns="0" rtlCol="0" anchor="ctr"/>
          <a:lstStyle/>
          <a:p>
            <a:pPr indent="0" marL="0">
              <a:buNone/>
            </a:pPr>
            <a:r>
              <a:rPr lang="en-US" sz="1250" b="1" dirty="0">
                <a:solidFill>
                  <a:srgbClr val="13202E"/>
                </a:solidFill>
                <a:latin typeface="Cambria" pitchFamily="34" charset="0"/>
                <a:ea typeface="Cambria" pitchFamily="34" charset="-122"/>
                <a:cs typeface="Cambria" pitchFamily="34" charset="-120"/>
              </a:rPr>
              <a:t>Flips + 90° rotations only</a:t>
            </a:r>
            <a:endParaRPr lang="en-US" sz="1250" dirty="0"/>
          </a:p>
        </p:txBody>
      </p:sp>
      <p:sp>
        <p:nvSpPr>
          <p:cNvPr id="19" name="Text 17"/>
          <p:cNvSpPr/>
          <p:nvPr/>
        </p:nvSpPr>
        <p:spPr>
          <a:xfrm>
            <a:off x="4572000" y="4846320"/>
            <a:ext cx="3054096" cy="640080"/>
          </a:xfrm>
          <a:prstGeom prst="rect">
            <a:avLst/>
          </a:prstGeom>
          <a:noFill/>
          <a:ln/>
        </p:spPr>
        <p:txBody>
          <a:bodyPr wrap="square" lIns="0" tIns="0" rIns="0" bIns="0" rtlCol="0" anchor="ctr"/>
          <a:lstStyle/>
          <a:p>
            <a:pPr indent="0" marL="0">
              <a:lnSpc>
                <a:spcPts val="1350"/>
              </a:lnSpc>
              <a:buNone/>
            </a:pPr>
            <a:r>
              <a:rPr lang="en-US" sz="1050" dirty="0">
                <a:solidFill>
                  <a:srgbClr val="5B7186"/>
                </a:solidFill>
                <a:latin typeface="Calibri" pitchFamily="34" charset="0"/>
                <a:ea typeface="Calibri" pitchFamily="34" charset="-122"/>
                <a:cs typeface="Calibri" pitchFamily="34" charset="-120"/>
              </a:rPr>
              <a:t>Nothing that touches intensity statistics</a:t>
            </a:r>
            <a:endParaRPr lang="en-US" sz="1050" dirty="0"/>
          </a:p>
        </p:txBody>
      </p:sp>
      <p:sp>
        <p:nvSpPr>
          <p:cNvPr id="20" name="Shape 18"/>
          <p:cNvSpPr/>
          <p:nvPr/>
        </p:nvSpPr>
        <p:spPr>
          <a:xfrm>
            <a:off x="8101584" y="4224528"/>
            <a:ext cx="3529584" cy="1371600"/>
          </a:xfrm>
          <a:prstGeom prst="roundRect">
            <a:avLst>
              <a:gd name="adj" fmla="val 4000"/>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21" name="Shape 19"/>
          <p:cNvSpPr/>
          <p:nvPr/>
        </p:nvSpPr>
        <p:spPr>
          <a:xfrm>
            <a:off x="8339328" y="4425696"/>
            <a:ext cx="329184" cy="329184"/>
          </a:xfrm>
          <a:prstGeom prst="ellipse">
            <a:avLst/>
          </a:prstGeom>
          <a:solidFill>
            <a:srgbClr val="F2A65A"/>
          </a:solidFill>
          <a:ln w="12700">
            <a:solidFill>
              <a:srgbClr val="F2A65A"/>
            </a:solidFill>
            <a:prstDash val="solid"/>
          </a:ln>
        </p:spPr>
      </p:sp>
      <p:sp>
        <p:nvSpPr>
          <p:cNvPr id="22" name="Text 20"/>
          <p:cNvSpPr/>
          <p:nvPr/>
        </p:nvSpPr>
        <p:spPr>
          <a:xfrm>
            <a:off x="8759952" y="4425696"/>
            <a:ext cx="2706624" cy="329184"/>
          </a:xfrm>
          <a:prstGeom prst="rect">
            <a:avLst/>
          </a:prstGeom>
          <a:noFill/>
          <a:ln/>
        </p:spPr>
        <p:txBody>
          <a:bodyPr wrap="square" lIns="0" tIns="0" rIns="0" bIns="0" rtlCol="0" anchor="ctr"/>
          <a:lstStyle/>
          <a:p>
            <a:pPr indent="0" marL="0">
              <a:buNone/>
            </a:pPr>
            <a:r>
              <a:rPr lang="en-US" sz="1250" b="1" dirty="0">
                <a:solidFill>
                  <a:srgbClr val="13202E"/>
                </a:solidFill>
                <a:latin typeface="Cambria" pitchFamily="34" charset="0"/>
                <a:ea typeface="Cambria" pitchFamily="34" charset="-122"/>
                <a:cs typeface="Cambria" pitchFamily="34" charset="-120"/>
              </a:rPr>
              <a:t>Validation: 200 images</a:t>
            </a:r>
            <a:endParaRPr lang="en-US" sz="1250" dirty="0"/>
          </a:p>
        </p:txBody>
      </p:sp>
      <p:sp>
        <p:nvSpPr>
          <p:cNvPr id="23" name="Text 21"/>
          <p:cNvSpPr/>
          <p:nvPr/>
        </p:nvSpPr>
        <p:spPr>
          <a:xfrm>
            <a:off x="8339328" y="4846320"/>
            <a:ext cx="3054096" cy="640080"/>
          </a:xfrm>
          <a:prstGeom prst="rect">
            <a:avLst/>
          </a:prstGeom>
          <a:noFill/>
          <a:ln/>
        </p:spPr>
        <p:txBody>
          <a:bodyPr wrap="square" lIns="0" tIns="0" rIns="0" bIns="0" rtlCol="0" anchor="ctr"/>
          <a:lstStyle/>
          <a:p>
            <a:pPr indent="0" marL="0">
              <a:lnSpc>
                <a:spcPts val="1350"/>
              </a:lnSpc>
              <a:buNone/>
            </a:pPr>
            <a:r>
              <a:rPr lang="en-US" sz="1050" dirty="0">
                <a:solidFill>
                  <a:srgbClr val="5B7186"/>
                </a:solidFill>
                <a:latin typeface="Calibri" pitchFamily="34" charset="0"/>
                <a:ea typeface="Calibri" pitchFamily="34" charset="-122"/>
                <a:cs typeface="Calibri" pitchFamily="34" charset="-120"/>
              </a:rPr>
              <a:t>Held out by image, seeded, file list committed to the repo</a:t>
            </a:r>
            <a:endParaRPr lang="en-US" sz="1050" dirty="0"/>
          </a:p>
        </p:txBody>
      </p:sp>
      <p:sp>
        <p:nvSpPr>
          <p:cNvPr id="24" name="Text 22"/>
          <p:cNvSpPr/>
          <p:nvPr/>
        </p:nvSpPr>
        <p:spPr>
          <a:xfrm>
            <a:off x="566928" y="5815584"/>
            <a:ext cx="11055096" cy="329184"/>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Test_NoisyLR is never trained on, never validated on, and never used for checkpoint selection.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66928" y="384048"/>
            <a:ext cx="11055096" cy="566928"/>
          </a:xfrm>
          <a:prstGeom prst="rect">
            <a:avLst/>
          </a:prstGeom>
          <a:noFill/>
          <a:ln/>
        </p:spPr>
        <p:txBody>
          <a:bodyPr wrap="square" lIns="0" tIns="0" rIns="0" bIns="0" rtlCol="0" anchor="ctr"/>
          <a:lstStyle/>
          <a:p>
            <a:pPr indent="0" marL="0">
              <a:buNone/>
            </a:pPr>
            <a:r>
              <a:rPr lang="en-US" sz="3200" b="1" dirty="0">
                <a:solidFill>
                  <a:srgbClr val="13202E"/>
                </a:solidFill>
                <a:latin typeface="Cambria" pitchFamily="34" charset="0"/>
                <a:ea typeface="Cambria" pitchFamily="34" charset="-122"/>
                <a:cs typeface="Cambria" pitchFamily="34" charset="-120"/>
              </a:rPr>
              <a:t>Architecture</a:t>
            </a:r>
            <a:endParaRPr lang="en-US" sz="3200" dirty="0"/>
          </a:p>
        </p:txBody>
      </p:sp>
      <p:sp>
        <p:nvSpPr>
          <p:cNvPr id="3" name="Text 1"/>
          <p:cNvSpPr/>
          <p:nvPr/>
        </p:nvSpPr>
        <p:spPr>
          <a:xfrm>
            <a:off x="566928" y="941832"/>
            <a:ext cx="11055096" cy="292608"/>
          </a:xfrm>
          <a:prstGeom prst="rect">
            <a:avLst/>
          </a:prstGeom>
          <a:noFill/>
          <a:ln/>
        </p:spPr>
        <p:txBody>
          <a:bodyPr wrap="square" lIns="0" tIns="0" rIns="0" bIns="0" rtlCol="0" anchor="ctr"/>
          <a:lstStyle/>
          <a:p>
            <a:pPr indent="0" marL="0">
              <a:buNone/>
            </a:pPr>
            <a:r>
              <a:rPr lang="en-US" sz="1350" i="1" dirty="0">
                <a:solidFill>
                  <a:srgbClr val="5B7186"/>
                </a:solidFill>
                <a:latin typeface="Calibri" pitchFamily="34" charset="0"/>
                <a:ea typeface="Calibri" pitchFamily="34" charset="-122"/>
                <a:cs typeface="Calibri" pitchFamily="34" charset="-120"/>
              </a:rPr>
              <a:t>NAFNet-style encoder–decoder, ×2 upsample deferred to the very end</a:t>
            </a:r>
            <a:endParaRPr lang="en-US" sz="1350" dirty="0"/>
          </a:p>
        </p:txBody>
      </p:sp>
      <p:sp>
        <p:nvSpPr>
          <p:cNvPr id="4" name="Shape 2"/>
          <p:cNvSpPr/>
          <p:nvPr/>
        </p:nvSpPr>
        <p:spPr>
          <a:xfrm>
            <a:off x="566928" y="1517904"/>
            <a:ext cx="2615184" cy="1298448"/>
          </a:xfrm>
          <a:prstGeom prst="roundRect">
            <a:avLst>
              <a:gd name="adj" fmla="val 4225"/>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5" name="Text 3"/>
          <p:cNvSpPr/>
          <p:nvPr/>
        </p:nvSpPr>
        <p:spPr>
          <a:xfrm>
            <a:off x="713232" y="1645920"/>
            <a:ext cx="2322576" cy="310896"/>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Encoder</a:t>
            </a:r>
            <a:endParaRPr lang="en-US" sz="1400" dirty="0"/>
          </a:p>
        </p:txBody>
      </p:sp>
      <p:sp>
        <p:nvSpPr>
          <p:cNvPr id="6" name="Text 4"/>
          <p:cNvSpPr/>
          <p:nvPr/>
        </p:nvSpPr>
        <p:spPr>
          <a:xfrm>
            <a:off x="713232" y="1975104"/>
            <a:ext cx="2322576" cy="274320"/>
          </a:xfrm>
          <a:prstGeom prst="rect">
            <a:avLst/>
          </a:prstGeom>
          <a:noFill/>
          <a:ln/>
        </p:spPr>
        <p:txBody>
          <a:bodyPr wrap="square" lIns="0" tIns="0" rIns="0" bIns="0" rtlCol="0" anchor="ctr"/>
          <a:lstStyle/>
          <a:p>
            <a:pPr indent="0" marL="0">
              <a:buNone/>
            </a:pPr>
            <a:r>
              <a:rPr lang="en-US" sz="1150" dirty="0">
                <a:solidFill>
                  <a:srgbClr val="13202E"/>
                </a:solidFill>
                <a:latin typeface="Calibri" pitchFamily="34" charset="0"/>
                <a:ea typeface="Calibri" pitchFamily="34" charset="-122"/>
                <a:cs typeface="Calibri" pitchFamily="34" charset="-120"/>
              </a:rPr>
              <a:t>width 32 → 64 → 128</a:t>
            </a:r>
            <a:endParaRPr lang="en-US" sz="1150" dirty="0"/>
          </a:p>
        </p:txBody>
      </p:sp>
      <p:sp>
        <p:nvSpPr>
          <p:cNvPr id="7" name="Text 5"/>
          <p:cNvSpPr/>
          <p:nvPr/>
        </p:nvSpPr>
        <p:spPr>
          <a:xfrm>
            <a:off x="713232" y="2267712"/>
            <a:ext cx="2322576" cy="274320"/>
          </a:xfrm>
          <a:prstGeom prst="rect">
            <a:avLst/>
          </a:prstGeom>
          <a:noFill/>
          <a:ln/>
        </p:spPr>
        <p:txBody>
          <a:bodyPr wrap="square" lIns="0" tIns="0" rIns="0" bIns="0" rtlCol="0" anchor="ctr"/>
          <a:lstStyle/>
          <a:p>
            <a:pPr indent="0" marL="0">
              <a:buNone/>
            </a:pPr>
            <a:r>
              <a:rPr lang="en-US" sz="1050" dirty="0">
                <a:solidFill>
                  <a:srgbClr val="5B7186"/>
                </a:solidFill>
                <a:latin typeface="Calibri" pitchFamily="34" charset="0"/>
                <a:ea typeface="Calibri" pitchFamily="34" charset="-122"/>
                <a:cs typeface="Calibri" pitchFamily="34" charset="-120"/>
              </a:rPr>
              <a:t>blocks [2, 2, 4]</a:t>
            </a:r>
            <a:endParaRPr lang="en-US" sz="1050" dirty="0"/>
          </a:p>
        </p:txBody>
      </p:sp>
      <p:sp>
        <p:nvSpPr>
          <p:cNvPr id="8" name="Shape 6"/>
          <p:cNvSpPr/>
          <p:nvPr/>
        </p:nvSpPr>
        <p:spPr>
          <a:xfrm>
            <a:off x="3401568" y="1517904"/>
            <a:ext cx="2615184" cy="1298448"/>
          </a:xfrm>
          <a:prstGeom prst="roundRect">
            <a:avLst>
              <a:gd name="adj" fmla="val 4225"/>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9" name="Text 7"/>
          <p:cNvSpPr/>
          <p:nvPr/>
        </p:nvSpPr>
        <p:spPr>
          <a:xfrm>
            <a:off x="3547872" y="1645920"/>
            <a:ext cx="2322576" cy="310896"/>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Bottleneck</a:t>
            </a:r>
            <a:endParaRPr lang="en-US" sz="1400" dirty="0"/>
          </a:p>
        </p:txBody>
      </p:sp>
      <p:sp>
        <p:nvSpPr>
          <p:cNvPr id="10" name="Text 8"/>
          <p:cNvSpPr/>
          <p:nvPr/>
        </p:nvSpPr>
        <p:spPr>
          <a:xfrm>
            <a:off x="3547872" y="1975104"/>
            <a:ext cx="2322576" cy="274320"/>
          </a:xfrm>
          <a:prstGeom prst="rect">
            <a:avLst/>
          </a:prstGeom>
          <a:noFill/>
          <a:ln/>
        </p:spPr>
        <p:txBody>
          <a:bodyPr wrap="square" lIns="0" tIns="0" rIns="0" bIns="0" rtlCol="0" anchor="ctr"/>
          <a:lstStyle/>
          <a:p>
            <a:pPr indent="0" marL="0">
              <a:buNone/>
            </a:pPr>
            <a:r>
              <a:rPr lang="en-US" sz="1150" dirty="0">
                <a:solidFill>
                  <a:srgbClr val="13202E"/>
                </a:solidFill>
                <a:latin typeface="Calibri" pitchFamily="34" charset="0"/>
                <a:ea typeface="Calibri" pitchFamily="34" charset="-122"/>
                <a:cs typeface="Calibri" pitchFamily="34" charset="-120"/>
              </a:rPr>
              <a:t>width 256</a:t>
            </a:r>
            <a:endParaRPr lang="en-US" sz="1150" dirty="0"/>
          </a:p>
        </p:txBody>
      </p:sp>
      <p:sp>
        <p:nvSpPr>
          <p:cNvPr id="11" name="Text 9"/>
          <p:cNvSpPr/>
          <p:nvPr/>
        </p:nvSpPr>
        <p:spPr>
          <a:xfrm>
            <a:off x="3547872" y="2267712"/>
            <a:ext cx="2322576" cy="274320"/>
          </a:xfrm>
          <a:prstGeom prst="rect">
            <a:avLst/>
          </a:prstGeom>
          <a:noFill/>
          <a:ln/>
        </p:spPr>
        <p:txBody>
          <a:bodyPr wrap="square" lIns="0" tIns="0" rIns="0" bIns="0" rtlCol="0" anchor="ctr"/>
          <a:lstStyle/>
          <a:p>
            <a:pPr indent="0" marL="0">
              <a:buNone/>
            </a:pPr>
            <a:r>
              <a:rPr lang="en-US" sz="1050" dirty="0">
                <a:solidFill>
                  <a:srgbClr val="5B7186"/>
                </a:solidFill>
                <a:latin typeface="Calibri" pitchFamily="34" charset="0"/>
                <a:ea typeface="Calibri" pitchFamily="34" charset="-122"/>
                <a:cs typeface="Calibri" pitchFamily="34" charset="-120"/>
              </a:rPr>
              <a:t>6 NAFBlocks</a:t>
            </a:r>
            <a:endParaRPr lang="en-US" sz="1050" dirty="0"/>
          </a:p>
        </p:txBody>
      </p:sp>
      <p:sp>
        <p:nvSpPr>
          <p:cNvPr id="12" name="Shape 10"/>
          <p:cNvSpPr/>
          <p:nvPr/>
        </p:nvSpPr>
        <p:spPr>
          <a:xfrm>
            <a:off x="6236208" y="1517904"/>
            <a:ext cx="2615184" cy="1298448"/>
          </a:xfrm>
          <a:prstGeom prst="roundRect">
            <a:avLst>
              <a:gd name="adj" fmla="val 4225"/>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13" name="Text 11"/>
          <p:cNvSpPr/>
          <p:nvPr/>
        </p:nvSpPr>
        <p:spPr>
          <a:xfrm>
            <a:off x="6382512" y="1645920"/>
            <a:ext cx="2322576" cy="310896"/>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Decoder</a:t>
            </a:r>
            <a:endParaRPr lang="en-US" sz="1400" dirty="0"/>
          </a:p>
        </p:txBody>
      </p:sp>
      <p:sp>
        <p:nvSpPr>
          <p:cNvPr id="14" name="Text 12"/>
          <p:cNvSpPr/>
          <p:nvPr/>
        </p:nvSpPr>
        <p:spPr>
          <a:xfrm>
            <a:off x="6382512" y="1975104"/>
            <a:ext cx="2322576" cy="274320"/>
          </a:xfrm>
          <a:prstGeom prst="rect">
            <a:avLst/>
          </a:prstGeom>
          <a:noFill/>
          <a:ln/>
        </p:spPr>
        <p:txBody>
          <a:bodyPr wrap="square" lIns="0" tIns="0" rIns="0" bIns="0" rtlCol="0" anchor="ctr"/>
          <a:lstStyle/>
          <a:p>
            <a:pPr indent="0" marL="0">
              <a:buNone/>
            </a:pPr>
            <a:r>
              <a:rPr lang="en-US" sz="1150" dirty="0">
                <a:solidFill>
                  <a:srgbClr val="13202E"/>
                </a:solidFill>
                <a:latin typeface="Calibri" pitchFamily="34" charset="0"/>
                <a:ea typeface="Calibri" pitchFamily="34" charset="-122"/>
                <a:cs typeface="Calibri" pitchFamily="34" charset="-120"/>
              </a:rPr>
              <a:t>128 → 64 → 32</a:t>
            </a:r>
            <a:endParaRPr lang="en-US" sz="1150" dirty="0"/>
          </a:p>
        </p:txBody>
      </p:sp>
      <p:sp>
        <p:nvSpPr>
          <p:cNvPr id="15" name="Text 13"/>
          <p:cNvSpPr/>
          <p:nvPr/>
        </p:nvSpPr>
        <p:spPr>
          <a:xfrm>
            <a:off x="6382512" y="2267712"/>
            <a:ext cx="2322576" cy="274320"/>
          </a:xfrm>
          <a:prstGeom prst="rect">
            <a:avLst/>
          </a:prstGeom>
          <a:noFill/>
          <a:ln/>
        </p:spPr>
        <p:txBody>
          <a:bodyPr wrap="square" lIns="0" tIns="0" rIns="0" bIns="0" rtlCol="0" anchor="ctr"/>
          <a:lstStyle/>
          <a:p>
            <a:pPr indent="0" marL="0">
              <a:buNone/>
            </a:pPr>
            <a:r>
              <a:rPr lang="en-US" sz="1050" dirty="0">
                <a:solidFill>
                  <a:srgbClr val="5B7186"/>
                </a:solidFill>
                <a:latin typeface="Calibri" pitchFamily="34" charset="0"/>
                <a:ea typeface="Calibri" pitchFamily="34" charset="-122"/>
                <a:cs typeface="Calibri" pitchFamily="34" charset="-120"/>
              </a:rPr>
              <a:t>blocks [2, 2, 2]</a:t>
            </a:r>
            <a:endParaRPr lang="en-US" sz="1050" dirty="0"/>
          </a:p>
        </p:txBody>
      </p:sp>
      <p:sp>
        <p:nvSpPr>
          <p:cNvPr id="16" name="Shape 14"/>
          <p:cNvSpPr/>
          <p:nvPr/>
        </p:nvSpPr>
        <p:spPr>
          <a:xfrm>
            <a:off x="9070848" y="1517904"/>
            <a:ext cx="2615184" cy="1298448"/>
          </a:xfrm>
          <a:prstGeom prst="roundRect">
            <a:avLst>
              <a:gd name="adj" fmla="val 4225"/>
            </a:avLst>
          </a:prstGeom>
          <a:solidFill>
            <a:srgbClr val="065A82"/>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17" name="Text 15"/>
          <p:cNvSpPr/>
          <p:nvPr/>
        </p:nvSpPr>
        <p:spPr>
          <a:xfrm>
            <a:off x="9217152" y="1645920"/>
            <a:ext cx="2322576" cy="310896"/>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Head</a:t>
            </a:r>
            <a:endParaRPr lang="en-US" sz="1400" dirty="0"/>
          </a:p>
        </p:txBody>
      </p:sp>
      <p:sp>
        <p:nvSpPr>
          <p:cNvPr id="18" name="Text 16"/>
          <p:cNvSpPr/>
          <p:nvPr/>
        </p:nvSpPr>
        <p:spPr>
          <a:xfrm>
            <a:off x="9217152" y="1975104"/>
            <a:ext cx="2322576" cy="274320"/>
          </a:xfrm>
          <a:prstGeom prst="rect">
            <a:avLst/>
          </a:prstGeom>
          <a:noFill/>
          <a:ln/>
        </p:spPr>
        <p:txBody>
          <a:bodyPr wrap="square" lIns="0" tIns="0" rIns="0" bIns="0" rtlCol="0" anchor="ctr"/>
          <a:lstStyle/>
          <a:p>
            <a:pPr indent="0" marL="0">
              <a:buNone/>
            </a:pPr>
            <a:r>
              <a:rPr lang="en-US" sz="1150" dirty="0">
                <a:solidFill>
                  <a:srgbClr val="DCEAF2"/>
                </a:solidFill>
                <a:latin typeface="Calibri" pitchFamily="34" charset="0"/>
                <a:ea typeface="Calibri" pitchFamily="34" charset="-122"/>
                <a:cs typeface="Calibri" pitchFamily="34" charset="-120"/>
              </a:rPr>
              <a:t>PixelShuffle ×2</a:t>
            </a:r>
            <a:endParaRPr lang="en-US" sz="1150" dirty="0"/>
          </a:p>
        </p:txBody>
      </p:sp>
      <p:sp>
        <p:nvSpPr>
          <p:cNvPr id="19" name="Text 17"/>
          <p:cNvSpPr/>
          <p:nvPr/>
        </p:nvSpPr>
        <p:spPr>
          <a:xfrm>
            <a:off x="9217152" y="2267712"/>
            <a:ext cx="2322576" cy="274320"/>
          </a:xfrm>
          <a:prstGeom prst="rect">
            <a:avLst/>
          </a:prstGeom>
          <a:noFill/>
          <a:ln/>
        </p:spPr>
        <p:txBody>
          <a:bodyPr wrap="square" lIns="0" tIns="0" rIns="0" bIns="0" rtlCol="0" anchor="ctr"/>
          <a:lstStyle/>
          <a:p>
            <a:pPr indent="0" marL="0">
              <a:buNone/>
            </a:pPr>
            <a:r>
              <a:rPr lang="en-US" sz="1050" dirty="0">
                <a:solidFill>
                  <a:srgbClr val="AFCBDC"/>
                </a:solidFill>
                <a:latin typeface="Calibri" pitchFamily="34" charset="0"/>
                <a:ea typeface="Calibri" pitchFamily="34" charset="-122"/>
                <a:cs typeface="Calibri" pitchFamily="34" charset="-120"/>
              </a:rPr>
              <a:t>1 channel out</a:t>
            </a:r>
            <a:endParaRPr lang="en-US" sz="1050" dirty="0"/>
          </a:p>
        </p:txBody>
      </p:sp>
      <p:sp>
        <p:nvSpPr>
          <p:cNvPr id="20" name="Text 18"/>
          <p:cNvSpPr/>
          <p:nvPr/>
        </p:nvSpPr>
        <p:spPr>
          <a:xfrm>
            <a:off x="566928" y="3017520"/>
            <a:ext cx="5486400" cy="329184"/>
          </a:xfrm>
          <a:prstGeom prst="rect">
            <a:avLst/>
          </a:prstGeom>
          <a:noFill/>
          <a:ln/>
        </p:spPr>
        <p:txBody>
          <a:bodyPr wrap="square" lIns="0" tIns="0" rIns="0" bIns="0" rtlCol="0" anchor="ctr"/>
          <a:lstStyle/>
          <a:p>
            <a:pPr indent="0" marL="0">
              <a:buNone/>
            </a:pPr>
            <a:r>
              <a:rPr lang="en-US" sz="1600" b="1" dirty="0">
                <a:solidFill>
                  <a:srgbClr val="13202E"/>
                </a:solidFill>
                <a:latin typeface="Cambria" pitchFamily="34" charset="0"/>
                <a:ea typeface="Cambria" pitchFamily="34" charset="-122"/>
                <a:cs typeface="Cambria" pitchFamily="34" charset="-120"/>
              </a:rPr>
              <a:t>Why this shape</a:t>
            </a:r>
            <a:endParaRPr lang="en-US" sz="1600" dirty="0"/>
          </a:p>
        </p:txBody>
      </p:sp>
      <p:sp>
        <p:nvSpPr>
          <p:cNvPr id="21" name="Text 19"/>
          <p:cNvSpPr/>
          <p:nvPr/>
        </p:nvSpPr>
        <p:spPr>
          <a:xfrm>
            <a:off x="566928" y="3401568"/>
            <a:ext cx="5486400" cy="192024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150" dirty="0">
                <a:solidFill>
                  <a:srgbClr val="13202E"/>
                </a:solidFill>
                <a:latin typeface="Calibri" pitchFamily="34" charset="0"/>
                <a:ea typeface="Calibri" pitchFamily="34" charset="-122"/>
                <a:cs typeface="Calibri" pitchFamily="34" charset="-120"/>
              </a:rPr>
              <a:t>Post-upsampling: the whole encoder–decoder runs at 128×128, not 256×256 — roughly 4× cheaper for the same depth, and throughput is scored</a:t>
            </a:r>
            <a:endParaRPr lang="en-US" sz="1150" dirty="0"/>
          </a:p>
          <a:p>
            <a:pPr marL="342900" indent="-342900">
              <a:lnSpc>
                <a:spcPts val="1700"/>
              </a:lnSpc>
              <a:spcAft>
                <a:spcPts val="700"/>
              </a:spcAft>
              <a:buSzPct val="100000"/>
              <a:buChar char="•"/>
            </a:pPr>
            <a:r>
              <a:rPr lang="en-US" sz="1150" dirty="0">
                <a:solidFill>
                  <a:srgbClr val="13202E"/>
                </a:solidFill>
                <a:latin typeface="Calibri" pitchFamily="34" charset="0"/>
                <a:ea typeface="Calibri" pitchFamily="34" charset="-122"/>
                <a:cs typeface="Calibri" pitchFamily="34" charset="-120"/>
              </a:rPr>
              <a:t>SimpleGate + simplified channel attention replace softmax attention, keeping quality-per-FLOP high without transformer cost</a:t>
            </a:r>
            <a:endParaRPr lang="en-US" sz="1150" dirty="0"/>
          </a:p>
          <a:p>
            <a:pPr marL="342900" indent="-342900">
              <a:lnSpc>
                <a:spcPts val="1700"/>
              </a:lnSpc>
              <a:spcAft>
                <a:spcPts val="700"/>
              </a:spcAft>
              <a:buSzPct val="100000"/>
              <a:buChar char="•"/>
            </a:pPr>
            <a:r>
              <a:rPr lang="en-US" sz="1150" dirty="0">
                <a:solidFill>
                  <a:srgbClr val="13202E"/>
                </a:solidFill>
                <a:latin typeface="Calibri" pitchFamily="34" charset="0"/>
                <a:ea typeface="Calibri" pitchFamily="34" charset="-122"/>
                <a:cs typeface="Calibri" pitchFamily="34" charset="-120"/>
              </a:rPr>
              <a:t>Three downsample levels give the receptive field needed to separate speckle from texture</a:t>
            </a:r>
            <a:endParaRPr lang="en-US" sz="1150" dirty="0"/>
          </a:p>
          <a:p>
            <a:pPr marL="342900" indent="-342900">
              <a:lnSpc>
                <a:spcPts val="1700"/>
              </a:lnSpc>
              <a:spcAft>
                <a:spcPts val="700"/>
              </a:spcAft>
              <a:buSzPct val="100000"/>
              <a:buChar char="•"/>
            </a:pPr>
            <a:r>
              <a:rPr lang="en-US" sz="1150" dirty="0">
                <a:solidFill>
                  <a:srgbClr val="13202E"/>
                </a:solidFill>
                <a:latin typeface="Calibri" pitchFamily="34" charset="0"/>
                <a:ea typeface="Calibri" pitchFamily="34" charset="-122"/>
                <a:cs typeface="Calibri" pitchFamily="34" charset="-120"/>
              </a:rPr>
              <a:t>Fully convolutional, so 128² and 256² inputs both work unchanged</a:t>
            </a:r>
            <a:endParaRPr lang="en-US" sz="1150" dirty="0"/>
          </a:p>
        </p:txBody>
      </p:sp>
      <p:sp>
        <p:nvSpPr>
          <p:cNvPr id="22" name="Shape 20"/>
          <p:cNvSpPr/>
          <p:nvPr/>
        </p:nvSpPr>
        <p:spPr>
          <a:xfrm>
            <a:off x="6355080" y="3401568"/>
            <a:ext cx="2542032" cy="1024128"/>
          </a:xfrm>
          <a:prstGeom prst="roundRect">
            <a:avLst>
              <a:gd name="adj" fmla="val 5357"/>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23" name="Text 21"/>
          <p:cNvSpPr/>
          <p:nvPr/>
        </p:nvSpPr>
        <p:spPr>
          <a:xfrm>
            <a:off x="6355080" y="3529584"/>
            <a:ext cx="2542032" cy="603504"/>
          </a:xfrm>
          <a:prstGeom prst="rect">
            <a:avLst/>
          </a:prstGeom>
          <a:noFill/>
          <a:ln/>
        </p:spPr>
        <p:txBody>
          <a:bodyPr wrap="square" lIns="0" tIns="0" rIns="0" bIns="0"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4.02 M</a:t>
            </a:r>
            <a:endParaRPr lang="en-US" sz="3400" dirty="0"/>
          </a:p>
        </p:txBody>
      </p:sp>
      <p:sp>
        <p:nvSpPr>
          <p:cNvPr id="24" name="Text 22"/>
          <p:cNvSpPr/>
          <p:nvPr/>
        </p:nvSpPr>
        <p:spPr>
          <a:xfrm>
            <a:off x="6355080" y="4096512"/>
            <a:ext cx="2542032" cy="365760"/>
          </a:xfrm>
          <a:prstGeom prst="rect">
            <a:avLst/>
          </a:prstGeom>
          <a:noFill/>
          <a:ln/>
        </p:spPr>
        <p:txBody>
          <a:bodyPr wrap="square" lIns="0" tIns="0" rIns="0" bIns="0" rtlCol="0" anchor="ctr"/>
          <a:lstStyle/>
          <a:p>
            <a:pPr algn="ctr" indent="0" marL="0">
              <a:buNone/>
            </a:pPr>
            <a:r>
              <a:rPr lang="en-US" sz="1100" dirty="0">
                <a:solidFill>
                  <a:srgbClr val="5B7186"/>
                </a:solidFill>
                <a:latin typeface="Calibri" pitchFamily="34" charset="0"/>
                <a:ea typeface="Calibri" pitchFamily="34" charset="-122"/>
                <a:cs typeface="Calibri" pitchFamily="34" charset="-120"/>
              </a:rPr>
              <a:t>parameters</a:t>
            </a:r>
            <a:endParaRPr lang="en-US" sz="1100" dirty="0"/>
          </a:p>
        </p:txBody>
      </p:sp>
      <p:sp>
        <p:nvSpPr>
          <p:cNvPr id="25" name="Shape 23"/>
          <p:cNvSpPr/>
          <p:nvPr/>
        </p:nvSpPr>
        <p:spPr>
          <a:xfrm>
            <a:off x="9098280" y="3401568"/>
            <a:ext cx="2542032" cy="1024128"/>
          </a:xfrm>
          <a:prstGeom prst="roundRect">
            <a:avLst>
              <a:gd name="adj" fmla="val 5357"/>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26" name="Text 24"/>
          <p:cNvSpPr/>
          <p:nvPr/>
        </p:nvSpPr>
        <p:spPr>
          <a:xfrm>
            <a:off x="9098280" y="3529584"/>
            <a:ext cx="2542032" cy="603504"/>
          </a:xfrm>
          <a:prstGeom prst="rect">
            <a:avLst/>
          </a:prstGeom>
          <a:noFill/>
          <a:ln/>
        </p:spPr>
        <p:txBody>
          <a:bodyPr wrap="square" lIns="0" tIns="0" rIns="0" bIns="0"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8</a:t>
            </a:r>
            <a:endParaRPr lang="en-US" sz="3400" dirty="0"/>
          </a:p>
        </p:txBody>
      </p:sp>
      <p:sp>
        <p:nvSpPr>
          <p:cNvPr id="27" name="Text 25"/>
          <p:cNvSpPr/>
          <p:nvPr/>
        </p:nvSpPr>
        <p:spPr>
          <a:xfrm>
            <a:off x="9098280" y="4096512"/>
            <a:ext cx="2542032" cy="365760"/>
          </a:xfrm>
          <a:prstGeom prst="rect">
            <a:avLst/>
          </a:prstGeom>
          <a:noFill/>
          <a:ln/>
        </p:spPr>
        <p:txBody>
          <a:bodyPr wrap="square" lIns="0" tIns="0" rIns="0" bIns="0" rtlCol="0" anchor="ctr"/>
          <a:lstStyle/>
          <a:p>
            <a:pPr algn="ctr" indent="0" marL="0">
              <a:buNone/>
            </a:pPr>
            <a:r>
              <a:rPr lang="en-US" sz="1100" dirty="0">
                <a:solidFill>
                  <a:srgbClr val="5B7186"/>
                </a:solidFill>
                <a:latin typeface="Calibri" pitchFamily="34" charset="0"/>
                <a:ea typeface="Calibri" pitchFamily="34" charset="-122"/>
                <a:cs typeface="Calibri" pitchFamily="34" charset="-120"/>
              </a:rPr>
              <a:t>network stride</a:t>
            </a:r>
            <a:endParaRPr lang="en-US" sz="1100" dirty="0"/>
          </a:p>
        </p:txBody>
      </p:sp>
      <p:sp>
        <p:nvSpPr>
          <p:cNvPr id="28" name="Shape 26"/>
          <p:cNvSpPr/>
          <p:nvPr/>
        </p:nvSpPr>
        <p:spPr>
          <a:xfrm>
            <a:off x="6355080" y="4572000"/>
            <a:ext cx="2542032" cy="1024128"/>
          </a:xfrm>
          <a:prstGeom prst="roundRect">
            <a:avLst>
              <a:gd name="adj" fmla="val 5357"/>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29" name="Text 27"/>
          <p:cNvSpPr/>
          <p:nvPr/>
        </p:nvSpPr>
        <p:spPr>
          <a:xfrm>
            <a:off x="6355080" y="4700016"/>
            <a:ext cx="2542032" cy="603504"/>
          </a:xfrm>
          <a:prstGeom prst="rect">
            <a:avLst/>
          </a:prstGeom>
          <a:noFill/>
          <a:ln/>
        </p:spPr>
        <p:txBody>
          <a:bodyPr wrap="square" lIns="0" tIns="0" rIns="0" bIns="0"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38.9 ms</a:t>
            </a:r>
            <a:endParaRPr lang="en-US" sz="3400" dirty="0"/>
          </a:p>
        </p:txBody>
      </p:sp>
      <p:sp>
        <p:nvSpPr>
          <p:cNvPr id="30" name="Text 28"/>
          <p:cNvSpPr/>
          <p:nvPr/>
        </p:nvSpPr>
        <p:spPr>
          <a:xfrm>
            <a:off x="6355080" y="5266944"/>
            <a:ext cx="2542032" cy="365760"/>
          </a:xfrm>
          <a:prstGeom prst="rect">
            <a:avLst/>
          </a:prstGeom>
          <a:noFill/>
          <a:ln/>
        </p:spPr>
        <p:txBody>
          <a:bodyPr wrap="square" lIns="0" tIns="0" rIns="0" bIns="0" rtlCol="0" anchor="ctr"/>
          <a:lstStyle/>
          <a:p>
            <a:pPr algn="ctr" indent="0" marL="0">
              <a:buNone/>
            </a:pPr>
            <a:r>
              <a:rPr lang="en-US" sz="1100" dirty="0">
                <a:solidFill>
                  <a:srgbClr val="5B7186"/>
                </a:solidFill>
                <a:latin typeface="Calibri" pitchFamily="34" charset="0"/>
                <a:ea typeface="Calibri" pitchFamily="34" charset="-122"/>
                <a:cs typeface="Calibri" pitchFamily="34" charset="-120"/>
              </a:rPr>
              <a:t>fwd @ 128², bs 1</a:t>
            </a:r>
            <a:endParaRPr lang="en-US" sz="1100" dirty="0"/>
          </a:p>
        </p:txBody>
      </p:sp>
      <p:sp>
        <p:nvSpPr>
          <p:cNvPr id="31" name="Shape 29"/>
          <p:cNvSpPr/>
          <p:nvPr/>
        </p:nvSpPr>
        <p:spPr>
          <a:xfrm>
            <a:off x="9098280" y="4572000"/>
            <a:ext cx="2542032" cy="1024128"/>
          </a:xfrm>
          <a:prstGeom prst="roundRect">
            <a:avLst>
              <a:gd name="adj" fmla="val 5357"/>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32" name="Text 30"/>
          <p:cNvSpPr/>
          <p:nvPr/>
        </p:nvSpPr>
        <p:spPr>
          <a:xfrm>
            <a:off x="9098280" y="4700016"/>
            <a:ext cx="2542032" cy="603504"/>
          </a:xfrm>
          <a:prstGeom prst="rect">
            <a:avLst/>
          </a:prstGeom>
          <a:noFill/>
          <a:ln/>
        </p:spPr>
        <p:txBody>
          <a:bodyPr wrap="square" lIns="0" tIns="0" rIns="0" bIns="0"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4.98 ms</a:t>
            </a:r>
            <a:endParaRPr lang="en-US" sz="3400" dirty="0"/>
          </a:p>
        </p:txBody>
      </p:sp>
      <p:sp>
        <p:nvSpPr>
          <p:cNvPr id="33" name="Text 31"/>
          <p:cNvSpPr/>
          <p:nvPr/>
        </p:nvSpPr>
        <p:spPr>
          <a:xfrm>
            <a:off x="9098280" y="5266944"/>
            <a:ext cx="2542032" cy="365760"/>
          </a:xfrm>
          <a:prstGeom prst="rect">
            <a:avLst/>
          </a:prstGeom>
          <a:noFill/>
          <a:ln/>
        </p:spPr>
        <p:txBody>
          <a:bodyPr wrap="square" lIns="0" tIns="0" rIns="0" bIns="0" rtlCol="0" anchor="ctr"/>
          <a:lstStyle/>
          <a:p>
            <a:pPr algn="ctr" indent="0" marL="0">
              <a:buNone/>
            </a:pPr>
            <a:r>
              <a:rPr lang="en-US" sz="1100" dirty="0">
                <a:solidFill>
                  <a:srgbClr val="5B7186"/>
                </a:solidFill>
                <a:latin typeface="Calibri" pitchFamily="34" charset="0"/>
                <a:ea typeface="Calibri" pitchFamily="34" charset="-122"/>
                <a:cs typeface="Calibri" pitchFamily="34" charset="-120"/>
              </a:rPr>
              <a:t>per image @ bs 16</a:t>
            </a:r>
            <a:endParaRPr lang="en-US" sz="1100" dirty="0"/>
          </a:p>
        </p:txBody>
      </p:sp>
      <p:sp>
        <p:nvSpPr>
          <p:cNvPr id="34" name="Text 32"/>
          <p:cNvSpPr/>
          <p:nvPr/>
        </p:nvSpPr>
        <p:spPr>
          <a:xfrm>
            <a:off x="6355080" y="5797296"/>
            <a:ext cx="5303520" cy="310896"/>
          </a:xfrm>
          <a:prstGeom prst="rect">
            <a:avLst/>
          </a:prstGeom>
          <a:noFill/>
          <a:ln/>
        </p:spPr>
        <p:txBody>
          <a:bodyPr wrap="square" lIns="0" tIns="0" rIns="0" bIns="0" rtlCol="0" anchor="ctr"/>
          <a:lstStyle/>
          <a:p>
            <a:pPr indent="0" marL="0">
              <a:buNone/>
            </a:pPr>
            <a:r>
              <a:rPr lang="en-US" sz="1000" i="1" dirty="0">
                <a:solidFill>
                  <a:srgbClr val="5B7186"/>
                </a:solidFill>
                <a:latin typeface="Calibri" pitchFamily="34" charset="0"/>
                <a:ea typeface="Calibri" pitchFamily="34" charset="-122"/>
                <a:cs typeface="Calibri" pitchFamily="34" charset="-120"/>
              </a:rPr>
              <a:t>Latency measured with CUDA events, median of 30 after warmup, on an RTX 4050 Laptop GPU.</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66928" y="384048"/>
            <a:ext cx="11055096" cy="566928"/>
          </a:xfrm>
          <a:prstGeom prst="rect">
            <a:avLst/>
          </a:prstGeom>
          <a:noFill/>
          <a:ln/>
        </p:spPr>
        <p:txBody>
          <a:bodyPr wrap="square" lIns="0" tIns="0" rIns="0" bIns="0" rtlCol="0" anchor="ctr"/>
          <a:lstStyle/>
          <a:p>
            <a:pPr indent="0" marL="0">
              <a:buNone/>
            </a:pPr>
            <a:r>
              <a:rPr lang="en-US" sz="3200" b="1" dirty="0">
                <a:solidFill>
                  <a:srgbClr val="13202E"/>
                </a:solidFill>
                <a:latin typeface="Cambria" pitchFamily="34" charset="0"/>
                <a:ea typeface="Cambria" pitchFamily="34" charset="-122"/>
                <a:cs typeface="Cambria" pitchFamily="34" charset="-120"/>
              </a:rPr>
              <a:t>Loss design</a:t>
            </a:r>
            <a:endParaRPr lang="en-US" sz="3200" dirty="0"/>
          </a:p>
        </p:txBody>
      </p:sp>
      <p:sp>
        <p:nvSpPr>
          <p:cNvPr id="3" name="Text 1"/>
          <p:cNvSpPr/>
          <p:nvPr/>
        </p:nvSpPr>
        <p:spPr>
          <a:xfrm>
            <a:off x="566928" y="941832"/>
            <a:ext cx="11055096" cy="292608"/>
          </a:xfrm>
          <a:prstGeom prst="rect">
            <a:avLst/>
          </a:prstGeom>
          <a:noFill/>
          <a:ln/>
        </p:spPr>
        <p:txBody>
          <a:bodyPr wrap="square" lIns="0" tIns="0" rIns="0" bIns="0" rtlCol="0" anchor="ctr"/>
          <a:lstStyle/>
          <a:p>
            <a:pPr indent="0" marL="0">
              <a:buNone/>
            </a:pPr>
            <a:r>
              <a:rPr lang="en-US" sz="1350" i="1" dirty="0">
                <a:solidFill>
                  <a:srgbClr val="5B7186"/>
                </a:solidFill>
                <a:latin typeface="Calibri" pitchFamily="34" charset="0"/>
                <a:ea typeface="Calibri" pitchFamily="34" charset="-122"/>
                <a:cs typeface="Calibri" pitchFamily="34" charset="-120"/>
              </a:rPr>
              <a:t>Optimizing for fidelity, not for plausibility</a:t>
            </a:r>
            <a:endParaRPr lang="en-US" sz="1350" dirty="0"/>
          </a:p>
        </p:txBody>
      </p:sp>
      <p:sp>
        <p:nvSpPr>
          <p:cNvPr id="4" name="Shape 2"/>
          <p:cNvSpPr/>
          <p:nvPr/>
        </p:nvSpPr>
        <p:spPr>
          <a:xfrm>
            <a:off x="566928" y="1554480"/>
            <a:ext cx="11055096" cy="1060704"/>
          </a:xfrm>
          <a:prstGeom prst="roundRect">
            <a:avLst>
              <a:gd name="adj" fmla="val 5172"/>
            </a:avLst>
          </a:prstGeom>
          <a:solidFill>
            <a:srgbClr val="EAF2F7"/>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5" name="Text 3"/>
          <p:cNvSpPr/>
          <p:nvPr/>
        </p:nvSpPr>
        <p:spPr>
          <a:xfrm>
            <a:off x="566928" y="1554480"/>
            <a:ext cx="11055096" cy="1060704"/>
          </a:xfrm>
          <a:prstGeom prst="rect">
            <a:avLst/>
          </a:prstGeom>
          <a:noFill/>
          <a:ln/>
        </p:spPr>
        <p:txBody>
          <a:bodyPr wrap="square" lIns="0" tIns="0" rIns="0" bIns="0" rtlCol="0" anchor="ctr"/>
          <a:lstStyle/>
          <a:p>
            <a:pPr algn="ctr" indent="0" marL="0">
              <a:buNone/>
            </a:pPr>
            <a:r>
              <a:rPr lang="en-US" sz="1900" b="1" dirty="0">
                <a:solidFill>
                  <a:srgbClr val="065A82"/>
                </a:solidFill>
                <a:latin typeface="Courier New" pitchFamily="34" charset="0"/>
                <a:ea typeface="Courier New" pitchFamily="34" charset="-122"/>
                <a:cs typeface="Courier New" pitchFamily="34" charset="-120"/>
              </a:rPr>
              <a:t>L  =  Charbonnier(ε = 1e-3)   +   0.15 · (1 − MS-SSIM)</a:t>
            </a:r>
            <a:endParaRPr lang="en-US" sz="1900" dirty="0"/>
          </a:p>
        </p:txBody>
      </p:sp>
      <p:sp>
        <p:nvSpPr>
          <p:cNvPr id="6" name="Shape 4"/>
          <p:cNvSpPr/>
          <p:nvPr/>
        </p:nvSpPr>
        <p:spPr>
          <a:xfrm>
            <a:off x="566928" y="2834640"/>
            <a:ext cx="3529584" cy="1700784"/>
          </a:xfrm>
          <a:prstGeom prst="roundRect">
            <a:avLst>
              <a:gd name="adj" fmla="val 3226"/>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7" name="Text 5"/>
          <p:cNvSpPr/>
          <p:nvPr/>
        </p:nvSpPr>
        <p:spPr>
          <a:xfrm>
            <a:off x="804672" y="3017520"/>
            <a:ext cx="3054096" cy="310896"/>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Charbonnier</a:t>
            </a:r>
            <a:endParaRPr lang="en-US" sz="1500" dirty="0"/>
          </a:p>
        </p:txBody>
      </p:sp>
      <p:sp>
        <p:nvSpPr>
          <p:cNvPr id="8" name="Text 6"/>
          <p:cNvSpPr/>
          <p:nvPr/>
        </p:nvSpPr>
        <p:spPr>
          <a:xfrm>
            <a:off x="804672" y="3364992"/>
            <a:ext cx="3054096" cy="1005840"/>
          </a:xfrm>
          <a:prstGeom prst="rect">
            <a:avLst/>
          </a:prstGeom>
          <a:noFill/>
          <a:ln/>
        </p:spPr>
        <p:txBody>
          <a:bodyPr wrap="square" lIns="0" tIns="0" rIns="0" bIns="0" rtlCol="0" anchor="ctr"/>
          <a:lstStyle/>
          <a:p>
            <a:pPr indent="0" marL="0">
              <a:lnSpc>
                <a:spcPts val="1450"/>
              </a:lnSpc>
              <a:buNone/>
            </a:pPr>
            <a:r>
              <a:rPr lang="en-US" sz="1100" dirty="0">
                <a:solidFill>
                  <a:srgbClr val="5B7186"/>
                </a:solidFill>
                <a:latin typeface="Calibri" pitchFamily="34" charset="0"/>
                <a:ea typeface="Calibri" pitchFamily="34" charset="-122"/>
                <a:cs typeface="Calibri" pitchFamily="34" charset="-120"/>
              </a:rPr>
              <a:t>A smooth L1. Robust to the heavy-tailed residuals that speckle produces, where plain L2 would let a few bright outliers dominate the gradient.</a:t>
            </a:r>
            <a:endParaRPr lang="en-US" sz="1100" dirty="0"/>
          </a:p>
        </p:txBody>
      </p:sp>
      <p:sp>
        <p:nvSpPr>
          <p:cNvPr id="9" name="Shape 7"/>
          <p:cNvSpPr/>
          <p:nvPr/>
        </p:nvSpPr>
        <p:spPr>
          <a:xfrm>
            <a:off x="4334256" y="2834640"/>
            <a:ext cx="3529584" cy="1700784"/>
          </a:xfrm>
          <a:prstGeom prst="roundRect">
            <a:avLst>
              <a:gd name="adj" fmla="val 3226"/>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10" name="Text 8"/>
          <p:cNvSpPr/>
          <p:nvPr/>
        </p:nvSpPr>
        <p:spPr>
          <a:xfrm>
            <a:off x="4572000" y="3017520"/>
            <a:ext cx="3054096" cy="310896"/>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MS-SSIM (0.15)</a:t>
            </a:r>
            <a:endParaRPr lang="en-US" sz="1500" dirty="0"/>
          </a:p>
        </p:txBody>
      </p:sp>
      <p:sp>
        <p:nvSpPr>
          <p:cNvPr id="11" name="Text 9"/>
          <p:cNvSpPr/>
          <p:nvPr/>
        </p:nvSpPr>
        <p:spPr>
          <a:xfrm>
            <a:off x="4572000" y="3364992"/>
            <a:ext cx="3054096" cy="1005840"/>
          </a:xfrm>
          <a:prstGeom prst="rect">
            <a:avLst/>
          </a:prstGeom>
          <a:noFill/>
          <a:ln/>
        </p:spPr>
        <p:txBody>
          <a:bodyPr wrap="square" lIns="0" tIns="0" rIns="0" bIns="0" rtlCol="0" anchor="ctr"/>
          <a:lstStyle/>
          <a:p>
            <a:pPr indent="0" marL="0">
              <a:lnSpc>
                <a:spcPts val="1450"/>
              </a:lnSpc>
              <a:buNone/>
            </a:pPr>
            <a:r>
              <a:rPr lang="en-US" sz="1100" dirty="0">
                <a:solidFill>
                  <a:srgbClr val="5B7186"/>
                </a:solidFill>
                <a:latin typeface="Calibri" pitchFamily="34" charset="0"/>
                <a:ea typeface="Calibri" pitchFamily="34" charset="-122"/>
                <a:cs typeface="Calibri" pitchFamily="34" charset="-120"/>
              </a:rPr>
              <a:t>Multi-scale structural term. Pulls LPIPS in the right direction without a VGG download or perceptual-weight tuning we cannot afford tonight.</a:t>
            </a:r>
            <a:endParaRPr lang="en-US" sz="1100" dirty="0"/>
          </a:p>
        </p:txBody>
      </p:sp>
      <p:sp>
        <p:nvSpPr>
          <p:cNvPr id="12" name="Shape 10"/>
          <p:cNvSpPr/>
          <p:nvPr/>
        </p:nvSpPr>
        <p:spPr>
          <a:xfrm>
            <a:off x="8101584" y="2834640"/>
            <a:ext cx="3520440" cy="1700784"/>
          </a:xfrm>
          <a:prstGeom prst="roundRect">
            <a:avLst>
              <a:gd name="adj" fmla="val 3226"/>
            </a:avLst>
          </a:prstGeom>
          <a:solidFill>
            <a:srgbClr val="FDECEA"/>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13" name="Text 11"/>
          <p:cNvSpPr/>
          <p:nvPr/>
        </p:nvSpPr>
        <p:spPr>
          <a:xfrm>
            <a:off x="8339328" y="3017520"/>
            <a:ext cx="3054096" cy="310896"/>
          </a:xfrm>
          <a:prstGeom prst="rect">
            <a:avLst/>
          </a:prstGeom>
          <a:noFill/>
          <a:ln/>
        </p:spPr>
        <p:txBody>
          <a:bodyPr wrap="square" lIns="0" tIns="0" rIns="0" bIns="0" rtlCol="0" anchor="ctr"/>
          <a:lstStyle/>
          <a:p>
            <a:pPr indent="0" marL="0">
              <a:buNone/>
            </a:pPr>
            <a:r>
              <a:rPr lang="en-US" sz="1500" b="1" dirty="0">
                <a:solidFill>
                  <a:srgbClr val="B5544A"/>
                </a:solidFill>
                <a:latin typeface="Cambria" pitchFamily="34" charset="0"/>
                <a:ea typeface="Cambria" pitchFamily="34" charset="-122"/>
                <a:cs typeface="Cambria" pitchFamily="34" charset="-120"/>
              </a:rPr>
              <a:t>No adversarial loss</a:t>
            </a:r>
            <a:endParaRPr lang="en-US" sz="1500" dirty="0"/>
          </a:p>
        </p:txBody>
      </p:sp>
      <p:sp>
        <p:nvSpPr>
          <p:cNvPr id="14" name="Text 12"/>
          <p:cNvSpPr/>
          <p:nvPr/>
        </p:nvSpPr>
        <p:spPr>
          <a:xfrm>
            <a:off x="8339328" y="3364992"/>
            <a:ext cx="3054096" cy="1097280"/>
          </a:xfrm>
          <a:prstGeom prst="rect">
            <a:avLst/>
          </a:prstGeom>
          <a:noFill/>
          <a:ln/>
        </p:spPr>
        <p:txBody>
          <a:bodyPr wrap="square" lIns="0" tIns="0" rIns="0" bIns="0" rtlCol="0" anchor="ctr"/>
          <a:lstStyle/>
          <a:p>
            <a:pPr indent="0" marL="0">
              <a:lnSpc>
                <a:spcPts val="1350"/>
              </a:lnSpc>
              <a:buNone/>
            </a:pPr>
            <a:r>
              <a:rPr lang="en-US" sz="1050" dirty="0">
                <a:solidFill>
                  <a:srgbClr val="8A4A42"/>
                </a:solidFill>
                <a:latin typeface="Calibri" pitchFamily="34" charset="0"/>
                <a:ea typeface="Calibri" pitchFamily="34" charset="-122"/>
                <a:cs typeface="Calibri" pitchFamily="34" charset="-120"/>
              </a:rPr>
              <a:t>A GAN would invent texture that looks right and is not there. The objective scores against real ground truth, so hallucinated structure is penalised — and with the metric weights undisclosed, trading dB for perceptual sharpness is an uncontrolled bet.</a:t>
            </a:r>
            <a:endParaRPr lang="en-US" sz="1050" dirty="0"/>
          </a:p>
        </p:txBody>
      </p:sp>
      <p:sp>
        <p:nvSpPr>
          <p:cNvPr id="15" name="Text 13"/>
          <p:cNvSpPr/>
          <p:nvPr/>
        </p:nvSpPr>
        <p:spPr>
          <a:xfrm>
            <a:off x="566928" y="4791456"/>
            <a:ext cx="7315200" cy="329184"/>
          </a:xfrm>
          <a:prstGeom prst="rect">
            <a:avLst/>
          </a:prstGeom>
          <a:noFill/>
          <a:ln/>
        </p:spPr>
        <p:txBody>
          <a:bodyPr wrap="square" lIns="0" tIns="0" rIns="0" bIns="0" rtlCol="0" anchor="ctr"/>
          <a:lstStyle/>
          <a:p>
            <a:pPr indent="0" marL="0">
              <a:buNone/>
            </a:pPr>
            <a:r>
              <a:rPr lang="en-US" sz="1500" b="1" dirty="0">
                <a:solidFill>
                  <a:srgbClr val="13202E"/>
                </a:solidFill>
                <a:latin typeface="Cambria" pitchFamily="34" charset="0"/>
                <a:ea typeface="Cambria" pitchFamily="34" charset="-122"/>
                <a:cs typeface="Cambria" pitchFamily="34" charset="-120"/>
              </a:rPr>
              <a:t>Rejected alternatives, and why</a:t>
            </a:r>
            <a:endParaRPr lang="en-US" sz="1500" dirty="0"/>
          </a:p>
        </p:txBody>
      </p:sp>
      <p:sp>
        <p:nvSpPr>
          <p:cNvPr id="16" name="Text 14"/>
          <p:cNvSpPr/>
          <p:nvPr/>
        </p:nvSpPr>
        <p:spPr>
          <a:xfrm>
            <a:off x="566928" y="5157216"/>
            <a:ext cx="10972800" cy="11887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100" dirty="0">
                <a:solidFill>
                  <a:srgbClr val="13202E"/>
                </a:solidFill>
                <a:latin typeface="Calibri" pitchFamily="34" charset="0"/>
                <a:ea typeface="Calibri" pitchFamily="34" charset="-122"/>
                <a:cs typeface="Calibri" pitchFamily="34" charset="-120"/>
              </a:rPr>
              <a:t>Real-ESRGAN / BSRGAN initialization — GAN-trained priors synthesize plausible detail rather than recovering real detail; several dB of PSNR traded for LPIPS</a:t>
            </a:r>
            <a:endParaRPr lang="en-US" sz="1100" dirty="0"/>
          </a:p>
          <a:p>
            <a:pPr marL="342900" indent="-342900">
              <a:lnSpc>
                <a:spcPts val="1700"/>
              </a:lnSpc>
              <a:spcAft>
                <a:spcPts val="700"/>
              </a:spcAft>
              <a:buSzPct val="100000"/>
              <a:buChar char="•"/>
            </a:pPr>
            <a:r>
              <a:rPr lang="en-US" sz="1100" dirty="0">
                <a:solidFill>
                  <a:srgbClr val="13202E"/>
                </a:solidFill>
                <a:latin typeface="Calibri" pitchFamily="34" charset="0"/>
                <a:ea typeface="Calibri" pitchFamily="34" charset="-122"/>
                <a:cs typeface="Calibri" pitchFamily="34" charset="-120"/>
              </a:rPr>
              <a:t>Full SwinIR / Restormer — window attention is slow, and end-to-end throughput is an explicitly scored axis</a:t>
            </a:r>
            <a:endParaRPr lang="en-US" sz="1100" dirty="0"/>
          </a:p>
          <a:p>
            <a:pPr marL="342900" indent="-342900">
              <a:lnSpc>
                <a:spcPts val="1700"/>
              </a:lnSpc>
              <a:spcAft>
                <a:spcPts val="700"/>
              </a:spcAft>
              <a:buSzPct val="100000"/>
              <a:buChar char="•"/>
            </a:pPr>
            <a:r>
              <a:rPr lang="en-US" sz="1100" dirty="0">
                <a:solidFill>
                  <a:srgbClr val="13202E"/>
                </a:solidFill>
                <a:latin typeface="Calibri" pitchFamily="34" charset="0"/>
                <a:ea typeface="Calibri" pitchFamily="34" charset="-122"/>
                <a:cs typeface="Calibri" pitchFamily="34" charset="-120"/>
              </a:rPr>
              <a:t>Perceptual (VGG) loss — weight tuning and a 500 MB download were not affordable inside the build window</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66928" y="384048"/>
            <a:ext cx="11055096" cy="566928"/>
          </a:xfrm>
          <a:prstGeom prst="rect">
            <a:avLst/>
          </a:prstGeom>
          <a:noFill/>
          <a:ln/>
        </p:spPr>
        <p:txBody>
          <a:bodyPr wrap="square" lIns="0" tIns="0" rIns="0" bIns="0" rtlCol="0" anchor="ctr"/>
          <a:lstStyle/>
          <a:p>
            <a:pPr indent="0" marL="0">
              <a:buNone/>
            </a:pPr>
            <a:r>
              <a:rPr lang="en-US" sz="3200" b="1" dirty="0">
                <a:solidFill>
                  <a:srgbClr val="13202E"/>
                </a:solidFill>
                <a:latin typeface="Cambria" pitchFamily="34" charset="0"/>
                <a:ea typeface="Cambria" pitchFamily="34" charset="-122"/>
                <a:cs typeface="Cambria" pitchFamily="34" charset="-120"/>
              </a:rPr>
              <a:t>Experiments and baseline</a:t>
            </a:r>
            <a:endParaRPr lang="en-US" sz="3200" dirty="0"/>
          </a:p>
        </p:txBody>
      </p:sp>
      <p:sp>
        <p:nvSpPr>
          <p:cNvPr id="3" name="Text 1"/>
          <p:cNvSpPr/>
          <p:nvPr/>
        </p:nvSpPr>
        <p:spPr>
          <a:xfrm>
            <a:off x="566928" y="941832"/>
            <a:ext cx="11055096" cy="292608"/>
          </a:xfrm>
          <a:prstGeom prst="rect">
            <a:avLst/>
          </a:prstGeom>
          <a:noFill/>
          <a:ln/>
        </p:spPr>
        <p:txBody>
          <a:bodyPr wrap="square" lIns="0" tIns="0" rIns="0" bIns="0" rtlCol="0" anchor="ctr"/>
          <a:lstStyle/>
          <a:p>
            <a:pPr indent="0" marL="0">
              <a:buNone/>
            </a:pPr>
            <a:r>
              <a:rPr lang="en-US" sz="1350" i="1" dirty="0">
                <a:solidFill>
                  <a:srgbClr val="5B7186"/>
                </a:solidFill>
                <a:latin typeface="Calibri" pitchFamily="34" charset="0"/>
                <a:ea typeface="Calibri" pitchFamily="34" charset="-122"/>
                <a:cs typeface="Calibri" pitchFamily="34" charset="-120"/>
              </a:rPr>
              <a:t>One config, one seed, one checkpoint — the training budget was spent, not scattered</a:t>
            </a:r>
            <a:endParaRPr lang="en-US" sz="1350" dirty="0"/>
          </a:p>
        </p:txBody>
      </p:sp>
      <p:sp>
        <p:nvSpPr>
          <p:cNvPr id="4" name="Text 2"/>
          <p:cNvSpPr/>
          <p:nvPr/>
        </p:nvSpPr>
        <p:spPr>
          <a:xfrm>
            <a:off x="566928" y="1481328"/>
            <a:ext cx="5486400" cy="310896"/>
          </a:xfrm>
          <a:prstGeom prst="rect">
            <a:avLst/>
          </a:prstGeom>
          <a:noFill/>
          <a:ln/>
        </p:spPr>
        <p:txBody>
          <a:bodyPr wrap="square" lIns="0" tIns="0" rIns="0" bIns="0" rtlCol="0" anchor="ctr"/>
          <a:lstStyle/>
          <a:p>
            <a:pPr indent="0" marL="0">
              <a:buNone/>
            </a:pPr>
            <a:r>
              <a:rPr lang="en-US" sz="1500" b="1" dirty="0">
                <a:solidFill>
                  <a:srgbClr val="13202E"/>
                </a:solidFill>
                <a:latin typeface="Cambria" pitchFamily="34" charset="0"/>
                <a:ea typeface="Cambria" pitchFamily="34" charset="-122"/>
                <a:cs typeface="Cambria" pitchFamily="34" charset="-120"/>
              </a:rPr>
              <a:t>Mandatory baseline: bicubic ×2</a:t>
            </a:r>
            <a:endParaRPr lang="en-US" sz="1500" dirty="0"/>
          </a:p>
        </p:txBody>
      </p:sp>
      <p:sp>
        <p:nvSpPr>
          <p:cNvPr id="5" name="Text 3"/>
          <p:cNvSpPr/>
          <p:nvPr/>
        </p:nvSpPr>
        <p:spPr>
          <a:xfrm>
            <a:off x="566928" y="1828800"/>
            <a:ext cx="5486400" cy="914400"/>
          </a:xfrm>
          <a:prstGeom prst="rect">
            <a:avLst/>
          </a:prstGeom>
          <a:noFill/>
          <a:ln/>
        </p:spPr>
        <p:txBody>
          <a:bodyPr wrap="square" lIns="0" tIns="0" rIns="0" bIns="0" rtlCol="0" anchor="ctr"/>
          <a:lstStyle/>
          <a:p>
            <a:pPr indent="0" marL="0">
              <a:lnSpc>
                <a:spcPts val="1500"/>
              </a:lnSpc>
              <a:buNone/>
            </a:pPr>
            <a:r>
              <a:rPr lang="en-US" sz="1150" dirty="0">
                <a:solidFill>
                  <a:srgbClr val="5B7186"/>
                </a:solidFill>
                <a:latin typeface="Calibri" pitchFamily="34" charset="0"/>
                <a:ea typeface="Calibri" pitchFamily="34" charset="-122"/>
                <a:cs typeface="Calibri" pitchFamily="34" charset="-120"/>
              </a:rPr>
              <a:t>A plain ×2 bicubic upsample of the raw input, clipped at save time. It does no denoising at all, which is exactly why its SSIM and LPIPS are poor while PSNR is merely mediocre — the noise survives the upsample intact. It is the honest floor.</a:t>
            </a:r>
            <a:endParaRPr lang="en-US" sz="1150" dirty="0"/>
          </a:p>
        </p:txBody>
      </p:sp>
      <p:sp>
        <p:nvSpPr>
          <p:cNvPr id="6" name="Text 4"/>
          <p:cNvSpPr/>
          <p:nvPr/>
        </p:nvSpPr>
        <p:spPr>
          <a:xfrm>
            <a:off x="566928" y="2852928"/>
            <a:ext cx="1463040" cy="292608"/>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Optimizer</a:t>
            </a:r>
            <a:endParaRPr lang="en-US" sz="1100" dirty="0"/>
          </a:p>
        </p:txBody>
      </p:sp>
      <p:sp>
        <p:nvSpPr>
          <p:cNvPr id="7" name="Text 5"/>
          <p:cNvSpPr/>
          <p:nvPr/>
        </p:nvSpPr>
        <p:spPr>
          <a:xfrm>
            <a:off x="2084832" y="2852928"/>
            <a:ext cx="4023360" cy="292608"/>
          </a:xfrm>
          <a:prstGeom prst="rect">
            <a:avLst/>
          </a:prstGeom>
          <a:noFill/>
          <a:ln/>
        </p:spPr>
        <p:txBody>
          <a:bodyPr wrap="square" lIns="0" tIns="0" rIns="0" bIns="0" rtlCol="0" anchor="ctr"/>
          <a:lstStyle/>
          <a:p>
            <a:pPr indent="0" marL="0">
              <a:buNone/>
            </a:pPr>
            <a:r>
              <a:rPr lang="en-US" sz="1100" dirty="0">
                <a:solidFill>
                  <a:srgbClr val="13202E"/>
                </a:solidFill>
                <a:latin typeface="Calibri" pitchFamily="34" charset="0"/>
                <a:ea typeface="Calibri" pitchFamily="34" charset="-122"/>
                <a:cs typeface="Calibri" pitchFamily="34" charset="-120"/>
              </a:rPr>
              <a:t>AdamW, lr 2e-4, cosine → 1e-6, 500-step warmup</a:t>
            </a:r>
            <a:endParaRPr lang="en-US" sz="1100" dirty="0"/>
          </a:p>
        </p:txBody>
      </p:sp>
      <p:sp>
        <p:nvSpPr>
          <p:cNvPr id="8" name="Text 6"/>
          <p:cNvSpPr/>
          <p:nvPr/>
        </p:nvSpPr>
        <p:spPr>
          <a:xfrm>
            <a:off x="566928" y="3186684"/>
            <a:ext cx="1463040" cy="292608"/>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Batch / crop</a:t>
            </a:r>
            <a:endParaRPr lang="en-US" sz="1100" dirty="0"/>
          </a:p>
        </p:txBody>
      </p:sp>
      <p:sp>
        <p:nvSpPr>
          <p:cNvPr id="9" name="Text 7"/>
          <p:cNvSpPr/>
          <p:nvPr/>
        </p:nvSpPr>
        <p:spPr>
          <a:xfrm>
            <a:off x="2084832" y="3186684"/>
            <a:ext cx="4023360" cy="292608"/>
          </a:xfrm>
          <a:prstGeom prst="rect">
            <a:avLst/>
          </a:prstGeom>
          <a:noFill/>
          <a:ln/>
        </p:spPr>
        <p:txBody>
          <a:bodyPr wrap="square" lIns="0" tIns="0" rIns="0" bIns="0" rtlCol="0" anchor="ctr"/>
          <a:lstStyle/>
          <a:p>
            <a:pPr indent="0" marL="0">
              <a:buNone/>
            </a:pPr>
            <a:r>
              <a:rPr lang="en-US" sz="1100" dirty="0">
                <a:solidFill>
                  <a:srgbClr val="13202E"/>
                </a:solidFill>
                <a:latin typeface="Calibri" pitchFamily="34" charset="0"/>
                <a:ea typeface="Calibri" pitchFamily="34" charset="-122"/>
                <a:cs typeface="Calibri" pitchFamily="34" charset="-120"/>
              </a:rPr>
              <a:t>64 · LR 64 → GT 128</a:t>
            </a:r>
            <a:endParaRPr lang="en-US" sz="1100" dirty="0"/>
          </a:p>
        </p:txBody>
      </p:sp>
      <p:sp>
        <p:nvSpPr>
          <p:cNvPr id="10" name="Text 8"/>
          <p:cNvSpPr/>
          <p:nvPr/>
        </p:nvSpPr>
        <p:spPr>
          <a:xfrm>
            <a:off x="566928" y="3520440"/>
            <a:ext cx="1463040" cy="292608"/>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Precision</a:t>
            </a:r>
            <a:endParaRPr lang="en-US" sz="1100" dirty="0"/>
          </a:p>
        </p:txBody>
      </p:sp>
      <p:sp>
        <p:nvSpPr>
          <p:cNvPr id="11" name="Text 9"/>
          <p:cNvSpPr/>
          <p:nvPr/>
        </p:nvSpPr>
        <p:spPr>
          <a:xfrm>
            <a:off x="2084832" y="3520440"/>
            <a:ext cx="4023360" cy="292608"/>
          </a:xfrm>
          <a:prstGeom prst="rect">
            <a:avLst/>
          </a:prstGeom>
          <a:noFill/>
          <a:ln/>
        </p:spPr>
        <p:txBody>
          <a:bodyPr wrap="square" lIns="0" tIns="0" rIns="0" bIns="0" rtlCol="0" anchor="ctr"/>
          <a:lstStyle/>
          <a:p>
            <a:pPr indent="0" marL="0">
              <a:buNone/>
            </a:pPr>
            <a:r>
              <a:rPr lang="en-US" sz="1100" dirty="0">
                <a:solidFill>
                  <a:srgbClr val="13202E"/>
                </a:solidFill>
                <a:latin typeface="Calibri" pitchFamily="34" charset="0"/>
                <a:ea typeface="Calibri" pitchFamily="34" charset="-122"/>
                <a:cs typeface="Calibri" pitchFamily="34" charset="-120"/>
              </a:rPr>
              <a:t>bf16 autocast, channels_last, TF32</a:t>
            </a:r>
            <a:endParaRPr lang="en-US" sz="1100" dirty="0"/>
          </a:p>
        </p:txBody>
      </p:sp>
      <p:sp>
        <p:nvSpPr>
          <p:cNvPr id="12" name="Text 10"/>
          <p:cNvSpPr/>
          <p:nvPr/>
        </p:nvSpPr>
        <p:spPr>
          <a:xfrm>
            <a:off x="566928" y="3854196"/>
            <a:ext cx="1463040" cy="292608"/>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EMA</a:t>
            </a:r>
            <a:endParaRPr lang="en-US" sz="1100" dirty="0"/>
          </a:p>
        </p:txBody>
      </p:sp>
      <p:sp>
        <p:nvSpPr>
          <p:cNvPr id="13" name="Text 11"/>
          <p:cNvSpPr/>
          <p:nvPr/>
        </p:nvSpPr>
        <p:spPr>
          <a:xfrm>
            <a:off x="2084832" y="3854196"/>
            <a:ext cx="4023360" cy="292608"/>
          </a:xfrm>
          <a:prstGeom prst="rect">
            <a:avLst/>
          </a:prstGeom>
          <a:noFill/>
          <a:ln/>
        </p:spPr>
        <p:txBody>
          <a:bodyPr wrap="square" lIns="0" tIns="0" rIns="0" bIns="0" rtlCol="0" anchor="ctr"/>
          <a:lstStyle/>
          <a:p>
            <a:pPr indent="0" marL="0">
              <a:buNone/>
            </a:pPr>
            <a:r>
              <a:rPr lang="en-US" sz="1100" dirty="0">
                <a:solidFill>
                  <a:srgbClr val="13202E"/>
                </a:solidFill>
                <a:latin typeface="Calibri" pitchFamily="34" charset="0"/>
                <a:ea typeface="Calibri" pitchFamily="34" charset="-122"/>
                <a:cs typeface="Calibri" pitchFamily="34" charset="-120"/>
              </a:rPr>
              <a:t>0.999 — EMA weights are what get validated and saved</a:t>
            </a:r>
            <a:endParaRPr lang="en-US" sz="1100" dirty="0"/>
          </a:p>
        </p:txBody>
      </p:sp>
      <p:sp>
        <p:nvSpPr>
          <p:cNvPr id="14" name="Text 12"/>
          <p:cNvSpPr/>
          <p:nvPr/>
        </p:nvSpPr>
        <p:spPr>
          <a:xfrm>
            <a:off x="566928" y="4187952"/>
            <a:ext cx="1463040" cy="292608"/>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Seed</a:t>
            </a:r>
            <a:endParaRPr lang="en-US" sz="1100" dirty="0"/>
          </a:p>
        </p:txBody>
      </p:sp>
      <p:sp>
        <p:nvSpPr>
          <p:cNvPr id="15" name="Text 13"/>
          <p:cNvSpPr/>
          <p:nvPr/>
        </p:nvSpPr>
        <p:spPr>
          <a:xfrm>
            <a:off x="2084832" y="4187952"/>
            <a:ext cx="4023360" cy="292608"/>
          </a:xfrm>
          <a:prstGeom prst="rect">
            <a:avLst/>
          </a:prstGeom>
          <a:noFill/>
          <a:ln/>
        </p:spPr>
        <p:txBody>
          <a:bodyPr wrap="square" lIns="0" tIns="0" rIns="0" bIns="0" rtlCol="0" anchor="ctr"/>
          <a:lstStyle/>
          <a:p>
            <a:pPr indent="0" marL="0">
              <a:buNone/>
            </a:pPr>
            <a:r>
              <a:rPr lang="en-US" sz="1100" dirty="0">
                <a:solidFill>
                  <a:srgbClr val="13202E"/>
                </a:solidFill>
                <a:latin typeface="Calibri" pitchFamily="34" charset="0"/>
                <a:ea typeface="Calibri" pitchFamily="34" charset="-122"/>
                <a:cs typeface="Calibri" pitchFamily="34" charset="-120"/>
              </a:rPr>
              <a:t>1337, logged with the git hash in every checkpoint</a:t>
            </a:r>
            <a:endParaRPr lang="en-US" sz="1100" dirty="0"/>
          </a:p>
        </p:txBody>
      </p:sp>
      <p:graphicFrame>
        <p:nvGraphicFramePr>
          <p:cNvPr id="16" name="Chart 0" descr=""/>
          <p:cNvGraphicFramePr/>
          <p:nvPr/>
        </p:nvGraphicFramePr>
        <p:xfrm>
          <a:off x="6400800" y="1417320"/>
          <a:ext cx="5257800" cy="278892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p:nvPr/>
        </p:nvSpPr>
        <p:spPr>
          <a:xfrm>
            <a:off x="6400800" y="4242816"/>
            <a:ext cx="5257800" cy="566928"/>
          </a:xfrm>
          <a:prstGeom prst="rect">
            <a:avLst/>
          </a:prstGeom>
          <a:noFill/>
          <a:ln/>
        </p:spPr>
        <p:txBody>
          <a:bodyPr wrap="square" lIns="0" tIns="0" rIns="0" bIns="0" rtlCol="0" anchor="ctr"/>
          <a:lstStyle/>
          <a:p>
            <a:pPr indent="0" marL="0">
              <a:lnSpc>
                <a:spcPts val="1200"/>
              </a:lnSpc>
              <a:buNone/>
            </a:pPr>
            <a:r>
              <a:rPr lang="en-US" sz="950" i="1" dirty="0">
                <a:solidFill>
                  <a:srgbClr val="5B7186"/>
                </a:solidFill>
                <a:latin typeface="Calibri" pitchFamily="34" charset="0"/>
                <a:ea typeface="Calibri" pitchFamily="34" charset="-122"/>
                <a:cs typeface="Calibri" pitchFamily="34" charset="-120"/>
              </a:rPr>
              <a:t>Every point is above the bicubic floor of 22.73 dB. Validation peaks at step 4,000 (27.52 dB) and then declines while training loss keeps falling — overfitting. The submitted checkpoint is that peak.</a:t>
            </a:r>
            <a:endParaRPr lang="en-US" sz="950" dirty="0"/>
          </a:p>
        </p:txBody>
      </p:sp>
      <p:sp>
        <p:nvSpPr>
          <p:cNvPr id="18" name="Shape 15"/>
          <p:cNvSpPr/>
          <p:nvPr/>
        </p:nvSpPr>
        <p:spPr>
          <a:xfrm>
            <a:off x="566928" y="4882896"/>
            <a:ext cx="11055096" cy="1243584"/>
          </a:xfrm>
          <a:prstGeom prst="roundRect">
            <a:avLst>
              <a:gd name="adj" fmla="val 4412"/>
            </a:avLst>
          </a:prstGeom>
          <a:solidFill>
            <a:srgbClr val="EAF2F7"/>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19" name="Text 16"/>
          <p:cNvSpPr/>
          <p:nvPr/>
        </p:nvSpPr>
        <p:spPr>
          <a:xfrm>
            <a:off x="841248" y="5010912"/>
            <a:ext cx="10424160" cy="274320"/>
          </a:xfrm>
          <a:prstGeom prst="rect">
            <a:avLst/>
          </a:prstGeom>
          <a:noFill/>
          <a:ln/>
        </p:spPr>
        <p:txBody>
          <a:bodyPr wrap="square" lIns="0" tIns="0" rIns="0" bIns="0" rtlCol="0" anchor="ctr"/>
          <a:lstStyle/>
          <a:p>
            <a:pPr indent="0" marL="0">
              <a:buNone/>
            </a:pPr>
            <a:r>
              <a:rPr lang="en-US" sz="1300" b="1" dirty="0">
                <a:solidFill>
                  <a:srgbClr val="065A82"/>
                </a:solidFill>
                <a:latin typeface="Cambria" pitchFamily="34" charset="0"/>
                <a:ea typeface="Cambria" pitchFamily="34" charset="-122"/>
                <a:cs typeface="Cambria" pitchFamily="34" charset="-120"/>
              </a:rPr>
              <a:t>Pipeline sanity checks — both pass before any training was launched</a:t>
            </a:r>
            <a:endParaRPr lang="en-US" sz="1300" dirty="0"/>
          </a:p>
        </p:txBody>
      </p:sp>
      <p:sp>
        <p:nvSpPr>
          <p:cNvPr id="20" name="Text 17"/>
          <p:cNvSpPr/>
          <p:nvPr/>
        </p:nvSpPr>
        <p:spPr>
          <a:xfrm>
            <a:off x="841248" y="5321808"/>
            <a:ext cx="10424160" cy="658368"/>
          </a:xfrm>
          <a:prstGeom prst="rect">
            <a:avLst/>
          </a:prstGeom>
          <a:noFill/>
          <a:ln/>
        </p:spPr>
        <p:txBody>
          <a:bodyPr wrap="square" lIns="0" tIns="0" rIns="0" bIns="0" rtlCol="0" anchor="ctr"/>
          <a:lstStyle/>
          <a:p>
            <a:pPr indent="0" marL="0">
              <a:lnSpc>
                <a:spcPts val="1400"/>
              </a:lnSpc>
              <a:buNone/>
            </a:pPr>
            <a:r>
              <a:rPr lang="en-US" sz="1050" dirty="0">
                <a:solidFill>
                  <a:srgbClr val="5B7186"/>
                </a:solidFill>
                <a:latin typeface="Calibri" pitchFamily="34" charset="0"/>
                <a:ea typeface="Calibri" pitchFamily="34" charset="-122"/>
                <a:cs typeface="Calibri" pitchFamily="34" charset="-120"/>
              </a:rPr>
              <a:t>A · memorize 2 fixed pairs (no crop, no augmentation): 26.36 → 52.13 dB, +25.77 over bicubic — the network can represent the mapping.          B · save/reload round trip: bit-exact float32, clip exact, channel axis stripped — saving costs nothing.</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66928" y="384048"/>
            <a:ext cx="11055096" cy="566928"/>
          </a:xfrm>
          <a:prstGeom prst="rect">
            <a:avLst/>
          </a:prstGeom>
          <a:noFill/>
          <a:ln/>
        </p:spPr>
        <p:txBody>
          <a:bodyPr wrap="square" lIns="0" tIns="0" rIns="0" bIns="0" rtlCol="0" anchor="ctr"/>
          <a:lstStyle/>
          <a:p>
            <a:pPr indent="0" marL="0">
              <a:buNone/>
            </a:pPr>
            <a:r>
              <a:rPr lang="en-US" sz="3200" b="1" dirty="0">
                <a:solidFill>
                  <a:srgbClr val="13202E"/>
                </a:solidFill>
                <a:latin typeface="Cambria" pitchFamily="34" charset="0"/>
                <a:ea typeface="Cambria" pitchFamily="34" charset="-122"/>
                <a:cs typeface="Cambria" pitchFamily="34" charset="-120"/>
              </a:rPr>
              <a:t>Results: PSNR · SSIM · LPIPS</a:t>
            </a:r>
            <a:endParaRPr lang="en-US" sz="3200" dirty="0"/>
          </a:p>
        </p:txBody>
      </p:sp>
      <p:sp>
        <p:nvSpPr>
          <p:cNvPr id="3" name="Text 1"/>
          <p:cNvSpPr/>
          <p:nvPr/>
        </p:nvSpPr>
        <p:spPr>
          <a:xfrm>
            <a:off x="566928" y="941832"/>
            <a:ext cx="11055096" cy="292608"/>
          </a:xfrm>
          <a:prstGeom prst="rect">
            <a:avLst/>
          </a:prstGeom>
          <a:noFill/>
          <a:ln/>
        </p:spPr>
        <p:txBody>
          <a:bodyPr wrap="square" lIns="0" tIns="0" rIns="0" bIns="0" rtlCol="0" anchor="ctr"/>
          <a:lstStyle/>
          <a:p>
            <a:pPr indent="0" marL="0">
              <a:buNone/>
            </a:pPr>
            <a:r>
              <a:rPr lang="en-US" sz="1350" i="1" dirty="0">
                <a:solidFill>
                  <a:srgbClr val="5B7186"/>
                </a:solidFill>
                <a:latin typeface="Calibri" pitchFamily="34" charset="0"/>
                <a:ea typeface="Calibri" pitchFamily="34" charset="-122"/>
                <a:cs typeface="Calibri" pitchFamily="34" charset="-120"/>
              </a:rPr>
              <a:t>KLA's blend over the three is undisclosed, so all three are reported unweighted</a:t>
            </a:r>
            <a:endParaRPr lang="en-US" sz="1350" dirty="0"/>
          </a:p>
        </p:txBody>
      </p:sp>
      <p:sp>
        <p:nvSpPr>
          <p:cNvPr id="4" name="Shape 2"/>
          <p:cNvSpPr/>
          <p:nvPr/>
        </p:nvSpPr>
        <p:spPr>
          <a:xfrm>
            <a:off x="566928" y="1517904"/>
            <a:ext cx="3529584" cy="2651760"/>
          </a:xfrm>
          <a:prstGeom prst="roundRect">
            <a:avLst>
              <a:gd name="adj" fmla="val 2069"/>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5" name="Text 3"/>
          <p:cNvSpPr/>
          <p:nvPr/>
        </p:nvSpPr>
        <p:spPr>
          <a:xfrm>
            <a:off x="804672" y="1682496"/>
            <a:ext cx="3054096" cy="329184"/>
          </a:xfrm>
          <a:prstGeom prst="rect">
            <a:avLst/>
          </a:prstGeom>
          <a:noFill/>
          <a:ln/>
        </p:spPr>
        <p:txBody>
          <a:bodyPr wrap="square" lIns="0" tIns="0" rIns="0" bIns="0" rtlCol="0" anchor="ctr"/>
          <a:lstStyle/>
          <a:p>
            <a:pPr indent="0" marL="0">
              <a:buNone/>
            </a:pPr>
            <a:r>
              <a:rPr lang="en-US" sz="1700" b="1" dirty="0">
                <a:solidFill>
                  <a:srgbClr val="13202E"/>
                </a:solidFill>
                <a:latin typeface="Cambria" pitchFamily="34" charset="0"/>
                <a:ea typeface="Cambria" pitchFamily="34" charset="-122"/>
                <a:cs typeface="Cambria" pitchFamily="34" charset="-120"/>
              </a:rPr>
              <a:t>PSNR ↑</a:t>
            </a:r>
            <a:endParaRPr lang="en-US" sz="1700" dirty="0"/>
          </a:p>
        </p:txBody>
      </p:sp>
      <p:sp>
        <p:nvSpPr>
          <p:cNvPr id="6" name="Text 4"/>
          <p:cNvSpPr/>
          <p:nvPr/>
        </p:nvSpPr>
        <p:spPr>
          <a:xfrm>
            <a:off x="804672" y="2103120"/>
            <a:ext cx="1554480" cy="237744"/>
          </a:xfrm>
          <a:prstGeom prst="rect">
            <a:avLst/>
          </a:prstGeom>
          <a:noFill/>
          <a:ln/>
        </p:spPr>
        <p:txBody>
          <a:bodyPr wrap="square" lIns="0" tIns="0" rIns="0" bIns="0" rtlCol="0" anchor="ctr"/>
          <a:lstStyle/>
          <a:p>
            <a:pPr indent="0" marL="0">
              <a:buNone/>
            </a:pPr>
            <a:r>
              <a:rPr lang="en-US" sz="1000" dirty="0">
                <a:solidFill>
                  <a:srgbClr val="5B7186"/>
                </a:solidFill>
                <a:latin typeface="Calibri" pitchFamily="34" charset="0"/>
                <a:ea typeface="Calibri" pitchFamily="34" charset="-122"/>
                <a:cs typeface="Calibri" pitchFamily="34" charset="-120"/>
              </a:rPr>
              <a:t>bicubic baseline</a:t>
            </a:r>
            <a:endParaRPr lang="en-US" sz="1000" dirty="0"/>
          </a:p>
        </p:txBody>
      </p:sp>
      <p:sp>
        <p:nvSpPr>
          <p:cNvPr id="7" name="Text 5"/>
          <p:cNvSpPr/>
          <p:nvPr/>
        </p:nvSpPr>
        <p:spPr>
          <a:xfrm>
            <a:off x="804672" y="2322576"/>
            <a:ext cx="1554480" cy="384048"/>
          </a:xfrm>
          <a:prstGeom prst="rect">
            <a:avLst/>
          </a:prstGeom>
          <a:noFill/>
          <a:ln/>
        </p:spPr>
        <p:txBody>
          <a:bodyPr wrap="square" lIns="0" tIns="0" rIns="0" bIns="0" rtlCol="0" anchor="ctr"/>
          <a:lstStyle/>
          <a:p>
            <a:pPr indent="0" marL="0">
              <a:buNone/>
            </a:pPr>
            <a:r>
              <a:rPr lang="en-US" sz="1800" dirty="0">
                <a:solidFill>
                  <a:srgbClr val="5B7186"/>
                </a:solidFill>
                <a:latin typeface="Cambria" pitchFamily="34" charset="0"/>
                <a:ea typeface="Cambria" pitchFamily="34" charset="-122"/>
                <a:cs typeface="Cambria" pitchFamily="34" charset="-120"/>
              </a:rPr>
              <a:t>22.7300</a:t>
            </a:r>
            <a:endParaRPr lang="en-US" sz="1800" dirty="0"/>
          </a:p>
        </p:txBody>
      </p:sp>
      <p:sp>
        <p:nvSpPr>
          <p:cNvPr id="8" name="Text 6"/>
          <p:cNvSpPr/>
          <p:nvPr/>
        </p:nvSpPr>
        <p:spPr>
          <a:xfrm>
            <a:off x="2450592" y="2103120"/>
            <a:ext cx="1408176" cy="237744"/>
          </a:xfrm>
          <a:prstGeom prst="rect">
            <a:avLst/>
          </a:prstGeom>
          <a:noFill/>
          <a:ln/>
        </p:spPr>
        <p:txBody>
          <a:bodyPr wrap="square" lIns="0" tIns="0" rIns="0" bIns="0" rtlCol="0" anchor="ctr"/>
          <a:lstStyle/>
          <a:p>
            <a:pPr indent="0" marL="0">
              <a:buNone/>
            </a:pPr>
            <a:r>
              <a:rPr lang="en-US" sz="1000" b="1" dirty="0">
                <a:solidFill>
                  <a:srgbClr val="065A82"/>
                </a:solidFill>
                <a:latin typeface="Calibri" pitchFamily="34" charset="0"/>
                <a:ea typeface="Calibri" pitchFamily="34" charset="-122"/>
                <a:cs typeface="Calibri" pitchFamily="34" charset="-120"/>
              </a:rPr>
              <a:t>ours</a:t>
            </a:r>
            <a:endParaRPr lang="en-US" sz="1000" dirty="0"/>
          </a:p>
        </p:txBody>
      </p:sp>
      <p:sp>
        <p:nvSpPr>
          <p:cNvPr id="9" name="Text 7"/>
          <p:cNvSpPr/>
          <p:nvPr/>
        </p:nvSpPr>
        <p:spPr>
          <a:xfrm>
            <a:off x="2450592" y="2286000"/>
            <a:ext cx="1408176" cy="457200"/>
          </a:xfrm>
          <a:prstGeom prst="rect">
            <a:avLst/>
          </a:prstGeom>
          <a:noFill/>
          <a:ln/>
        </p:spPr>
        <p:txBody>
          <a:bodyPr wrap="square" lIns="0" tIns="0" rIns="0" bIns="0" rtlCol="0" anchor="ctr"/>
          <a:lstStyle/>
          <a:p>
            <a:pPr indent="0" marL="0">
              <a:buNone/>
            </a:pPr>
            <a:r>
              <a:rPr lang="en-US" sz="2200" b="1" dirty="0">
                <a:solidFill>
                  <a:srgbClr val="065A82"/>
                </a:solidFill>
                <a:latin typeface="Cambria" pitchFamily="34" charset="0"/>
                <a:ea typeface="Cambria" pitchFamily="34" charset="-122"/>
                <a:cs typeface="Cambria" pitchFamily="34" charset="-120"/>
              </a:rPr>
              <a:t>27.5150</a:t>
            </a:r>
            <a:endParaRPr lang="en-US" sz="2200" dirty="0"/>
          </a:p>
        </p:txBody>
      </p:sp>
      <p:sp>
        <p:nvSpPr>
          <p:cNvPr id="10" name="Shape 8"/>
          <p:cNvSpPr/>
          <p:nvPr/>
        </p:nvSpPr>
        <p:spPr>
          <a:xfrm>
            <a:off x="804672" y="2871216"/>
            <a:ext cx="3054096" cy="310896"/>
          </a:xfrm>
          <a:prstGeom prst="roundRect">
            <a:avLst>
              <a:gd name="adj" fmla="val 50000"/>
            </a:avLst>
          </a:prstGeom>
          <a:solidFill>
            <a:srgbClr val="2E8B6F"/>
          </a:solidFill>
          <a:ln w="12700">
            <a:solidFill>
              <a:srgbClr val="2E8B6F"/>
            </a:solidFill>
            <a:prstDash val="solid"/>
          </a:ln>
        </p:spPr>
      </p:sp>
      <p:sp>
        <p:nvSpPr>
          <p:cNvPr id="11" name="Text 9"/>
          <p:cNvSpPr/>
          <p:nvPr/>
        </p:nvSpPr>
        <p:spPr>
          <a:xfrm>
            <a:off x="804672" y="2871216"/>
            <a:ext cx="3054096"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improvement  +4.79 dB</a:t>
            </a:r>
            <a:endParaRPr lang="en-US" sz="1050" dirty="0"/>
          </a:p>
        </p:txBody>
      </p:sp>
      <p:sp>
        <p:nvSpPr>
          <p:cNvPr id="12" name="Text 10"/>
          <p:cNvSpPr/>
          <p:nvPr/>
        </p:nvSpPr>
        <p:spPr>
          <a:xfrm>
            <a:off x="804672" y="3310128"/>
            <a:ext cx="3054096" cy="640080"/>
          </a:xfrm>
          <a:prstGeom prst="rect">
            <a:avLst/>
          </a:prstGeom>
          <a:noFill/>
          <a:ln/>
        </p:spPr>
        <p:txBody>
          <a:bodyPr wrap="square" lIns="0" tIns="0" rIns="0" bIns="0" rtlCol="0" anchor="ctr"/>
          <a:lstStyle/>
          <a:p>
            <a:pPr indent="0" marL="0">
              <a:lnSpc>
                <a:spcPts val="1350"/>
              </a:lnSpc>
              <a:buNone/>
            </a:pPr>
            <a:r>
              <a:rPr lang="en-US" sz="1050" dirty="0">
                <a:solidFill>
                  <a:srgbClr val="5B7186"/>
                </a:solidFill>
                <a:latin typeface="Calibri" pitchFamily="34" charset="0"/>
                <a:ea typeface="Calibri" pitchFamily="34" charset="-122"/>
                <a:cs typeface="Calibri" pitchFamily="34" charset="-120"/>
              </a:rPr>
              <a:t>Fidelity — how close each pixel is to ground truth.</a:t>
            </a:r>
            <a:endParaRPr lang="en-US" sz="1050" dirty="0"/>
          </a:p>
        </p:txBody>
      </p:sp>
      <p:sp>
        <p:nvSpPr>
          <p:cNvPr id="13" name="Shape 11"/>
          <p:cNvSpPr/>
          <p:nvPr/>
        </p:nvSpPr>
        <p:spPr>
          <a:xfrm>
            <a:off x="4334256" y="1517904"/>
            <a:ext cx="3529584" cy="2651760"/>
          </a:xfrm>
          <a:prstGeom prst="roundRect">
            <a:avLst>
              <a:gd name="adj" fmla="val 2069"/>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14" name="Text 12"/>
          <p:cNvSpPr/>
          <p:nvPr/>
        </p:nvSpPr>
        <p:spPr>
          <a:xfrm>
            <a:off x="4572000" y="1682496"/>
            <a:ext cx="3054096" cy="329184"/>
          </a:xfrm>
          <a:prstGeom prst="rect">
            <a:avLst/>
          </a:prstGeom>
          <a:noFill/>
          <a:ln/>
        </p:spPr>
        <p:txBody>
          <a:bodyPr wrap="square" lIns="0" tIns="0" rIns="0" bIns="0" rtlCol="0" anchor="ctr"/>
          <a:lstStyle/>
          <a:p>
            <a:pPr indent="0" marL="0">
              <a:buNone/>
            </a:pPr>
            <a:r>
              <a:rPr lang="en-US" sz="1700" b="1" dirty="0">
                <a:solidFill>
                  <a:srgbClr val="13202E"/>
                </a:solidFill>
                <a:latin typeface="Cambria" pitchFamily="34" charset="0"/>
                <a:ea typeface="Cambria" pitchFamily="34" charset="-122"/>
                <a:cs typeface="Cambria" pitchFamily="34" charset="-120"/>
              </a:rPr>
              <a:t>SSIM ↑</a:t>
            </a:r>
            <a:endParaRPr lang="en-US" sz="1700" dirty="0"/>
          </a:p>
        </p:txBody>
      </p:sp>
      <p:sp>
        <p:nvSpPr>
          <p:cNvPr id="15" name="Text 13"/>
          <p:cNvSpPr/>
          <p:nvPr/>
        </p:nvSpPr>
        <p:spPr>
          <a:xfrm>
            <a:off x="4572000" y="2103120"/>
            <a:ext cx="1554480" cy="237744"/>
          </a:xfrm>
          <a:prstGeom prst="rect">
            <a:avLst/>
          </a:prstGeom>
          <a:noFill/>
          <a:ln/>
        </p:spPr>
        <p:txBody>
          <a:bodyPr wrap="square" lIns="0" tIns="0" rIns="0" bIns="0" rtlCol="0" anchor="ctr"/>
          <a:lstStyle/>
          <a:p>
            <a:pPr indent="0" marL="0">
              <a:buNone/>
            </a:pPr>
            <a:r>
              <a:rPr lang="en-US" sz="1000" dirty="0">
                <a:solidFill>
                  <a:srgbClr val="5B7186"/>
                </a:solidFill>
                <a:latin typeface="Calibri" pitchFamily="34" charset="0"/>
                <a:ea typeface="Calibri" pitchFamily="34" charset="-122"/>
                <a:cs typeface="Calibri" pitchFamily="34" charset="-120"/>
              </a:rPr>
              <a:t>bicubic baseline</a:t>
            </a:r>
            <a:endParaRPr lang="en-US" sz="1000" dirty="0"/>
          </a:p>
        </p:txBody>
      </p:sp>
      <p:sp>
        <p:nvSpPr>
          <p:cNvPr id="16" name="Text 14"/>
          <p:cNvSpPr/>
          <p:nvPr/>
        </p:nvSpPr>
        <p:spPr>
          <a:xfrm>
            <a:off x="4572000" y="2322576"/>
            <a:ext cx="1554480" cy="384048"/>
          </a:xfrm>
          <a:prstGeom prst="rect">
            <a:avLst/>
          </a:prstGeom>
          <a:noFill/>
          <a:ln/>
        </p:spPr>
        <p:txBody>
          <a:bodyPr wrap="square" lIns="0" tIns="0" rIns="0" bIns="0" rtlCol="0" anchor="ctr"/>
          <a:lstStyle/>
          <a:p>
            <a:pPr indent="0" marL="0">
              <a:buNone/>
            </a:pPr>
            <a:r>
              <a:rPr lang="en-US" sz="1800" dirty="0">
                <a:solidFill>
                  <a:srgbClr val="5B7186"/>
                </a:solidFill>
                <a:latin typeface="Cambria" pitchFamily="34" charset="0"/>
                <a:ea typeface="Cambria" pitchFamily="34" charset="-122"/>
                <a:cs typeface="Cambria" pitchFamily="34" charset="-120"/>
              </a:rPr>
              <a:t>0.5215</a:t>
            </a:r>
            <a:endParaRPr lang="en-US" sz="1800" dirty="0"/>
          </a:p>
        </p:txBody>
      </p:sp>
      <p:sp>
        <p:nvSpPr>
          <p:cNvPr id="17" name="Text 15"/>
          <p:cNvSpPr/>
          <p:nvPr/>
        </p:nvSpPr>
        <p:spPr>
          <a:xfrm>
            <a:off x="6217920" y="2103120"/>
            <a:ext cx="1408176" cy="237744"/>
          </a:xfrm>
          <a:prstGeom prst="rect">
            <a:avLst/>
          </a:prstGeom>
          <a:noFill/>
          <a:ln/>
        </p:spPr>
        <p:txBody>
          <a:bodyPr wrap="square" lIns="0" tIns="0" rIns="0" bIns="0" rtlCol="0" anchor="ctr"/>
          <a:lstStyle/>
          <a:p>
            <a:pPr indent="0" marL="0">
              <a:buNone/>
            </a:pPr>
            <a:r>
              <a:rPr lang="en-US" sz="1000" b="1" dirty="0">
                <a:solidFill>
                  <a:srgbClr val="065A82"/>
                </a:solidFill>
                <a:latin typeface="Calibri" pitchFamily="34" charset="0"/>
                <a:ea typeface="Calibri" pitchFamily="34" charset="-122"/>
                <a:cs typeface="Calibri" pitchFamily="34" charset="-120"/>
              </a:rPr>
              <a:t>ours</a:t>
            </a:r>
            <a:endParaRPr lang="en-US" sz="1000" dirty="0"/>
          </a:p>
        </p:txBody>
      </p:sp>
      <p:sp>
        <p:nvSpPr>
          <p:cNvPr id="18" name="Text 16"/>
          <p:cNvSpPr/>
          <p:nvPr/>
        </p:nvSpPr>
        <p:spPr>
          <a:xfrm>
            <a:off x="6217920" y="2286000"/>
            <a:ext cx="1408176" cy="457200"/>
          </a:xfrm>
          <a:prstGeom prst="rect">
            <a:avLst/>
          </a:prstGeom>
          <a:noFill/>
          <a:ln/>
        </p:spPr>
        <p:txBody>
          <a:bodyPr wrap="square" lIns="0" tIns="0" rIns="0" bIns="0" rtlCol="0" anchor="ctr"/>
          <a:lstStyle/>
          <a:p>
            <a:pPr indent="0" marL="0">
              <a:buNone/>
            </a:pPr>
            <a:r>
              <a:rPr lang="en-US" sz="2200" b="1" dirty="0">
                <a:solidFill>
                  <a:srgbClr val="065A82"/>
                </a:solidFill>
                <a:latin typeface="Cambria" pitchFamily="34" charset="0"/>
                <a:ea typeface="Cambria" pitchFamily="34" charset="-122"/>
                <a:cs typeface="Cambria" pitchFamily="34" charset="-120"/>
              </a:rPr>
              <a:t>0.7430</a:t>
            </a:r>
            <a:endParaRPr lang="en-US" sz="2200" dirty="0"/>
          </a:p>
        </p:txBody>
      </p:sp>
      <p:sp>
        <p:nvSpPr>
          <p:cNvPr id="19" name="Shape 17"/>
          <p:cNvSpPr/>
          <p:nvPr/>
        </p:nvSpPr>
        <p:spPr>
          <a:xfrm>
            <a:off x="4572000" y="2871216"/>
            <a:ext cx="3054096" cy="310896"/>
          </a:xfrm>
          <a:prstGeom prst="roundRect">
            <a:avLst>
              <a:gd name="adj" fmla="val 50000"/>
            </a:avLst>
          </a:prstGeom>
          <a:solidFill>
            <a:srgbClr val="2E8B6F"/>
          </a:solidFill>
          <a:ln w="12700">
            <a:solidFill>
              <a:srgbClr val="2E8B6F"/>
            </a:solidFill>
            <a:prstDash val="solid"/>
          </a:ln>
        </p:spPr>
      </p:sp>
      <p:sp>
        <p:nvSpPr>
          <p:cNvPr id="20" name="Text 18"/>
          <p:cNvSpPr/>
          <p:nvPr/>
        </p:nvSpPr>
        <p:spPr>
          <a:xfrm>
            <a:off x="4572000" y="2871216"/>
            <a:ext cx="3054096"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improvement  +0.222</a:t>
            </a:r>
            <a:endParaRPr lang="en-US" sz="1050" dirty="0"/>
          </a:p>
        </p:txBody>
      </p:sp>
      <p:sp>
        <p:nvSpPr>
          <p:cNvPr id="21" name="Text 19"/>
          <p:cNvSpPr/>
          <p:nvPr/>
        </p:nvSpPr>
        <p:spPr>
          <a:xfrm>
            <a:off x="4572000" y="3310128"/>
            <a:ext cx="3054096" cy="640080"/>
          </a:xfrm>
          <a:prstGeom prst="rect">
            <a:avLst/>
          </a:prstGeom>
          <a:noFill/>
          <a:ln/>
        </p:spPr>
        <p:txBody>
          <a:bodyPr wrap="square" lIns="0" tIns="0" rIns="0" bIns="0" rtlCol="0" anchor="ctr"/>
          <a:lstStyle/>
          <a:p>
            <a:pPr indent="0" marL="0">
              <a:lnSpc>
                <a:spcPts val="1350"/>
              </a:lnSpc>
              <a:buNone/>
            </a:pPr>
            <a:r>
              <a:rPr lang="en-US" sz="1050" dirty="0">
                <a:solidFill>
                  <a:srgbClr val="5B7186"/>
                </a:solidFill>
                <a:latin typeface="Calibri" pitchFamily="34" charset="0"/>
                <a:ea typeface="Calibri" pitchFamily="34" charset="-122"/>
                <a:cs typeface="Calibri" pitchFamily="34" charset="-120"/>
              </a:rPr>
              <a:t>Structure — local luminance, contrast and correlation.</a:t>
            </a:r>
            <a:endParaRPr lang="en-US" sz="1050" dirty="0"/>
          </a:p>
        </p:txBody>
      </p:sp>
      <p:sp>
        <p:nvSpPr>
          <p:cNvPr id="22" name="Shape 20"/>
          <p:cNvSpPr/>
          <p:nvPr/>
        </p:nvSpPr>
        <p:spPr>
          <a:xfrm>
            <a:off x="8101584" y="1517904"/>
            <a:ext cx="3529584" cy="2651760"/>
          </a:xfrm>
          <a:prstGeom prst="roundRect">
            <a:avLst>
              <a:gd name="adj" fmla="val 2069"/>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23" name="Text 21"/>
          <p:cNvSpPr/>
          <p:nvPr/>
        </p:nvSpPr>
        <p:spPr>
          <a:xfrm>
            <a:off x="8339328" y="1682496"/>
            <a:ext cx="3054096" cy="329184"/>
          </a:xfrm>
          <a:prstGeom prst="rect">
            <a:avLst/>
          </a:prstGeom>
          <a:noFill/>
          <a:ln/>
        </p:spPr>
        <p:txBody>
          <a:bodyPr wrap="square" lIns="0" tIns="0" rIns="0" bIns="0" rtlCol="0" anchor="ctr"/>
          <a:lstStyle/>
          <a:p>
            <a:pPr indent="0" marL="0">
              <a:buNone/>
            </a:pPr>
            <a:r>
              <a:rPr lang="en-US" sz="1700" b="1" dirty="0">
                <a:solidFill>
                  <a:srgbClr val="13202E"/>
                </a:solidFill>
                <a:latin typeface="Cambria" pitchFamily="34" charset="0"/>
                <a:ea typeface="Cambria" pitchFamily="34" charset="-122"/>
                <a:cs typeface="Cambria" pitchFamily="34" charset="-120"/>
              </a:rPr>
              <a:t>LPIPS ↓</a:t>
            </a:r>
            <a:endParaRPr lang="en-US" sz="1700" dirty="0"/>
          </a:p>
        </p:txBody>
      </p:sp>
      <p:sp>
        <p:nvSpPr>
          <p:cNvPr id="24" name="Text 22"/>
          <p:cNvSpPr/>
          <p:nvPr/>
        </p:nvSpPr>
        <p:spPr>
          <a:xfrm>
            <a:off x="8339328" y="2103120"/>
            <a:ext cx="1554480" cy="237744"/>
          </a:xfrm>
          <a:prstGeom prst="rect">
            <a:avLst/>
          </a:prstGeom>
          <a:noFill/>
          <a:ln/>
        </p:spPr>
        <p:txBody>
          <a:bodyPr wrap="square" lIns="0" tIns="0" rIns="0" bIns="0" rtlCol="0" anchor="ctr"/>
          <a:lstStyle/>
          <a:p>
            <a:pPr indent="0" marL="0">
              <a:buNone/>
            </a:pPr>
            <a:r>
              <a:rPr lang="en-US" sz="1000" dirty="0">
                <a:solidFill>
                  <a:srgbClr val="5B7186"/>
                </a:solidFill>
                <a:latin typeface="Calibri" pitchFamily="34" charset="0"/>
                <a:ea typeface="Calibri" pitchFamily="34" charset="-122"/>
                <a:cs typeface="Calibri" pitchFamily="34" charset="-120"/>
              </a:rPr>
              <a:t>bicubic baseline</a:t>
            </a:r>
            <a:endParaRPr lang="en-US" sz="1000" dirty="0"/>
          </a:p>
        </p:txBody>
      </p:sp>
      <p:sp>
        <p:nvSpPr>
          <p:cNvPr id="25" name="Text 23"/>
          <p:cNvSpPr/>
          <p:nvPr/>
        </p:nvSpPr>
        <p:spPr>
          <a:xfrm>
            <a:off x="8339328" y="2322576"/>
            <a:ext cx="1554480" cy="384048"/>
          </a:xfrm>
          <a:prstGeom prst="rect">
            <a:avLst/>
          </a:prstGeom>
          <a:noFill/>
          <a:ln/>
        </p:spPr>
        <p:txBody>
          <a:bodyPr wrap="square" lIns="0" tIns="0" rIns="0" bIns="0" rtlCol="0" anchor="ctr"/>
          <a:lstStyle/>
          <a:p>
            <a:pPr indent="0" marL="0">
              <a:buNone/>
            </a:pPr>
            <a:r>
              <a:rPr lang="en-US" sz="1800" dirty="0">
                <a:solidFill>
                  <a:srgbClr val="5B7186"/>
                </a:solidFill>
                <a:latin typeface="Cambria" pitchFamily="34" charset="0"/>
                <a:ea typeface="Cambria" pitchFamily="34" charset="-122"/>
                <a:cs typeface="Cambria" pitchFamily="34" charset="-120"/>
              </a:rPr>
              <a:t>0.4395</a:t>
            </a:r>
            <a:endParaRPr lang="en-US" sz="1800" dirty="0"/>
          </a:p>
        </p:txBody>
      </p:sp>
      <p:sp>
        <p:nvSpPr>
          <p:cNvPr id="26" name="Text 24"/>
          <p:cNvSpPr/>
          <p:nvPr/>
        </p:nvSpPr>
        <p:spPr>
          <a:xfrm>
            <a:off x="9985248" y="2103120"/>
            <a:ext cx="1408176" cy="237744"/>
          </a:xfrm>
          <a:prstGeom prst="rect">
            <a:avLst/>
          </a:prstGeom>
          <a:noFill/>
          <a:ln/>
        </p:spPr>
        <p:txBody>
          <a:bodyPr wrap="square" lIns="0" tIns="0" rIns="0" bIns="0" rtlCol="0" anchor="ctr"/>
          <a:lstStyle/>
          <a:p>
            <a:pPr indent="0" marL="0">
              <a:buNone/>
            </a:pPr>
            <a:r>
              <a:rPr lang="en-US" sz="1000" b="1" dirty="0">
                <a:solidFill>
                  <a:srgbClr val="065A82"/>
                </a:solidFill>
                <a:latin typeface="Calibri" pitchFamily="34" charset="0"/>
                <a:ea typeface="Calibri" pitchFamily="34" charset="-122"/>
                <a:cs typeface="Calibri" pitchFamily="34" charset="-120"/>
              </a:rPr>
              <a:t>ours</a:t>
            </a:r>
            <a:endParaRPr lang="en-US" sz="1000" dirty="0"/>
          </a:p>
        </p:txBody>
      </p:sp>
      <p:sp>
        <p:nvSpPr>
          <p:cNvPr id="27" name="Text 25"/>
          <p:cNvSpPr/>
          <p:nvPr/>
        </p:nvSpPr>
        <p:spPr>
          <a:xfrm>
            <a:off x="9985248" y="2286000"/>
            <a:ext cx="1408176" cy="457200"/>
          </a:xfrm>
          <a:prstGeom prst="rect">
            <a:avLst/>
          </a:prstGeom>
          <a:noFill/>
          <a:ln/>
        </p:spPr>
        <p:txBody>
          <a:bodyPr wrap="square" lIns="0" tIns="0" rIns="0" bIns="0" rtlCol="0" anchor="ctr"/>
          <a:lstStyle/>
          <a:p>
            <a:pPr indent="0" marL="0">
              <a:buNone/>
            </a:pPr>
            <a:r>
              <a:rPr lang="en-US" sz="2200" b="1" dirty="0">
                <a:solidFill>
                  <a:srgbClr val="065A82"/>
                </a:solidFill>
                <a:latin typeface="Cambria" pitchFamily="34" charset="0"/>
                <a:ea typeface="Cambria" pitchFamily="34" charset="-122"/>
                <a:cs typeface="Cambria" pitchFamily="34" charset="-120"/>
              </a:rPr>
              <a:t>0.2676</a:t>
            </a:r>
            <a:endParaRPr lang="en-US" sz="2200" dirty="0"/>
          </a:p>
        </p:txBody>
      </p:sp>
      <p:sp>
        <p:nvSpPr>
          <p:cNvPr id="28" name="Shape 26"/>
          <p:cNvSpPr/>
          <p:nvPr/>
        </p:nvSpPr>
        <p:spPr>
          <a:xfrm>
            <a:off x="8339328" y="2871216"/>
            <a:ext cx="3054096" cy="310896"/>
          </a:xfrm>
          <a:prstGeom prst="roundRect">
            <a:avLst>
              <a:gd name="adj" fmla="val 50000"/>
            </a:avLst>
          </a:prstGeom>
          <a:solidFill>
            <a:srgbClr val="2E8B6F"/>
          </a:solidFill>
          <a:ln w="12700">
            <a:solidFill>
              <a:srgbClr val="2E8B6F"/>
            </a:solidFill>
            <a:prstDash val="solid"/>
          </a:ln>
        </p:spPr>
      </p:sp>
      <p:sp>
        <p:nvSpPr>
          <p:cNvPr id="29" name="Text 27"/>
          <p:cNvSpPr/>
          <p:nvPr/>
        </p:nvSpPr>
        <p:spPr>
          <a:xfrm>
            <a:off x="8339328" y="2871216"/>
            <a:ext cx="3054096"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improvement  −0.172</a:t>
            </a:r>
            <a:endParaRPr lang="en-US" sz="1050" dirty="0"/>
          </a:p>
        </p:txBody>
      </p:sp>
      <p:sp>
        <p:nvSpPr>
          <p:cNvPr id="30" name="Text 28"/>
          <p:cNvSpPr/>
          <p:nvPr/>
        </p:nvSpPr>
        <p:spPr>
          <a:xfrm>
            <a:off x="8339328" y="3310128"/>
            <a:ext cx="3054096" cy="640080"/>
          </a:xfrm>
          <a:prstGeom prst="rect">
            <a:avLst/>
          </a:prstGeom>
          <a:noFill/>
          <a:ln/>
        </p:spPr>
        <p:txBody>
          <a:bodyPr wrap="square" lIns="0" tIns="0" rIns="0" bIns="0" rtlCol="0" anchor="ctr"/>
          <a:lstStyle/>
          <a:p>
            <a:pPr indent="0" marL="0">
              <a:lnSpc>
                <a:spcPts val="1350"/>
              </a:lnSpc>
              <a:buNone/>
            </a:pPr>
            <a:r>
              <a:rPr lang="en-US" sz="1050" dirty="0">
                <a:solidFill>
                  <a:srgbClr val="5B7186"/>
                </a:solidFill>
                <a:latin typeface="Calibri" pitchFamily="34" charset="0"/>
                <a:ea typeface="Calibri" pitchFamily="34" charset="-122"/>
                <a:cs typeface="Calibri" pitchFamily="34" charset="-120"/>
              </a:rPr>
              <a:t>Perceptual distance (AlexNet). Lower is better.</a:t>
            </a:r>
            <a:endParaRPr lang="en-US" sz="1050" dirty="0"/>
          </a:p>
        </p:txBody>
      </p:sp>
      <p:sp>
        <p:nvSpPr>
          <p:cNvPr id="31" name="Shape 29"/>
          <p:cNvSpPr/>
          <p:nvPr/>
        </p:nvSpPr>
        <p:spPr>
          <a:xfrm>
            <a:off x="566928" y="4370832"/>
            <a:ext cx="5394960" cy="1572768"/>
          </a:xfrm>
          <a:prstGeom prst="roundRect">
            <a:avLst>
              <a:gd name="adj" fmla="val 3488"/>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32" name="Text 30"/>
          <p:cNvSpPr/>
          <p:nvPr/>
        </p:nvSpPr>
        <p:spPr>
          <a:xfrm>
            <a:off x="822960" y="4517136"/>
            <a:ext cx="4882896" cy="292608"/>
          </a:xfrm>
          <a:prstGeom prst="rect">
            <a:avLst/>
          </a:prstGeom>
          <a:noFill/>
          <a:ln/>
        </p:spPr>
        <p:txBody>
          <a:bodyPr wrap="square" lIns="0" tIns="0" rIns="0" bIns="0" rtlCol="0" anchor="ctr"/>
          <a:lstStyle/>
          <a:p>
            <a:pPr indent="0" marL="0">
              <a:buNone/>
            </a:pPr>
            <a:r>
              <a:rPr lang="en-US" sz="1350" b="1" dirty="0">
                <a:solidFill>
                  <a:srgbClr val="13202E"/>
                </a:solidFill>
                <a:latin typeface="Cambria" pitchFamily="34" charset="0"/>
                <a:ea typeface="Cambria" pitchFamily="34" charset="-122"/>
                <a:cs typeface="Cambria" pitchFamily="34" charset="-120"/>
              </a:rPr>
              <a:t>Metrics are computed on the saved files</a:t>
            </a:r>
            <a:endParaRPr lang="en-US" sz="1350" dirty="0"/>
          </a:p>
        </p:txBody>
      </p:sp>
      <p:sp>
        <p:nvSpPr>
          <p:cNvPr id="33" name="Text 31"/>
          <p:cNvSpPr/>
          <p:nvPr/>
        </p:nvSpPr>
        <p:spPr>
          <a:xfrm>
            <a:off x="822960" y="4828032"/>
            <a:ext cx="4882896" cy="914400"/>
          </a:xfrm>
          <a:prstGeom prst="rect">
            <a:avLst/>
          </a:prstGeom>
          <a:noFill/>
          <a:ln/>
        </p:spPr>
        <p:txBody>
          <a:bodyPr wrap="square" lIns="0" tIns="0" rIns="0" bIns="0" rtlCol="0" anchor="ctr"/>
          <a:lstStyle/>
          <a:p>
            <a:pPr indent="0" marL="0">
              <a:lnSpc>
                <a:spcPts val="1450"/>
              </a:lnSpc>
              <a:buNone/>
            </a:pPr>
            <a:r>
              <a:rPr lang="en-US" sz="1100" dirty="0">
                <a:solidFill>
                  <a:srgbClr val="5B7186"/>
                </a:solidFill>
                <a:latin typeface="Calibri" pitchFamily="34" charset="0"/>
                <a:ea typeface="Calibri" pitchFamily="34" charset="-122"/>
                <a:cs typeface="Calibri" pitchFamily="34" charset="-120"/>
              </a:rPr>
              <a:t>scripts/evaluate.py reads the written .npy outputs back off disk rather than scoring in-memory tensors, so any dtype or range loss at save time is captured in the number we report.</a:t>
            </a:r>
            <a:endParaRPr lang="en-US" sz="1100" dirty="0"/>
          </a:p>
        </p:txBody>
      </p:sp>
      <p:sp>
        <p:nvSpPr>
          <p:cNvPr id="34" name="Shape 32"/>
          <p:cNvSpPr/>
          <p:nvPr/>
        </p:nvSpPr>
        <p:spPr>
          <a:xfrm>
            <a:off x="6236208" y="4370832"/>
            <a:ext cx="5376672" cy="1572768"/>
          </a:xfrm>
          <a:prstGeom prst="roundRect">
            <a:avLst>
              <a:gd name="adj" fmla="val 3488"/>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35" name="Text 33"/>
          <p:cNvSpPr/>
          <p:nvPr/>
        </p:nvSpPr>
        <p:spPr>
          <a:xfrm>
            <a:off x="6492240" y="4517136"/>
            <a:ext cx="4882896" cy="292608"/>
          </a:xfrm>
          <a:prstGeom prst="rect">
            <a:avLst/>
          </a:prstGeom>
          <a:noFill/>
          <a:ln/>
        </p:spPr>
        <p:txBody>
          <a:bodyPr wrap="square" lIns="0" tIns="0" rIns="0" bIns="0" rtlCol="0" anchor="ctr"/>
          <a:lstStyle/>
          <a:p>
            <a:pPr indent="0" marL="0">
              <a:buNone/>
            </a:pPr>
            <a:r>
              <a:rPr lang="en-US" sz="1350" b="1" dirty="0">
                <a:solidFill>
                  <a:srgbClr val="13202E"/>
                </a:solidFill>
                <a:latin typeface="Cambria" pitchFamily="34" charset="0"/>
                <a:ea typeface="Cambria" pitchFamily="34" charset="-122"/>
                <a:cs typeface="Cambria" pitchFamily="34" charset="-120"/>
              </a:rPr>
              <a:t>Our metric code is validated, not trusted</a:t>
            </a:r>
            <a:endParaRPr lang="en-US" sz="1350" dirty="0"/>
          </a:p>
        </p:txBody>
      </p:sp>
      <p:sp>
        <p:nvSpPr>
          <p:cNvPr id="36" name="Text 34"/>
          <p:cNvSpPr/>
          <p:nvPr/>
        </p:nvSpPr>
        <p:spPr>
          <a:xfrm>
            <a:off x="6492240" y="4828032"/>
            <a:ext cx="4882896" cy="914400"/>
          </a:xfrm>
          <a:prstGeom prst="rect">
            <a:avLst/>
          </a:prstGeom>
          <a:noFill/>
          <a:ln/>
        </p:spPr>
        <p:txBody>
          <a:bodyPr wrap="square" lIns="0" tIns="0" rIns="0" bIns="0" rtlCol="0" anchor="ctr"/>
          <a:lstStyle/>
          <a:p>
            <a:pPr indent="0" marL="0">
              <a:lnSpc>
                <a:spcPts val="1450"/>
              </a:lnSpc>
              <a:buNone/>
            </a:pPr>
            <a:r>
              <a:rPr lang="en-US" sz="1100" dirty="0">
                <a:solidFill>
                  <a:srgbClr val="5B7186"/>
                </a:solidFill>
                <a:latin typeface="Calibri" pitchFamily="34" charset="0"/>
                <a:ea typeface="Calibri" pitchFamily="34" charset="-122"/>
                <a:cs typeface="Calibri" pitchFamily="34" charset="-120"/>
              </a:rPr>
              <a:t>PSNR and SSIM are implemented in torch, then checked against scikit-image across six noise levels. Maximum deviation: 1.6e-07 (SSIM) and 9.0e-07 (PSNR) — the numbers are not an artefact of a custom implementation.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66928" y="384048"/>
            <a:ext cx="11055096" cy="566928"/>
          </a:xfrm>
          <a:prstGeom prst="rect">
            <a:avLst/>
          </a:prstGeom>
          <a:noFill/>
          <a:ln/>
        </p:spPr>
        <p:txBody>
          <a:bodyPr wrap="square" lIns="0" tIns="0" rIns="0" bIns="0" rtlCol="0" anchor="ctr"/>
          <a:lstStyle/>
          <a:p>
            <a:pPr indent="0" marL="0">
              <a:buNone/>
            </a:pPr>
            <a:r>
              <a:rPr lang="en-US" sz="3200" b="1" dirty="0">
                <a:solidFill>
                  <a:srgbClr val="13202E"/>
                </a:solidFill>
                <a:latin typeface="Cambria" pitchFamily="34" charset="0"/>
                <a:ea typeface="Cambria" pitchFamily="34" charset="-122"/>
                <a:cs typeface="Cambria" pitchFamily="34" charset="-120"/>
              </a:rPr>
              <a:t>Runtime and optimization</a:t>
            </a:r>
            <a:endParaRPr lang="en-US" sz="3200" dirty="0"/>
          </a:p>
        </p:txBody>
      </p:sp>
      <p:sp>
        <p:nvSpPr>
          <p:cNvPr id="3" name="Text 1"/>
          <p:cNvSpPr/>
          <p:nvPr/>
        </p:nvSpPr>
        <p:spPr>
          <a:xfrm>
            <a:off x="566928" y="941832"/>
            <a:ext cx="11055096" cy="292608"/>
          </a:xfrm>
          <a:prstGeom prst="rect">
            <a:avLst/>
          </a:prstGeom>
          <a:noFill/>
          <a:ln/>
        </p:spPr>
        <p:txBody>
          <a:bodyPr wrap="square" lIns="0" tIns="0" rIns="0" bIns="0" rtlCol="0" anchor="ctr"/>
          <a:lstStyle/>
          <a:p>
            <a:pPr indent="0" marL="0">
              <a:buNone/>
            </a:pPr>
            <a:r>
              <a:rPr lang="en-US" sz="1350" i="1" dirty="0">
                <a:solidFill>
                  <a:srgbClr val="5B7186"/>
                </a:solidFill>
                <a:latin typeface="Calibri" pitchFamily="34" charset="0"/>
                <a:ea typeface="Calibri" pitchFamily="34" charset="-122"/>
                <a:cs typeface="Calibri" pitchFamily="34" charset="-120"/>
              </a:rPr>
              <a:t>Throughput is scored end-to-end — including disk read and file writing</a:t>
            </a:r>
            <a:endParaRPr lang="en-US" sz="1350" dirty="0"/>
          </a:p>
        </p:txBody>
      </p:sp>
      <p:sp>
        <p:nvSpPr>
          <p:cNvPr id="4" name="Shape 2"/>
          <p:cNvSpPr/>
          <p:nvPr/>
        </p:nvSpPr>
        <p:spPr>
          <a:xfrm>
            <a:off x="566928" y="1517904"/>
            <a:ext cx="2615184" cy="1188720"/>
          </a:xfrm>
          <a:prstGeom prst="roundRect">
            <a:avLst>
              <a:gd name="adj" fmla="val 4615"/>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5" name="Text 3"/>
          <p:cNvSpPr/>
          <p:nvPr/>
        </p:nvSpPr>
        <p:spPr>
          <a:xfrm>
            <a:off x="566928" y="1664208"/>
            <a:ext cx="2615184" cy="603504"/>
          </a:xfrm>
          <a:prstGeom prst="rect">
            <a:avLst/>
          </a:prstGeom>
          <a:noFill/>
          <a:ln/>
        </p:spPr>
        <p:txBody>
          <a:bodyPr wrap="square" lIns="0" tIns="0" rIns="0" bIns="0"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171.3</a:t>
            </a:r>
            <a:endParaRPr lang="en-US" sz="3400" dirty="0"/>
          </a:p>
        </p:txBody>
      </p:sp>
      <p:sp>
        <p:nvSpPr>
          <p:cNvPr id="6" name="Text 4"/>
          <p:cNvSpPr/>
          <p:nvPr/>
        </p:nvSpPr>
        <p:spPr>
          <a:xfrm>
            <a:off x="566928" y="2231136"/>
            <a:ext cx="2615184" cy="365760"/>
          </a:xfrm>
          <a:prstGeom prst="rect">
            <a:avLst/>
          </a:prstGeom>
          <a:noFill/>
          <a:ln/>
        </p:spPr>
        <p:txBody>
          <a:bodyPr wrap="square" lIns="0" tIns="0" rIns="0" bIns="0" rtlCol="0" anchor="ctr"/>
          <a:lstStyle/>
          <a:p>
            <a:pPr algn="ctr" indent="0" marL="0">
              <a:buNone/>
            </a:pPr>
            <a:r>
              <a:rPr lang="en-US" sz="1100" dirty="0">
                <a:solidFill>
                  <a:srgbClr val="5B7186"/>
                </a:solidFill>
                <a:latin typeface="Calibri" pitchFamily="34" charset="0"/>
                <a:ea typeface="Calibri" pitchFamily="34" charset="-122"/>
                <a:cs typeface="Calibri" pitchFamily="34" charset="-120"/>
              </a:rPr>
              <a:t>images / sec</a:t>
            </a:r>
            <a:endParaRPr lang="en-US" sz="1100" dirty="0"/>
          </a:p>
        </p:txBody>
      </p:sp>
      <p:sp>
        <p:nvSpPr>
          <p:cNvPr id="7" name="Shape 5"/>
          <p:cNvSpPr/>
          <p:nvPr/>
        </p:nvSpPr>
        <p:spPr>
          <a:xfrm>
            <a:off x="3401568" y="1517904"/>
            <a:ext cx="2615184" cy="1188720"/>
          </a:xfrm>
          <a:prstGeom prst="roundRect">
            <a:avLst>
              <a:gd name="adj" fmla="val 4615"/>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8" name="Text 6"/>
          <p:cNvSpPr/>
          <p:nvPr/>
        </p:nvSpPr>
        <p:spPr>
          <a:xfrm>
            <a:off x="3401568" y="1664208"/>
            <a:ext cx="2615184" cy="603504"/>
          </a:xfrm>
          <a:prstGeom prst="rect">
            <a:avLst/>
          </a:prstGeom>
          <a:noFill/>
          <a:ln/>
        </p:spPr>
        <p:txBody>
          <a:bodyPr wrap="square" lIns="0" tIns="0" rIns="0" bIns="0"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2.34 s</a:t>
            </a:r>
            <a:endParaRPr lang="en-US" sz="3400" dirty="0"/>
          </a:p>
        </p:txBody>
      </p:sp>
      <p:sp>
        <p:nvSpPr>
          <p:cNvPr id="9" name="Text 7"/>
          <p:cNvSpPr/>
          <p:nvPr/>
        </p:nvSpPr>
        <p:spPr>
          <a:xfrm>
            <a:off x="3401568" y="2231136"/>
            <a:ext cx="2615184" cy="365760"/>
          </a:xfrm>
          <a:prstGeom prst="rect">
            <a:avLst/>
          </a:prstGeom>
          <a:noFill/>
          <a:ln/>
        </p:spPr>
        <p:txBody>
          <a:bodyPr wrap="square" lIns="0" tIns="0" rIns="0" bIns="0" rtlCol="0" anchor="ctr"/>
          <a:lstStyle/>
          <a:p>
            <a:pPr algn="ctr" indent="0" marL="0">
              <a:buNone/>
            </a:pPr>
            <a:r>
              <a:rPr lang="en-US" sz="1100" dirty="0">
                <a:solidFill>
                  <a:srgbClr val="5B7186"/>
                </a:solidFill>
                <a:latin typeface="Calibri" pitchFamily="34" charset="0"/>
                <a:ea typeface="Calibri" pitchFamily="34" charset="-122"/>
                <a:cs typeface="Calibri" pitchFamily="34" charset="-120"/>
              </a:rPr>
              <a:t>for 400 test images</a:t>
            </a:r>
            <a:endParaRPr lang="en-US" sz="1100" dirty="0"/>
          </a:p>
        </p:txBody>
      </p:sp>
      <p:sp>
        <p:nvSpPr>
          <p:cNvPr id="10" name="Shape 8"/>
          <p:cNvSpPr/>
          <p:nvPr/>
        </p:nvSpPr>
        <p:spPr>
          <a:xfrm>
            <a:off x="6236208" y="1517904"/>
            <a:ext cx="2615184" cy="1188720"/>
          </a:xfrm>
          <a:prstGeom prst="roundRect">
            <a:avLst>
              <a:gd name="adj" fmla="val 4615"/>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11" name="Text 9"/>
          <p:cNvSpPr/>
          <p:nvPr/>
        </p:nvSpPr>
        <p:spPr>
          <a:xfrm>
            <a:off x="6236208" y="1664208"/>
            <a:ext cx="2615184" cy="603504"/>
          </a:xfrm>
          <a:prstGeom prst="rect">
            <a:avLst/>
          </a:prstGeom>
          <a:noFill/>
          <a:ln/>
        </p:spPr>
        <p:txBody>
          <a:bodyPr wrap="square" lIns="0" tIns="0" rIns="0" bIns="0"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4.98 ms</a:t>
            </a:r>
            <a:endParaRPr lang="en-US" sz="3400" dirty="0"/>
          </a:p>
        </p:txBody>
      </p:sp>
      <p:sp>
        <p:nvSpPr>
          <p:cNvPr id="12" name="Text 10"/>
          <p:cNvSpPr/>
          <p:nvPr/>
        </p:nvSpPr>
        <p:spPr>
          <a:xfrm>
            <a:off x="6236208" y="2231136"/>
            <a:ext cx="2615184" cy="365760"/>
          </a:xfrm>
          <a:prstGeom prst="rect">
            <a:avLst/>
          </a:prstGeom>
          <a:noFill/>
          <a:ln/>
        </p:spPr>
        <p:txBody>
          <a:bodyPr wrap="square" lIns="0" tIns="0" rIns="0" bIns="0" rtlCol="0" anchor="ctr"/>
          <a:lstStyle/>
          <a:p>
            <a:pPr algn="ctr" indent="0" marL="0">
              <a:buNone/>
            </a:pPr>
            <a:r>
              <a:rPr lang="en-US" sz="1100" dirty="0">
                <a:solidFill>
                  <a:srgbClr val="5B7186"/>
                </a:solidFill>
                <a:latin typeface="Calibri" pitchFamily="34" charset="0"/>
                <a:ea typeface="Calibri" pitchFamily="34" charset="-122"/>
                <a:cs typeface="Calibri" pitchFamily="34" charset="-120"/>
              </a:rPr>
              <a:t>forward, per image</a:t>
            </a:r>
            <a:endParaRPr lang="en-US" sz="1100" dirty="0"/>
          </a:p>
        </p:txBody>
      </p:sp>
      <p:sp>
        <p:nvSpPr>
          <p:cNvPr id="13" name="Shape 11"/>
          <p:cNvSpPr/>
          <p:nvPr/>
        </p:nvSpPr>
        <p:spPr>
          <a:xfrm>
            <a:off x="9070848" y="1517904"/>
            <a:ext cx="2615184" cy="1188720"/>
          </a:xfrm>
          <a:prstGeom prst="roundRect">
            <a:avLst>
              <a:gd name="adj" fmla="val 4615"/>
            </a:avLst>
          </a:prstGeom>
          <a:solidFill>
            <a:srgbClr val="FFFFFF"/>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14" name="Text 12"/>
          <p:cNvSpPr/>
          <p:nvPr/>
        </p:nvSpPr>
        <p:spPr>
          <a:xfrm>
            <a:off x="9070848" y="1664208"/>
            <a:ext cx="2615184" cy="603504"/>
          </a:xfrm>
          <a:prstGeom prst="rect">
            <a:avLst/>
          </a:prstGeom>
          <a:noFill/>
          <a:ln/>
        </p:spPr>
        <p:txBody>
          <a:bodyPr wrap="square" lIns="0" tIns="0" rIns="0" bIns="0"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4.02 M</a:t>
            </a:r>
            <a:endParaRPr lang="en-US" sz="3400" dirty="0"/>
          </a:p>
        </p:txBody>
      </p:sp>
      <p:sp>
        <p:nvSpPr>
          <p:cNvPr id="15" name="Text 13"/>
          <p:cNvSpPr/>
          <p:nvPr/>
        </p:nvSpPr>
        <p:spPr>
          <a:xfrm>
            <a:off x="9070848" y="2231136"/>
            <a:ext cx="2615184" cy="365760"/>
          </a:xfrm>
          <a:prstGeom prst="rect">
            <a:avLst/>
          </a:prstGeom>
          <a:noFill/>
          <a:ln/>
        </p:spPr>
        <p:txBody>
          <a:bodyPr wrap="square" lIns="0" tIns="0" rIns="0" bIns="0" rtlCol="0" anchor="ctr"/>
          <a:lstStyle/>
          <a:p>
            <a:pPr algn="ctr" indent="0" marL="0">
              <a:buNone/>
            </a:pPr>
            <a:r>
              <a:rPr lang="en-US" sz="1100" dirty="0">
                <a:solidFill>
                  <a:srgbClr val="5B7186"/>
                </a:solidFill>
                <a:latin typeface="Calibri" pitchFamily="34" charset="0"/>
                <a:ea typeface="Calibri" pitchFamily="34" charset="-122"/>
                <a:cs typeface="Calibri" pitchFamily="34" charset="-120"/>
              </a:rPr>
              <a:t>parameters</a:t>
            </a:r>
            <a:endParaRPr lang="en-US" sz="1100" dirty="0"/>
          </a:p>
        </p:txBody>
      </p:sp>
      <p:sp>
        <p:nvSpPr>
          <p:cNvPr id="16" name="Text 14"/>
          <p:cNvSpPr/>
          <p:nvPr/>
        </p:nvSpPr>
        <p:spPr>
          <a:xfrm>
            <a:off x="566928" y="2944368"/>
            <a:ext cx="5486400" cy="329184"/>
          </a:xfrm>
          <a:prstGeom prst="rect">
            <a:avLst/>
          </a:prstGeom>
          <a:noFill/>
          <a:ln/>
        </p:spPr>
        <p:txBody>
          <a:bodyPr wrap="square" lIns="0" tIns="0" rIns="0" bIns="0" rtlCol="0" anchor="ctr"/>
          <a:lstStyle/>
          <a:p>
            <a:pPr indent="0" marL="0">
              <a:buNone/>
            </a:pPr>
            <a:r>
              <a:rPr lang="en-US" sz="1600" b="1" dirty="0">
                <a:solidFill>
                  <a:srgbClr val="13202E"/>
                </a:solidFill>
                <a:latin typeface="Cambria" pitchFamily="34" charset="0"/>
                <a:ea typeface="Cambria" pitchFamily="34" charset="-122"/>
                <a:cs typeface="Cambria" pitchFamily="34" charset="-120"/>
              </a:rPr>
              <a:t>What we did to make it fast</a:t>
            </a:r>
            <a:endParaRPr lang="en-US" sz="1600" dirty="0"/>
          </a:p>
        </p:txBody>
      </p:sp>
      <p:sp>
        <p:nvSpPr>
          <p:cNvPr id="17" name="Text 15"/>
          <p:cNvSpPr/>
          <p:nvPr/>
        </p:nvSpPr>
        <p:spPr>
          <a:xfrm>
            <a:off x="566928" y="3328416"/>
            <a:ext cx="5486400" cy="219456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150" dirty="0">
                <a:solidFill>
                  <a:srgbClr val="13202E"/>
                </a:solidFill>
                <a:latin typeface="Calibri" pitchFamily="34" charset="0"/>
                <a:ea typeface="Calibri" pitchFamily="34" charset="-122"/>
                <a:cs typeface="Calibri" pitchFamily="34" charset="-120"/>
              </a:rPr>
              <a:t>Post-upsampling design — the network runs at LR resolution, so the expensive layers never see 256×256</a:t>
            </a:r>
            <a:endParaRPr lang="en-US" sz="1150" dirty="0"/>
          </a:p>
          <a:p>
            <a:pPr marL="342900" indent="-342900">
              <a:lnSpc>
                <a:spcPts val="1700"/>
              </a:lnSpc>
              <a:spcAft>
                <a:spcPts val="700"/>
              </a:spcAft>
              <a:buSzPct val="100000"/>
              <a:buChar char="•"/>
            </a:pPr>
            <a:r>
              <a:rPr lang="en-US" sz="1150" dirty="0">
                <a:solidFill>
                  <a:srgbClr val="13202E"/>
                </a:solidFill>
                <a:latin typeface="Calibri" pitchFamily="34" charset="0"/>
                <a:ea typeface="Calibri" pitchFamily="34" charset="-122"/>
                <a:cs typeface="Calibri" pitchFamily="34" charset="-120"/>
              </a:rPr>
              <a:t>Threaded output writing: single-threaded encoding is the classic hidden bottleneck in exactly this task</a:t>
            </a:r>
            <a:endParaRPr lang="en-US" sz="1150" dirty="0"/>
          </a:p>
          <a:p>
            <a:pPr marL="342900" indent="-342900">
              <a:lnSpc>
                <a:spcPts val="1700"/>
              </a:lnSpc>
              <a:spcAft>
                <a:spcPts val="700"/>
              </a:spcAft>
              <a:buSzPct val="100000"/>
              <a:buChar char="•"/>
            </a:pPr>
            <a:r>
              <a:rPr lang="en-US" sz="1150" dirty="0">
                <a:solidFill>
                  <a:srgbClr val="13202E"/>
                </a:solidFill>
                <a:latin typeface="Calibri" pitchFamily="34" charset="0"/>
                <a:ea typeface="Calibri" pitchFamily="34" charset="-122"/>
                <a:cs typeface="Calibri" pitchFamily="34" charset="-120"/>
              </a:rPr>
              <a:t>torch.inference_mode(), channels_last, bf16 autocast, TF32</a:t>
            </a:r>
            <a:endParaRPr lang="en-US" sz="1150" dirty="0"/>
          </a:p>
          <a:p>
            <a:pPr marL="342900" indent="-342900">
              <a:lnSpc>
                <a:spcPts val="1700"/>
              </a:lnSpc>
              <a:spcAft>
                <a:spcPts val="700"/>
              </a:spcAft>
              <a:buSzPct val="100000"/>
              <a:buChar char="•"/>
            </a:pPr>
            <a:r>
              <a:rPr lang="en-US" sz="1150" dirty="0">
                <a:solidFill>
                  <a:srgbClr val="13202E"/>
                </a:solidFill>
                <a:latin typeface="Calibri" pitchFamily="34" charset="0"/>
                <a:ea typeface="Calibri" pitchFamily="34" charset="-122"/>
                <a:cs typeface="Calibri" pitchFamily="34" charset="-120"/>
              </a:rPr>
              <a:t>Images grouped by shape so mixed resolutions batch cleanly</a:t>
            </a:r>
            <a:endParaRPr lang="en-US" sz="1150" dirty="0"/>
          </a:p>
          <a:p>
            <a:pPr marL="342900" indent="-342900">
              <a:lnSpc>
                <a:spcPts val="1700"/>
              </a:lnSpc>
              <a:spcAft>
                <a:spcPts val="700"/>
              </a:spcAft>
              <a:buSzPct val="100000"/>
              <a:buChar char="•"/>
            </a:pPr>
            <a:r>
              <a:rPr lang="en-US" sz="1150" dirty="0">
                <a:solidFill>
                  <a:srgbClr val="13202E"/>
                </a:solidFill>
                <a:latin typeface="Calibri" pitchFamily="34" charset="0"/>
                <a:ea typeface="Calibri" pitchFamily="34" charset="-122"/>
                <a:cs typeface="Calibri" pitchFamily="34" charset="-120"/>
              </a:rPr>
              <a:t>Pinned-memory reads overlap disk I/O with compute</a:t>
            </a:r>
            <a:endParaRPr lang="en-US" sz="1150" dirty="0"/>
          </a:p>
        </p:txBody>
      </p:sp>
      <p:sp>
        <p:nvSpPr>
          <p:cNvPr id="18" name="Shape 16"/>
          <p:cNvSpPr/>
          <p:nvPr/>
        </p:nvSpPr>
        <p:spPr>
          <a:xfrm>
            <a:off x="6355080" y="3328416"/>
            <a:ext cx="5303520" cy="2194560"/>
          </a:xfrm>
          <a:prstGeom prst="roundRect">
            <a:avLst>
              <a:gd name="adj" fmla="val 2500"/>
            </a:avLst>
          </a:prstGeom>
          <a:solidFill>
            <a:srgbClr val="FFF4E8"/>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19" name="Text 17"/>
          <p:cNvSpPr/>
          <p:nvPr/>
        </p:nvSpPr>
        <p:spPr>
          <a:xfrm>
            <a:off x="6611112" y="3493008"/>
            <a:ext cx="4791456" cy="292608"/>
          </a:xfrm>
          <a:prstGeom prst="rect">
            <a:avLst/>
          </a:prstGeom>
          <a:noFill/>
          <a:ln/>
        </p:spPr>
        <p:txBody>
          <a:bodyPr wrap="square" lIns="0" tIns="0" rIns="0" bIns="0" rtlCol="0" anchor="ctr"/>
          <a:lstStyle/>
          <a:p>
            <a:pPr indent="0" marL="0">
              <a:buNone/>
            </a:pPr>
            <a:r>
              <a:rPr lang="en-US" sz="1400" b="1" dirty="0">
                <a:solidFill>
                  <a:srgbClr val="9C5A1E"/>
                </a:solidFill>
                <a:latin typeface="Cambria" pitchFamily="34" charset="0"/>
                <a:ea typeface="Cambria" pitchFamily="34" charset="-122"/>
                <a:cs typeface="Cambria" pitchFamily="34" charset="-120"/>
              </a:rPr>
              <a:t>Honest caveat on these numbers</a:t>
            </a:r>
            <a:endParaRPr lang="en-US" sz="1400" dirty="0"/>
          </a:p>
        </p:txBody>
      </p:sp>
      <p:sp>
        <p:nvSpPr>
          <p:cNvPr id="20" name="Text 18"/>
          <p:cNvSpPr/>
          <p:nvPr/>
        </p:nvSpPr>
        <p:spPr>
          <a:xfrm>
            <a:off x="6611112" y="3822192"/>
            <a:ext cx="4791456" cy="1591056"/>
          </a:xfrm>
          <a:prstGeom prst="rect">
            <a:avLst/>
          </a:prstGeom>
          <a:noFill/>
          <a:ln/>
        </p:spPr>
        <p:txBody>
          <a:bodyPr wrap="square" lIns="0" tIns="0" rIns="0" bIns="0" rtlCol="0" anchor="ctr"/>
          <a:lstStyle/>
          <a:p>
            <a:pPr indent="0" marL="0">
              <a:lnSpc>
                <a:spcPts val="1400"/>
              </a:lnSpc>
              <a:buNone/>
            </a:pPr>
            <a:r>
              <a:rPr lang="en-US" sz="1050" dirty="0">
                <a:solidFill>
                  <a:srgbClr val="8A5A2B"/>
                </a:solidFill>
                <a:latin typeface="Calibri" pitchFamily="34" charset="0"/>
                <a:ea typeface="Calibri" pitchFamily="34" charset="-122"/>
                <a:cs typeface="Calibri" pitchFamily="34" charset="-120"/>
              </a:rPr>
              <a:t>All timings were measured on an RTX 4050 Laptop GPU (6 GB, sm_89), not on an H100. They should be read as relative — showing where the time goes and that no stage is pathological — not as a prediction of evaluation-hardware throughput.</a:t>
            </a:r>
            <a:endParaRPr lang="en-US" sz="1050" dirty="0"/>
          </a:p>
          <a:p>
            <a:pPr indent="0" marL="0">
              <a:lnSpc>
                <a:spcPts val="1400"/>
              </a:lnSpc>
              <a:buNone/>
            </a:pPr>
            <a:endParaRPr lang="en-US" sz="1050" dirty="0"/>
          </a:p>
          <a:p>
            <a:pPr indent="0" marL="0">
              <a:lnSpc>
                <a:spcPts val="1400"/>
              </a:lnSpc>
              <a:buNone/>
            </a:pPr>
            <a:r>
              <a:rPr lang="en-US" sz="1050" dirty="0">
                <a:solidFill>
                  <a:srgbClr val="8A5A2B"/>
                </a:solidFill>
                <a:latin typeface="Calibri" pitchFamily="34" charset="0"/>
                <a:ea typeface="Calibri" pitchFamily="34" charset="-122"/>
                <a:cs typeface="Calibri" pitchFamily="34" charset="-120"/>
              </a:rPr>
              <a:t>Method: CUDA events with explicit synchronize, warmup passes discarded, median of repeated runs, full per-stage breakdown in results/runtime_report.md.</a:t>
            </a:r>
            <a:endParaRPr lang="en-US" sz="1050" dirty="0"/>
          </a:p>
        </p:txBody>
      </p:sp>
      <p:sp>
        <p:nvSpPr>
          <p:cNvPr id="21" name="Text 19"/>
          <p:cNvSpPr/>
          <p:nvPr/>
        </p:nvSpPr>
        <p:spPr>
          <a:xfrm>
            <a:off x="566928" y="5760720"/>
            <a:ext cx="11055096" cy="32918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Per-stage breakdown — read · preprocess · H2D · forward · D2H · write — is reported in results/runtime_report.md.</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66928" y="384048"/>
            <a:ext cx="11055096" cy="566928"/>
          </a:xfrm>
          <a:prstGeom prst="rect">
            <a:avLst/>
          </a:prstGeom>
          <a:noFill/>
          <a:ln/>
        </p:spPr>
        <p:txBody>
          <a:bodyPr wrap="square" lIns="0" tIns="0" rIns="0" bIns="0" rtlCol="0" anchor="ctr"/>
          <a:lstStyle/>
          <a:p>
            <a:pPr indent="0" marL="0">
              <a:buNone/>
            </a:pPr>
            <a:r>
              <a:rPr lang="en-US" sz="3200" b="1" dirty="0">
                <a:solidFill>
                  <a:srgbClr val="13202E"/>
                </a:solidFill>
                <a:latin typeface="Cambria" pitchFamily="34" charset="0"/>
                <a:ea typeface="Cambria" pitchFamily="34" charset="-122"/>
                <a:cs typeface="Cambria" pitchFamily="34" charset="-120"/>
              </a:rPr>
              <a:t>Visual results and failure cases</a:t>
            </a:r>
            <a:endParaRPr lang="en-US" sz="3200" dirty="0"/>
          </a:p>
        </p:txBody>
      </p:sp>
      <p:sp>
        <p:nvSpPr>
          <p:cNvPr id="3" name="Text 1"/>
          <p:cNvSpPr/>
          <p:nvPr/>
        </p:nvSpPr>
        <p:spPr>
          <a:xfrm>
            <a:off x="566928" y="941832"/>
            <a:ext cx="11055096" cy="292608"/>
          </a:xfrm>
          <a:prstGeom prst="rect">
            <a:avLst/>
          </a:prstGeom>
          <a:noFill/>
          <a:ln/>
        </p:spPr>
        <p:txBody>
          <a:bodyPr wrap="square" lIns="0" tIns="0" rIns="0" bIns="0" rtlCol="0" anchor="ctr"/>
          <a:lstStyle/>
          <a:p>
            <a:pPr indent="0" marL="0">
              <a:buNone/>
            </a:pPr>
            <a:r>
              <a:rPr lang="en-US" sz="1350" i="1" dirty="0">
                <a:solidFill>
                  <a:srgbClr val="5B7186"/>
                </a:solidFill>
                <a:latin typeface="Calibri" pitchFamily="34" charset="0"/>
                <a:ea typeface="Calibri" pitchFamily="34" charset="-122"/>
                <a:cs typeface="Calibri" pitchFamily="34" charset="-120"/>
              </a:rPr>
              <a:t>Looking at the images, not only at the averages</a:t>
            </a:r>
            <a:endParaRPr lang="en-US" sz="1350" dirty="0"/>
          </a:p>
        </p:txBody>
      </p:sp>
      <p:pic>
        <p:nvPicPr>
          <p:cNvPr id="4" name="Image 0" descr="C:\Users\mdsha\Downloads\KLA Hackathon\kla-restoration\results\figures\qualitative_typical.png">    </p:cNvPr>
          <p:cNvPicPr>
            <a:picLocks noChangeAspect="1"/>
          </p:cNvPicPr>
          <p:nvPr/>
        </p:nvPicPr>
        <p:blipFill>
          <a:blip r:embed="rId1"/>
          <a:stretch>
            <a:fillRect/>
          </a:stretch>
        </p:blipFill>
        <p:spPr>
          <a:xfrm>
            <a:off x="566928" y="1463040"/>
            <a:ext cx="5486400" cy="3246120"/>
          </a:xfrm>
          <a:prstGeom prst="rect">
            <a:avLst/>
          </a:prstGeom>
        </p:spPr>
      </p:pic>
      <p:sp>
        <p:nvSpPr>
          <p:cNvPr id="5" name="Text 2"/>
          <p:cNvSpPr/>
          <p:nvPr/>
        </p:nvSpPr>
        <p:spPr>
          <a:xfrm>
            <a:off x="566928" y="4754880"/>
            <a:ext cx="5486400" cy="274320"/>
          </a:xfrm>
          <a:prstGeom prst="rect">
            <a:avLst/>
          </a:prstGeom>
          <a:noFill/>
          <a:ln/>
        </p:spPr>
        <p:txBody>
          <a:bodyPr wrap="square" lIns="0" tIns="0" rIns="0" bIns="0" rtlCol="0" anchor="ctr"/>
          <a:lstStyle/>
          <a:p>
            <a:pPr indent="0" marL="0">
              <a:buNone/>
            </a:pPr>
            <a:r>
              <a:rPr lang="en-US" sz="1050" i="1" dirty="0">
                <a:solidFill>
                  <a:srgbClr val="5B7186"/>
                </a:solidFill>
                <a:latin typeface="Calibri" pitchFamily="34" charset="0"/>
                <a:ea typeface="Calibri" pitchFamily="34" charset="-122"/>
                <a:cs typeface="Calibri" pitchFamily="34" charset="-120"/>
              </a:rPr>
              <a:t>Typical cases — median-PSNR validation images</a:t>
            </a:r>
            <a:endParaRPr lang="en-US" sz="1050" dirty="0"/>
          </a:p>
        </p:txBody>
      </p:sp>
      <p:pic>
        <p:nvPicPr>
          <p:cNvPr id="6" name="Image 1" descr="C:\Users\mdsha\Downloads\KLA Hackathon\kla-restoration\results\figures\qualitative_failures.png">    </p:cNvPr>
          <p:cNvPicPr>
            <a:picLocks noChangeAspect="1"/>
          </p:cNvPicPr>
          <p:nvPr/>
        </p:nvPicPr>
        <p:blipFill>
          <a:blip r:embed="rId2"/>
          <a:stretch>
            <a:fillRect/>
          </a:stretch>
        </p:blipFill>
        <p:spPr>
          <a:xfrm>
            <a:off x="6309360" y="1463040"/>
            <a:ext cx="5486400" cy="3246120"/>
          </a:xfrm>
          <a:prstGeom prst="rect">
            <a:avLst/>
          </a:prstGeom>
        </p:spPr>
      </p:pic>
      <p:sp>
        <p:nvSpPr>
          <p:cNvPr id="7" name="Text 3"/>
          <p:cNvSpPr/>
          <p:nvPr/>
        </p:nvSpPr>
        <p:spPr>
          <a:xfrm>
            <a:off x="6309360" y="4754880"/>
            <a:ext cx="5486400" cy="274320"/>
          </a:xfrm>
          <a:prstGeom prst="rect">
            <a:avLst/>
          </a:prstGeom>
          <a:noFill/>
          <a:ln/>
        </p:spPr>
        <p:txBody>
          <a:bodyPr wrap="square" lIns="0" tIns="0" rIns="0" bIns="0" rtlCol="0" anchor="ctr"/>
          <a:lstStyle/>
          <a:p>
            <a:pPr indent="0" marL="0">
              <a:buNone/>
            </a:pPr>
            <a:r>
              <a:rPr lang="en-US" sz="1050" b="1" i="1" dirty="0">
                <a:solidFill>
                  <a:srgbClr val="B5544A"/>
                </a:solidFill>
                <a:latin typeface="Calibri" pitchFamily="34" charset="0"/>
                <a:ea typeface="Calibri" pitchFamily="34" charset="-122"/>
                <a:cs typeface="Calibri" pitchFamily="34" charset="-120"/>
              </a:rPr>
              <a:t>Failure cases — lowest-PSNR validation images</a:t>
            </a:r>
            <a:endParaRPr lang="en-US" sz="1050" dirty="0"/>
          </a:p>
        </p:txBody>
      </p:sp>
      <p:sp>
        <p:nvSpPr>
          <p:cNvPr id="8" name="Shape 4"/>
          <p:cNvSpPr/>
          <p:nvPr/>
        </p:nvSpPr>
        <p:spPr>
          <a:xfrm>
            <a:off x="566928" y="5084064"/>
            <a:ext cx="11055096" cy="1463040"/>
          </a:xfrm>
          <a:prstGeom prst="roundRect">
            <a:avLst>
              <a:gd name="adj" fmla="val 3750"/>
            </a:avLst>
          </a:prstGeom>
          <a:solidFill>
            <a:srgbClr val="FDECEA"/>
          </a:solidFill>
          <a:ln w="9525">
            <a:solidFill>
              <a:srgbClr val="D9E2EC"/>
            </a:solidFill>
            <a:prstDash val="solid"/>
          </a:ln>
          <a:effectLst>
            <a:outerShdw sx="100000" sy="100000" kx="0" ky="0" algn="bl" rotWithShape="0" blurRad="101600" dist="508" dir="5400000">
              <a:srgbClr val="9AAEC0">
                <a:alpha val="10000"/>
              </a:srgbClr>
            </a:outerShdw>
          </a:effectLst>
        </p:spPr>
      </p:sp>
      <p:sp>
        <p:nvSpPr>
          <p:cNvPr id="9" name="Text 5"/>
          <p:cNvSpPr/>
          <p:nvPr/>
        </p:nvSpPr>
        <p:spPr>
          <a:xfrm>
            <a:off x="841248" y="5175504"/>
            <a:ext cx="10424160" cy="256032"/>
          </a:xfrm>
          <a:prstGeom prst="rect">
            <a:avLst/>
          </a:prstGeom>
          <a:noFill/>
          <a:ln/>
        </p:spPr>
        <p:txBody>
          <a:bodyPr wrap="square" lIns="0" tIns="0" rIns="0" bIns="0" rtlCol="0" anchor="ctr"/>
          <a:lstStyle/>
          <a:p>
            <a:pPr indent="0" marL="0">
              <a:buNone/>
            </a:pPr>
            <a:r>
              <a:rPr lang="en-US" sz="1250" b="1" dirty="0">
                <a:solidFill>
                  <a:srgbClr val="B5544A"/>
                </a:solidFill>
                <a:latin typeface="Cambria" pitchFamily="34" charset="0"/>
                <a:ea typeface="Cambria" pitchFamily="34" charset="-122"/>
                <a:cs typeface="Cambria" pitchFamily="34" charset="-120"/>
              </a:rPr>
              <a:t>Where the model struggles</a:t>
            </a:r>
            <a:endParaRPr lang="en-US" sz="1250" dirty="0"/>
          </a:p>
        </p:txBody>
      </p:sp>
      <p:sp>
        <p:nvSpPr>
          <p:cNvPr id="10" name="Text 6"/>
          <p:cNvSpPr/>
          <p:nvPr/>
        </p:nvSpPr>
        <p:spPr>
          <a:xfrm>
            <a:off x="841248" y="5449824"/>
            <a:ext cx="10469880" cy="1024128"/>
          </a:xfrm>
          <a:prstGeom prst="rect">
            <a:avLst/>
          </a:prstGeom>
          <a:noFill/>
          <a:ln/>
        </p:spPr>
        <p:txBody>
          <a:bodyPr wrap="square" lIns="0" tIns="0" rIns="0" bIns="0" rtlCol="0" anchor="ctr"/>
          <a:lstStyle/>
          <a:p>
            <a:pPr indent="0" marL="0">
              <a:lnSpc>
                <a:spcPts val="1250"/>
              </a:lnSpc>
              <a:buNone/>
            </a:pPr>
            <a:r>
              <a:rPr lang="en-US" sz="950" dirty="0">
                <a:solidFill>
                  <a:srgbClr val="8A4A42"/>
                </a:solidFill>
                <a:latin typeface="Calibri" pitchFamily="34" charset="0"/>
                <a:ea typeface="Calibri" pitchFamily="34" charset="-122"/>
                <a:cs typeface="Calibri" pitchFamily="34" charset="-120"/>
              </a:rPr>
              <a:t>The model over-smooths when the ground truth is itself dominated by dense, high-frequency texture that is statistically hard to distinguish from noise — 002539 (10.86 dB) and 002535 (18.16 dB) have near-noise-like GT, and 002473 is dense foliage. A fidelity objective correctly learns to suppress high-frequency content that looks like noise, which is right on average but erases genuine fine texture. Even here the model still beats bicubic on every one of these three (10.86 vs 10.22, 17.61 vs 17.21, 18.16 vs 17.30) — it never does worse, it simply cannot win much.</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C2E"/>
        </a:solidFill>
      </p:bgPr>
    </p:bg>
    <p:spTree>
      <p:nvGrpSpPr>
        <p:cNvPr id="1" name=""/>
        <p:cNvGrpSpPr/>
        <p:nvPr/>
      </p:nvGrpSpPr>
      <p:grpSpPr>
        <a:xfrm>
          <a:off x="0" y="0"/>
          <a:ext cx="0" cy="0"/>
          <a:chOff x="0" y="0"/>
          <a:chExt cx="0" cy="0"/>
        </a:xfrm>
      </p:grpSpPr>
      <p:sp>
        <p:nvSpPr>
          <p:cNvPr id="2" name="Shape 0"/>
          <p:cNvSpPr/>
          <p:nvPr/>
        </p:nvSpPr>
        <p:spPr>
          <a:xfrm>
            <a:off x="-1463040" y="4023360"/>
            <a:ext cx="4572000" cy="4572000"/>
          </a:xfrm>
          <a:prstGeom prst="ellipse">
            <a:avLst/>
          </a:prstGeom>
          <a:solidFill>
            <a:srgbClr val="16324F"/>
          </a:solidFill>
          <a:ln w="12700">
            <a:solidFill>
              <a:srgbClr val="16324F"/>
            </a:solidFill>
            <a:prstDash val="solid"/>
          </a:ln>
        </p:spPr>
      </p:sp>
      <p:sp>
        <p:nvSpPr>
          <p:cNvPr id="3" name="Text 1"/>
          <p:cNvSpPr/>
          <p:nvPr/>
        </p:nvSpPr>
        <p:spPr>
          <a:xfrm>
            <a:off x="566928" y="548640"/>
            <a:ext cx="73152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4" name="Shape 2"/>
          <p:cNvSpPr/>
          <p:nvPr/>
        </p:nvSpPr>
        <p:spPr>
          <a:xfrm>
            <a:off x="566928" y="1408176"/>
            <a:ext cx="384048" cy="384048"/>
          </a:xfrm>
          <a:prstGeom prst="ellipse">
            <a:avLst/>
          </a:prstGeom>
          <a:solidFill>
            <a:srgbClr val="F2A65A"/>
          </a:solidFill>
          <a:ln w="12700">
            <a:solidFill>
              <a:srgbClr val="F2A65A"/>
            </a:solidFill>
            <a:prstDash val="solid"/>
          </a:ln>
        </p:spPr>
      </p:sp>
      <p:sp>
        <p:nvSpPr>
          <p:cNvPr id="5" name="Text 3"/>
          <p:cNvSpPr/>
          <p:nvPr/>
        </p:nvSpPr>
        <p:spPr>
          <a:xfrm>
            <a:off x="566928" y="1408176"/>
            <a:ext cx="384048" cy="384048"/>
          </a:xfrm>
          <a:prstGeom prst="rect">
            <a:avLst/>
          </a:prstGeom>
          <a:noFill/>
          <a:ln/>
        </p:spPr>
        <p:txBody>
          <a:bodyPr wrap="square" lIns="0" tIns="0" rIns="0" bIns="0" rtlCol="0" anchor="ctr"/>
          <a:lstStyle/>
          <a:p>
            <a:pPr algn="ctr" indent="0" marL="0">
              <a:buNone/>
            </a:pPr>
            <a:r>
              <a:rPr lang="en-US" sz="1400" b="1" dirty="0">
                <a:solidFill>
                  <a:srgbClr val="0F1C2E"/>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1133856" y="1371600"/>
            <a:ext cx="6766560" cy="329184"/>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Beats the mandatory baseline</a:t>
            </a:r>
            <a:endParaRPr lang="en-US" sz="1600" dirty="0"/>
          </a:p>
        </p:txBody>
      </p:sp>
      <p:sp>
        <p:nvSpPr>
          <p:cNvPr id="7" name="Text 5"/>
          <p:cNvSpPr/>
          <p:nvPr/>
        </p:nvSpPr>
        <p:spPr>
          <a:xfrm>
            <a:off x="1133856" y="1700784"/>
            <a:ext cx="6766560" cy="603504"/>
          </a:xfrm>
          <a:prstGeom prst="rect">
            <a:avLst/>
          </a:prstGeom>
          <a:noFill/>
          <a:ln/>
        </p:spPr>
        <p:txBody>
          <a:bodyPr wrap="square" lIns="0" tIns="0" rIns="0" bIns="0" rtlCol="0" anchor="ctr"/>
          <a:lstStyle/>
          <a:p>
            <a:pPr indent="0" marL="0">
              <a:lnSpc>
                <a:spcPts val="1450"/>
              </a:lnSpc>
              <a:buNone/>
            </a:pPr>
            <a:r>
              <a:rPr lang="en-US" sz="1150" dirty="0">
                <a:solidFill>
                  <a:srgbClr val="A8BDD0"/>
                </a:solidFill>
                <a:latin typeface="Calibri" pitchFamily="34" charset="0"/>
                <a:ea typeface="Calibri" pitchFamily="34" charset="-122"/>
                <a:cs typeface="Calibri" pitchFamily="34" charset="-120"/>
              </a:rPr>
              <a:t>27.52 dB vs 22.73 dB bicubic (+4.79 dB), on a held-out split never used for training</a:t>
            </a:r>
            <a:endParaRPr lang="en-US" sz="1150" dirty="0"/>
          </a:p>
        </p:txBody>
      </p:sp>
      <p:sp>
        <p:nvSpPr>
          <p:cNvPr id="8" name="Shape 6"/>
          <p:cNvSpPr/>
          <p:nvPr/>
        </p:nvSpPr>
        <p:spPr>
          <a:xfrm>
            <a:off x="566928" y="2432304"/>
            <a:ext cx="384048" cy="384048"/>
          </a:xfrm>
          <a:prstGeom prst="ellipse">
            <a:avLst/>
          </a:prstGeom>
          <a:solidFill>
            <a:srgbClr val="F2A65A"/>
          </a:solidFill>
          <a:ln w="12700">
            <a:solidFill>
              <a:srgbClr val="F2A65A"/>
            </a:solidFill>
            <a:prstDash val="solid"/>
          </a:ln>
        </p:spPr>
      </p:sp>
      <p:sp>
        <p:nvSpPr>
          <p:cNvPr id="9" name="Text 7"/>
          <p:cNvSpPr/>
          <p:nvPr/>
        </p:nvSpPr>
        <p:spPr>
          <a:xfrm>
            <a:off x="566928" y="2432304"/>
            <a:ext cx="384048" cy="384048"/>
          </a:xfrm>
          <a:prstGeom prst="rect">
            <a:avLst/>
          </a:prstGeom>
          <a:noFill/>
          <a:ln/>
        </p:spPr>
        <p:txBody>
          <a:bodyPr wrap="square" lIns="0" tIns="0" rIns="0" bIns="0" rtlCol="0" anchor="ctr"/>
          <a:lstStyle/>
          <a:p>
            <a:pPr algn="ctr" indent="0" marL="0">
              <a:buNone/>
            </a:pPr>
            <a:r>
              <a:rPr lang="en-US" sz="1400" b="1" dirty="0">
                <a:solidFill>
                  <a:srgbClr val="0F1C2E"/>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1133856" y="2395728"/>
            <a:ext cx="6766560" cy="329184"/>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Reproducible by construction</a:t>
            </a:r>
            <a:endParaRPr lang="en-US" sz="1600" dirty="0"/>
          </a:p>
        </p:txBody>
      </p:sp>
      <p:sp>
        <p:nvSpPr>
          <p:cNvPr id="11" name="Text 9"/>
          <p:cNvSpPr/>
          <p:nvPr/>
        </p:nvSpPr>
        <p:spPr>
          <a:xfrm>
            <a:off x="1133856" y="2724912"/>
            <a:ext cx="6766560" cy="603504"/>
          </a:xfrm>
          <a:prstGeom prst="rect">
            <a:avLst/>
          </a:prstGeom>
          <a:noFill/>
          <a:ln/>
        </p:spPr>
        <p:txBody>
          <a:bodyPr wrap="square" lIns="0" tIns="0" rIns="0" bIns="0" rtlCol="0" anchor="ctr"/>
          <a:lstStyle/>
          <a:p>
            <a:pPr indent="0" marL="0">
              <a:lnSpc>
                <a:spcPts val="1450"/>
              </a:lnSpc>
              <a:buNone/>
            </a:pPr>
            <a:r>
              <a:rPr lang="en-US" sz="1150" dirty="0">
                <a:solidFill>
                  <a:srgbClr val="A8BDD0"/>
                </a:solidFill>
                <a:latin typeface="Calibri" pitchFamily="34" charset="0"/>
                <a:ea typeface="Calibri" pitchFamily="34" charset="-122"/>
                <a:cs typeface="Calibri" pitchFamily="34" charset="-120"/>
              </a:rPr>
              <a:t>One config, one seed, committed val split, git hash inside every checkpoint, metrics computed from the saved files</a:t>
            </a:r>
            <a:endParaRPr lang="en-US" sz="1150" dirty="0"/>
          </a:p>
        </p:txBody>
      </p:sp>
      <p:sp>
        <p:nvSpPr>
          <p:cNvPr id="12" name="Shape 10"/>
          <p:cNvSpPr/>
          <p:nvPr/>
        </p:nvSpPr>
        <p:spPr>
          <a:xfrm>
            <a:off x="566928" y="3456432"/>
            <a:ext cx="384048" cy="384048"/>
          </a:xfrm>
          <a:prstGeom prst="ellipse">
            <a:avLst/>
          </a:prstGeom>
          <a:solidFill>
            <a:srgbClr val="F2A65A"/>
          </a:solidFill>
          <a:ln w="12700">
            <a:solidFill>
              <a:srgbClr val="F2A65A"/>
            </a:solidFill>
            <a:prstDash val="solid"/>
          </a:ln>
        </p:spPr>
      </p:sp>
      <p:sp>
        <p:nvSpPr>
          <p:cNvPr id="13" name="Text 11"/>
          <p:cNvSpPr/>
          <p:nvPr/>
        </p:nvSpPr>
        <p:spPr>
          <a:xfrm>
            <a:off x="566928" y="3456432"/>
            <a:ext cx="384048" cy="384048"/>
          </a:xfrm>
          <a:prstGeom prst="rect">
            <a:avLst/>
          </a:prstGeom>
          <a:noFill/>
          <a:ln/>
        </p:spPr>
        <p:txBody>
          <a:bodyPr wrap="square" lIns="0" tIns="0" rIns="0" bIns="0" rtlCol="0" anchor="ctr"/>
          <a:lstStyle/>
          <a:p>
            <a:pPr algn="ctr" indent="0" marL="0">
              <a:buNone/>
            </a:pPr>
            <a:r>
              <a:rPr lang="en-US" sz="1400" b="1" dirty="0">
                <a:solidFill>
                  <a:srgbClr val="0F1C2E"/>
                </a:solidFill>
                <a:latin typeface="Cambria" pitchFamily="34" charset="0"/>
                <a:ea typeface="Cambria" pitchFamily="34" charset="-122"/>
                <a:cs typeface="Cambria" pitchFamily="34" charset="-120"/>
              </a:rPr>
              <a:t>3</a:t>
            </a:r>
            <a:endParaRPr lang="en-US" sz="1400" dirty="0"/>
          </a:p>
        </p:txBody>
      </p:sp>
      <p:sp>
        <p:nvSpPr>
          <p:cNvPr id="14" name="Text 12"/>
          <p:cNvSpPr/>
          <p:nvPr/>
        </p:nvSpPr>
        <p:spPr>
          <a:xfrm>
            <a:off x="1133856" y="3419856"/>
            <a:ext cx="6766560" cy="329184"/>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Honest about its limits</a:t>
            </a:r>
            <a:endParaRPr lang="en-US" sz="1600" dirty="0"/>
          </a:p>
        </p:txBody>
      </p:sp>
      <p:sp>
        <p:nvSpPr>
          <p:cNvPr id="15" name="Text 13"/>
          <p:cNvSpPr/>
          <p:nvPr/>
        </p:nvSpPr>
        <p:spPr>
          <a:xfrm>
            <a:off x="1133856" y="3749040"/>
            <a:ext cx="6766560" cy="603504"/>
          </a:xfrm>
          <a:prstGeom prst="rect">
            <a:avLst/>
          </a:prstGeom>
          <a:noFill/>
          <a:ln/>
        </p:spPr>
        <p:txBody>
          <a:bodyPr wrap="square" lIns="0" tIns="0" rIns="0" bIns="0" rtlCol="0" anchor="ctr"/>
          <a:lstStyle/>
          <a:p>
            <a:pPr indent="0" marL="0">
              <a:lnSpc>
                <a:spcPts val="1450"/>
              </a:lnSpc>
              <a:buNone/>
            </a:pPr>
            <a:r>
              <a:rPr lang="en-US" sz="1150" dirty="0">
                <a:solidFill>
                  <a:srgbClr val="A8BDD0"/>
                </a:solidFill>
                <a:latin typeface="Calibri" pitchFamily="34" charset="0"/>
                <a:ea typeface="Calibri" pitchFamily="34" charset="-122"/>
                <a:cs typeface="Calibri" pitchFamily="34" charset="-120"/>
              </a:rPr>
              <a:t>Stopped early at ~9.4k of 15k iterations once validation peaked and began degrading — the overfitting is reported, not hidden. One seed, one config, laptop-GPU timings.</a:t>
            </a:r>
            <a:endParaRPr lang="en-US" sz="1150" dirty="0"/>
          </a:p>
        </p:txBody>
      </p:sp>
      <p:sp>
        <p:nvSpPr>
          <p:cNvPr id="16" name="Text 14"/>
          <p:cNvSpPr/>
          <p:nvPr/>
        </p:nvSpPr>
        <p:spPr>
          <a:xfrm>
            <a:off x="7955280" y="1371600"/>
            <a:ext cx="3749040" cy="310896"/>
          </a:xfrm>
          <a:prstGeom prst="rect">
            <a:avLst/>
          </a:prstGeom>
          <a:noFill/>
          <a:ln/>
        </p:spPr>
        <p:txBody>
          <a:bodyPr wrap="square" lIns="0" tIns="0" rIns="0" bIns="0" rtlCol="0" anchor="ctr"/>
          <a:lstStyle/>
          <a:p>
            <a:pPr indent="0" marL="0">
              <a:buNone/>
            </a:pPr>
            <a:r>
              <a:rPr lang="en-US" sz="1600" b="1" dirty="0">
                <a:solidFill>
                  <a:srgbClr val="F2A65A"/>
                </a:solidFill>
                <a:latin typeface="Cambria" pitchFamily="34" charset="0"/>
                <a:ea typeface="Cambria" pitchFamily="34" charset="-122"/>
                <a:cs typeface="Cambria" pitchFamily="34" charset="-120"/>
              </a:rPr>
              <a:t>Disclosure</a:t>
            </a:r>
            <a:endParaRPr lang="en-US" sz="1600" dirty="0"/>
          </a:p>
        </p:txBody>
      </p:sp>
      <p:sp>
        <p:nvSpPr>
          <p:cNvPr id="17" name="Text 15"/>
          <p:cNvSpPr/>
          <p:nvPr/>
        </p:nvSpPr>
        <p:spPr>
          <a:xfrm>
            <a:off x="7955280" y="1737360"/>
            <a:ext cx="3749040" cy="3108960"/>
          </a:xfrm>
          <a:prstGeom prst="rect">
            <a:avLst/>
          </a:prstGeom>
          <a:noFill/>
          <a:ln/>
        </p:spPr>
        <p:txBody>
          <a:bodyPr wrap="square" lIns="0" tIns="0" rIns="0" bIns="0" rtlCol="0" anchor="ctr"/>
          <a:lstStyle/>
          <a:p>
            <a:pPr indent="0" marL="0">
              <a:lnSpc>
                <a:spcPts val="1400"/>
              </a:lnSpc>
              <a:buNone/>
            </a:pPr>
            <a:r>
              <a:rPr lang="en-US" sz="1050" dirty="0">
                <a:solidFill>
                  <a:srgbClr val="A8BDD0"/>
                </a:solidFill>
                <a:latin typeface="Calibri" pitchFamily="34" charset="0"/>
                <a:ea typeface="Calibri" pitchFamily="34" charset="-122"/>
                <a:cs typeface="Calibri" pitchFamily="34" charset="-120"/>
              </a:rPr>
              <a:t>No external datasets were used.</a:t>
            </a:r>
            <a:endParaRPr lang="en-US" sz="1050" dirty="0"/>
          </a:p>
          <a:p>
            <a:pPr indent="0" marL="0">
              <a:lnSpc>
                <a:spcPts val="1400"/>
              </a:lnSpc>
              <a:buNone/>
            </a:pPr>
            <a:endParaRPr lang="en-US" sz="1050" dirty="0"/>
          </a:p>
          <a:p>
            <a:pPr indent="0" marL="0">
              <a:lnSpc>
                <a:spcPts val="1400"/>
              </a:lnSpc>
              <a:buNone/>
            </a:pPr>
            <a:r>
              <a:rPr lang="en-US" sz="1050" dirty="0">
                <a:solidFill>
                  <a:srgbClr val="A8BDD0"/>
                </a:solidFill>
                <a:latin typeface="Calibri" pitchFamily="34" charset="0"/>
                <a:ea typeface="Calibri" pitchFamily="34" charset="-122"/>
                <a:cs typeface="Calibri" pitchFamily="34" charset="-120"/>
              </a:rPr>
              <a:t>No pretrained weights are used in the submitted model — it is trained from random initialization on the organizer pairs only.</a:t>
            </a:r>
            <a:endParaRPr lang="en-US" sz="1050" dirty="0"/>
          </a:p>
          <a:p>
            <a:pPr indent="0" marL="0">
              <a:lnSpc>
                <a:spcPts val="1400"/>
              </a:lnSpc>
              <a:buNone/>
            </a:pPr>
            <a:endParaRPr lang="en-US" sz="1050" dirty="0"/>
          </a:p>
          <a:p>
            <a:pPr indent="0" marL="0">
              <a:lnSpc>
                <a:spcPts val="1400"/>
              </a:lnSpc>
              <a:buNone/>
            </a:pPr>
            <a:r>
              <a:rPr lang="en-US" sz="1050" dirty="0">
                <a:solidFill>
                  <a:srgbClr val="A8BDD0"/>
                </a:solidFill>
                <a:latin typeface="Calibri" pitchFamily="34" charset="0"/>
                <a:ea typeface="Calibri" pitchFamily="34" charset="-122"/>
                <a:cs typeface="Calibri" pitchFamily="34" charset="-120"/>
              </a:rPr>
              <a:t>LPIPS (BSD-2) and its AlexNet backbone (BSD-3) are used for evaluation only. Licences were read from the shipped LICENSE files and recorded in EXTERNAL_RESOURCES.md.</a:t>
            </a:r>
            <a:endParaRPr lang="en-US" sz="1050" dirty="0"/>
          </a:p>
          <a:p>
            <a:pPr indent="0" marL="0">
              <a:lnSpc>
                <a:spcPts val="1400"/>
              </a:lnSpc>
              <a:buNone/>
            </a:pPr>
            <a:endParaRPr lang="en-US" sz="1050" dirty="0"/>
          </a:p>
          <a:p>
            <a:pPr indent="0" marL="0">
              <a:lnSpc>
                <a:spcPts val="1400"/>
              </a:lnSpc>
              <a:buNone/>
            </a:pPr>
            <a:r>
              <a:rPr lang="en-US" sz="1050" dirty="0">
                <a:solidFill>
                  <a:srgbClr val="A8BDD0"/>
                </a:solidFill>
                <a:latin typeface="Calibri" pitchFamily="34" charset="0"/>
                <a:ea typeface="Calibri" pitchFamily="34" charset="-122"/>
                <a:cs typeface="Calibri" pitchFamily="34" charset="-120"/>
              </a:rPr>
              <a:t>Test_NoisyLR was used only to produce submission outputs.</a:t>
            </a:r>
            <a:endParaRPr lang="en-US" sz="1050" dirty="0"/>
          </a:p>
        </p:txBody>
      </p:sp>
      <p:sp>
        <p:nvSpPr>
          <p:cNvPr id="18" name="Text 16"/>
          <p:cNvSpPr/>
          <p:nvPr/>
        </p:nvSpPr>
        <p:spPr>
          <a:xfrm>
            <a:off x="566928" y="4626864"/>
            <a:ext cx="6949440" cy="274320"/>
          </a:xfrm>
          <a:prstGeom prst="rect">
            <a:avLst/>
          </a:prstGeom>
          <a:noFill/>
          <a:ln/>
        </p:spPr>
        <p:txBody>
          <a:bodyPr wrap="square" lIns="0" tIns="0" rIns="0" bIns="0" rtlCol="0" anchor="ctr"/>
          <a:lstStyle/>
          <a:p>
            <a:pPr indent="0" marL="0">
              <a:buNone/>
            </a:pPr>
            <a:r>
              <a:rPr lang="en-US" sz="1100" dirty="0">
                <a:solidFill>
                  <a:srgbClr val="A8BDD0"/>
                </a:solidFill>
                <a:latin typeface="Calibri" pitchFamily="34" charset="0"/>
                <a:ea typeface="Calibri" pitchFamily="34" charset="-122"/>
                <a:cs typeface="Calibri" pitchFamily="34" charset="-120"/>
              </a:rPr>
              <a:t>Team ViSaSha  ·  Mohamed Shaheem · Sahasra Reddy · Vishnu Vardhan</a:t>
            </a:r>
            <a:endParaRPr lang="en-US" sz="1100" dirty="0"/>
          </a:p>
        </p:txBody>
      </p:sp>
      <p:sp>
        <p:nvSpPr>
          <p:cNvPr id="19" name="Text 17"/>
          <p:cNvSpPr/>
          <p:nvPr/>
        </p:nvSpPr>
        <p:spPr>
          <a:xfrm>
            <a:off x="566928" y="4901184"/>
            <a:ext cx="6766560" cy="237744"/>
          </a:xfrm>
          <a:prstGeom prst="rect">
            <a:avLst/>
          </a:prstGeom>
          <a:noFill/>
          <a:ln/>
        </p:spPr>
        <p:txBody>
          <a:bodyPr wrap="square" lIns="0" tIns="0" rIns="0" bIns="0" rtlCol="0" anchor="ctr"/>
          <a:lstStyle/>
          <a:p>
            <a:pPr indent="0" marL="0">
              <a:buNone/>
            </a:pPr>
            <a:r>
              <a:rPr lang="en-US" sz="1000" dirty="0">
                <a:solidFill>
                  <a:srgbClr val="7E93A8"/>
                </a:solidFill>
                <a:latin typeface="Calibri" pitchFamily="34" charset="0"/>
                <a:ea typeface="Calibri" pitchFamily="34" charset="-122"/>
                <a:cs typeface="Calibri" pitchFamily="34" charset="-120"/>
              </a:rPr>
              <a:t>Repository</a:t>
            </a:r>
            <a:endParaRPr lang="en-US" sz="1000" dirty="0"/>
          </a:p>
        </p:txBody>
      </p:sp>
      <p:sp>
        <p:nvSpPr>
          <p:cNvPr id="20" name="Text 18"/>
          <p:cNvSpPr/>
          <p:nvPr/>
        </p:nvSpPr>
        <p:spPr>
          <a:xfrm>
            <a:off x="566928" y="5138928"/>
            <a:ext cx="6766560" cy="38404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github.com/shaheeeeeeeeem/kla-restoration</a:t>
            </a:r>
            <a:endParaRPr lang="en-US" sz="1900" dirty="0"/>
          </a:p>
        </p:txBody>
      </p:sp>
      <p:sp>
        <p:nvSpPr>
          <p:cNvPr id="21" name="Text 19"/>
          <p:cNvSpPr/>
          <p:nvPr/>
        </p:nvSpPr>
        <p:spPr>
          <a:xfrm>
            <a:off x="566928" y="5486400"/>
            <a:ext cx="6949440" cy="347472"/>
          </a:xfrm>
          <a:prstGeom prst="rect">
            <a:avLst/>
          </a:prstGeom>
          <a:noFill/>
          <a:ln/>
        </p:spPr>
        <p:txBody>
          <a:bodyPr wrap="square" lIns="0" tIns="0" rIns="0" bIns="0" rtlCol="0" anchor="ctr"/>
          <a:lstStyle/>
          <a:p>
            <a:pPr indent="0" marL="0">
              <a:buNone/>
            </a:pPr>
            <a:r>
              <a:rPr lang="en-US" sz="1250" dirty="0">
                <a:solidFill>
                  <a:srgbClr val="F2A65A"/>
                </a:solidFill>
                <a:latin typeface="Courier New" pitchFamily="34" charset="0"/>
                <a:ea typeface="Courier New" pitchFamily="34" charset="-122"/>
                <a:cs typeface="Courier New" pitchFamily="34" charset="-120"/>
              </a:rPr>
              <a:t>python inference.py --input_dir &lt;degraded&gt; --output_dir &lt;restored&gt;</a:t>
            </a:r>
            <a:endParaRPr lang="en-US" sz="1250" dirty="0"/>
          </a:p>
        </p:txBody>
      </p:sp>
      <p:sp>
        <p:nvSpPr>
          <p:cNvPr id="22" name="Text 20"/>
          <p:cNvSpPr/>
          <p:nvPr/>
        </p:nvSpPr>
        <p:spPr>
          <a:xfrm>
            <a:off x="566928" y="5870448"/>
            <a:ext cx="6949440" cy="292608"/>
          </a:xfrm>
          <a:prstGeom prst="rect">
            <a:avLst/>
          </a:prstGeom>
          <a:noFill/>
          <a:ln/>
        </p:spPr>
        <p:txBody>
          <a:bodyPr wrap="square" lIns="0" tIns="0" rIns="0" bIns="0" rtlCol="0" anchor="ctr"/>
          <a:lstStyle/>
          <a:p>
            <a:pPr indent="0" marL="0">
              <a:buNone/>
            </a:pPr>
            <a:r>
              <a:rPr lang="en-US" sz="1050" i="1" dirty="0">
                <a:solidFill>
                  <a:srgbClr val="7E93A8"/>
                </a:solidFill>
                <a:latin typeface="Calibri" pitchFamily="34" charset="0"/>
                <a:ea typeface="Calibri" pitchFamily="34" charset="-122"/>
                <a:cs typeface="Calibri" pitchFamily="34" charset="-120"/>
              </a:rPr>
              <a:t>Zero other required arguments. No config edits, no notebooks, no path edits.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KLA Image Restoration</dc:title>
  <dc:subject>PptxGenJS Presentation</dc:subject>
  <dc:creator>ViSaSha</dc:creator>
  <cp:lastModifiedBy>ViSaSha</cp:lastModifiedBy>
  <cp:revision>1</cp:revision>
  <dcterms:created xsi:type="dcterms:W3CDTF">2026-08-18T15:28:40Z</dcterms:created>
  <dcterms:modified xsi:type="dcterms:W3CDTF">2026-08-18T15:28:40Z</dcterms:modified>
</cp:coreProperties>
</file>