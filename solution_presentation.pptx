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202E"/>
                </a:solidFill>
                <a:latin typeface="Cambria"/>
              </a:defRPr>
            </a:pPr>
            <a:r>
              <a:rPr sz="1300" b="0" i="0" u="none" strike="noStrike">
                <a:solidFill>
                  <a:srgbClr val="13202E"/>
                </a:solidFill>
                <a:latin typeface="Cambria"/>
              </a:rPr>
              <a:t>Validation PSNR vs training step</a:t>
            </a:r>
          </a:p>
        </c:rich>
      </c:tx>
      <c:layout/>
      <c:overlay val="0"/>
    </c:title>
    <c:autoTitleDeleted val="0"/>
    <c:plotArea>
      <c:layout/>
      <c:lineChart>
        <c:varyColors val="0"/>
        <c:ser>
          <c:idx val="0"/>
          <c:order val="0"/>
          <c:tx>
            <c:strRef>
              <c:f>Sheet1!$B$1</c:f>
              <c:strCache>
                <c:ptCount val="1"/>
                <c:pt idx="0">
                  <c:v>val PSNR</c:v>
                </c:pt>
              </c:strCache>
            </c:strRef>
          </c:tx>
          <c:spPr>
            <a:solidFill>
              <a:srgbClr val="1C7293"/>
            </a:solidFill>
            <a:ln w="38100" cap="flat">
              <a:solidFill>
                <a:srgbClr val="1C729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7293"/>
              </a:solidFill>
              <a:ln w="9525" cap="flat">
                <a:solidFill>
                  <a:srgbClr val="1C7293"/>
                </a:solidFill>
                <a:prstDash val="solid"/>
                <a:round/>
              </a:ln>
              <a:effectLst/>
            </c:spPr>
          </c:marker>
          <c:cat>
            <c:multiLvlStrRef>
              <c:f>Sheet1!$A$2:$A$10</c:f>
              <c:multiLvlStrCache>
                <c:ptCount val="9"/>
                <c:lvl>
                  <c:pt idx="0">
                    <c:v>1000</c:v>
                  </c:pt>
                  <c:pt idx="1">
                    <c:v>2000</c:v>
                  </c:pt>
                  <c:pt idx="2">
                    <c:v>3000</c:v>
                  </c:pt>
                  <c:pt idx="3">
                    <c:v>4000</c:v>
                  </c:pt>
                  <c:pt idx="4">
                    <c:v>5000</c:v>
                  </c:pt>
                  <c:pt idx="5">
                    <c:v>6000</c:v>
                  </c:pt>
                  <c:pt idx="6">
                    <c:v>7000</c:v>
                  </c:pt>
                  <c:pt idx="7">
                    <c:v>8000</c:v>
                  </c:pt>
                  <c:pt idx="8">
                    <c:v>9000</c:v>
                  </c:pt>
                </c:lvl>
              </c:multiLvlStrCache>
            </c:multiLvlStrRef>
          </c:cat>
          <c:val>
            <c:numRef>
              <c:f>Sheet1!$B$2:$B$10</c:f>
              <c:numCache>
                <c:formatCode>General</c:formatCode>
                <c:ptCount val="9"/>
                <c:pt idx="0">
                  <c:v>24.544</c:v>
                </c:pt>
                <c:pt idx="1">
                  <c:v>26.2598</c:v>
                </c:pt>
                <c:pt idx="2">
                  <c:v>27.3359</c:v>
                </c:pt>
                <c:pt idx="3">
                  <c:v>27.515</c:v>
                </c:pt>
                <c:pt idx="4">
                  <c:v>27.3137</c:v>
                </c:pt>
                <c:pt idx="5">
                  <c:v>27.0902</c:v>
                </c:pt>
                <c:pt idx="6">
                  <c:v>26.9022</c:v>
                </c:pt>
                <c:pt idx="7">
                  <c:v>26.7345</c:v>
                </c:pt>
                <c:pt idx="8">
                  <c:v>26.5777</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2"/>
        <c:crosses val="autoZero"/>
        <c:auto val="1"/>
        <c:lblAlgn val="ctr"/>
        <c:noMultiLvlLbl val="1"/>
      </c:catAx>
      <c:valAx>
        <c:axId val="2094734552"/>
        <c:scaling>
          <c:orientation val="minMax"/>
          <c:min val="22"/>
        </c:scaling>
        <c:delete val="0"/>
        <c:axPos val="l"/>
        <c:majorGridlines>
          <c:spPr>
            <a:ln w="12700" cap="flat">
              <a:solidFill>
                <a:srgbClr val="D9E2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7186"/>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learn the inverse of speckle + Gaussian noise + 2x downsampling, applied in undisclosed random order. Single-channel grayscale natural imagery.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decision: one joint mapping, not a cascade, because the degradation order is not disclosed.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is exactly in [0,1] over all 3200. NoisyLR exceeds on BOTH ends, including negative values, which the brief did not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residual means the network only learns the correction, which converges faster and preserves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Augmentation is restricted to geometry because intensity augmentation would change the noise statistics we are trying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implementation of the NAFNet block design (Chen et al., ECCV 2022). No code or weights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rejection here is a deliberate, defensible engineering decision,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Sanity A is the check that de-risks everything: if a 4M net cannot overfit 2 images, the pipeline is wired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split is 200 images held out by image from train/, seeded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scoring clock includes I/O, which is why writing is threaded and reads are overlapped.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checklist item: at least one honest failure case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 is public; weights resolve relative to the script, not the CWD.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778240" y="-1371600"/>
            <a:ext cx="5120640" cy="5120640"/>
          </a:xfrm>
          <a:prstGeom prst="ellipse">
            <a:avLst/>
          </a:prstGeom>
          <a:solidFill>
            <a:srgbClr val="16324F"/>
          </a:solidFill>
          <a:ln w="12700">
            <a:solidFill>
              <a:srgbClr val="16324F"/>
            </a:solidFill>
            <a:prstDash val="solid"/>
          </a:ln>
        </p:spPr>
      </p:sp>
      <p:sp>
        <p:nvSpPr>
          <p:cNvPr id="3" name="Shape 1"/>
          <p:cNvSpPr/>
          <p:nvPr/>
        </p:nvSpPr>
        <p:spPr>
          <a:xfrm>
            <a:off x="9966960" y="3108960"/>
            <a:ext cx="3108960" cy="3108960"/>
          </a:xfrm>
          <a:prstGeom prst="ellipse">
            <a:avLst/>
          </a:prstGeom>
          <a:solidFill>
            <a:srgbClr val="065A82"/>
          </a:solidFill>
          <a:ln w="12700">
            <a:solidFill>
              <a:srgbClr val="065A82"/>
            </a:solidFill>
            <a:prstDash val="solid"/>
          </a:ln>
        </p:spPr>
      </p:sp>
      <p:sp>
        <p:nvSpPr>
          <p:cNvPr id="4" name="Text 2"/>
          <p:cNvSpPr/>
          <p:nvPr/>
        </p:nvSpPr>
        <p:spPr>
          <a:xfrm>
            <a:off x="566928" y="1234440"/>
            <a:ext cx="7680960" cy="320040"/>
          </a:xfrm>
          <a:prstGeom prst="rect">
            <a:avLst/>
          </a:prstGeom>
          <a:noFill/>
          <a:ln/>
        </p:spPr>
        <p:txBody>
          <a:bodyPr wrap="square" lIns="0" tIns="0" rIns="0" bIns="0" rtlCol="0" anchor="ctr"/>
          <a:lstStyle/>
          <a:p>
            <a:pPr indent="0" marL="0">
              <a:buNone/>
            </a:pPr>
            <a:r>
              <a:rPr lang="en-US" sz="1350" b="1" spc="160" kern="0" dirty="0">
                <a:solidFill>
                  <a:srgbClr val="F2A65A"/>
                </a:solidFill>
                <a:latin typeface="Calibri" pitchFamily="34" charset="0"/>
                <a:ea typeface="Calibri" pitchFamily="34" charset="-122"/>
                <a:cs typeface="Calibri" pitchFamily="34" charset="-120"/>
              </a:rPr>
              <a:t>KLA · Image Restoration Challenge</a:t>
            </a:r>
            <a:endParaRPr lang="en-US" sz="1350" dirty="0"/>
          </a:p>
        </p:txBody>
      </p:sp>
      <p:sp>
        <p:nvSpPr>
          <p:cNvPr id="5" name="Text 3"/>
          <p:cNvSpPr/>
          <p:nvPr/>
        </p:nvSpPr>
        <p:spPr>
          <a:xfrm>
            <a:off x="566928" y="1664208"/>
            <a:ext cx="7863840" cy="16916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Recovering clean images from</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speckle, noise and ×2 downsampling</a:t>
            </a:r>
            <a:endParaRPr lang="en-US" sz="4000" dirty="0"/>
          </a:p>
        </p:txBody>
      </p:sp>
      <p:sp>
        <p:nvSpPr>
          <p:cNvPr id="6" name="Text 4"/>
          <p:cNvSpPr/>
          <p:nvPr/>
        </p:nvSpPr>
        <p:spPr>
          <a:xfrm>
            <a:off x="566928" y="3456432"/>
            <a:ext cx="7680960" cy="640080"/>
          </a:xfrm>
          <a:prstGeom prst="rect">
            <a:avLst/>
          </a:prstGeom>
          <a:noFill/>
          <a:ln/>
        </p:spPr>
        <p:txBody>
          <a:bodyPr wrap="square" lIns="0" tIns="0" rIns="0" bIns="0" rtlCol="0" anchor="ctr"/>
          <a:lstStyle/>
          <a:p>
            <a:pPr indent="0" marL="0">
              <a:buNone/>
            </a:pPr>
            <a:r>
              <a:rPr lang="en-US" sz="1450" dirty="0">
                <a:solidFill>
                  <a:srgbClr val="B9CBDA"/>
                </a:solidFill>
                <a:latin typeface="Calibri" pitchFamily="34" charset="0"/>
                <a:ea typeface="Calibri" pitchFamily="34" charset="-122"/>
                <a:cs typeface="Calibri" pitchFamily="34" charset="-120"/>
              </a:rPr>
              <a:t>A 4.02 M-parameter NAFNet-style restoration network, trained from scratch — no pretrained weights, no GAN loss.</a:t>
            </a:r>
            <a:endParaRPr lang="en-US" sz="1450" dirty="0"/>
          </a:p>
        </p:txBody>
      </p:sp>
      <p:sp>
        <p:nvSpPr>
          <p:cNvPr id="7" name="Text 5"/>
          <p:cNvSpPr/>
          <p:nvPr/>
        </p:nvSpPr>
        <p:spPr>
          <a:xfrm>
            <a:off x="566928"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27.52 dB</a:t>
            </a:r>
            <a:endParaRPr lang="en-US" sz="2200" dirty="0"/>
          </a:p>
        </p:txBody>
      </p:sp>
      <p:sp>
        <p:nvSpPr>
          <p:cNvPr id="8" name="Text 6"/>
          <p:cNvSpPr/>
          <p:nvPr/>
        </p:nvSpPr>
        <p:spPr>
          <a:xfrm>
            <a:off x="566928"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val PSNR</a:t>
            </a:r>
            <a:endParaRPr lang="en-US" sz="1050" dirty="0"/>
          </a:p>
        </p:txBody>
      </p:sp>
      <p:sp>
        <p:nvSpPr>
          <p:cNvPr id="9" name="Text 7"/>
          <p:cNvSpPr/>
          <p:nvPr/>
        </p:nvSpPr>
        <p:spPr>
          <a:xfrm>
            <a:off x="2459736"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+4.79 dB</a:t>
            </a:r>
            <a:endParaRPr lang="en-US" sz="2200" dirty="0"/>
          </a:p>
        </p:txBody>
      </p:sp>
      <p:sp>
        <p:nvSpPr>
          <p:cNvPr id="10" name="Text 8"/>
          <p:cNvSpPr/>
          <p:nvPr/>
        </p:nvSpPr>
        <p:spPr>
          <a:xfrm>
            <a:off x="2459736"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over bicubic</a:t>
            </a:r>
            <a:endParaRPr lang="en-US" sz="1050" dirty="0"/>
          </a:p>
        </p:txBody>
      </p:sp>
      <p:sp>
        <p:nvSpPr>
          <p:cNvPr id="11" name="Text 9"/>
          <p:cNvSpPr/>
          <p:nvPr/>
        </p:nvSpPr>
        <p:spPr>
          <a:xfrm>
            <a:off x="4352544"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4.02 M</a:t>
            </a:r>
            <a:endParaRPr lang="en-US" sz="2200" dirty="0"/>
          </a:p>
        </p:txBody>
      </p:sp>
      <p:sp>
        <p:nvSpPr>
          <p:cNvPr id="12" name="Text 10"/>
          <p:cNvSpPr/>
          <p:nvPr/>
        </p:nvSpPr>
        <p:spPr>
          <a:xfrm>
            <a:off x="4352544"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parameters</a:t>
            </a:r>
            <a:endParaRPr lang="en-US" sz="1050" dirty="0"/>
          </a:p>
        </p:txBody>
      </p:sp>
      <p:sp>
        <p:nvSpPr>
          <p:cNvPr id="13" name="Text 11"/>
          <p:cNvSpPr/>
          <p:nvPr/>
        </p:nvSpPr>
        <p:spPr>
          <a:xfrm>
            <a:off x="6245352" y="4443984"/>
            <a:ext cx="1783080" cy="457200"/>
          </a:xfrm>
          <a:prstGeom prst="rect">
            <a:avLst/>
          </a:prstGeom>
          <a:noFill/>
          <a:ln/>
        </p:spPr>
        <p:txBody>
          <a:bodyPr wrap="square" lIns="0" tIns="0" rIns="0" bIns="0" rtlCol="0" anchor="ctr"/>
          <a:lstStyle/>
          <a:p>
            <a:pPr indent="0" marL="0">
              <a:buNone/>
            </a:pPr>
            <a:r>
              <a:rPr lang="en-US" sz="2200" b="1" dirty="0">
                <a:solidFill>
                  <a:srgbClr val="F2A65A"/>
                </a:solidFill>
                <a:latin typeface="Cambria" pitchFamily="34" charset="0"/>
                <a:ea typeface="Cambria" pitchFamily="34" charset="-122"/>
                <a:cs typeface="Cambria" pitchFamily="34" charset="-120"/>
              </a:rPr>
              <a:t>0</a:t>
            </a:r>
            <a:endParaRPr lang="en-US" sz="2200" dirty="0"/>
          </a:p>
        </p:txBody>
      </p:sp>
      <p:sp>
        <p:nvSpPr>
          <p:cNvPr id="14" name="Text 12"/>
          <p:cNvSpPr/>
          <p:nvPr/>
        </p:nvSpPr>
        <p:spPr>
          <a:xfrm>
            <a:off x="6245352" y="4864608"/>
            <a:ext cx="1783080" cy="292608"/>
          </a:xfrm>
          <a:prstGeom prst="rect">
            <a:avLst/>
          </a:prstGeom>
          <a:noFill/>
          <a:ln/>
        </p:spPr>
        <p:txBody>
          <a:bodyPr wrap="square" lIns="0" tIns="0" rIns="0" bIns="0" rtlCol="0" anchor="ctr"/>
          <a:lstStyle/>
          <a:p>
            <a:pPr indent="0" marL="0">
              <a:buNone/>
            </a:pPr>
            <a:r>
              <a:rPr lang="en-US" sz="1050" dirty="0">
                <a:solidFill>
                  <a:srgbClr val="8FA3B8"/>
                </a:solidFill>
                <a:latin typeface="Calibri" pitchFamily="34" charset="0"/>
                <a:ea typeface="Calibri" pitchFamily="34" charset="-122"/>
                <a:cs typeface="Calibri" pitchFamily="34" charset="-120"/>
              </a:rPr>
              <a:t>pretrained weights</a:t>
            </a:r>
            <a:endParaRPr lang="en-US" sz="1050" dirty="0"/>
          </a:p>
        </p:txBody>
      </p:sp>
      <p:sp>
        <p:nvSpPr>
          <p:cNvPr id="15" name="Text 13"/>
          <p:cNvSpPr/>
          <p:nvPr/>
        </p:nvSpPr>
        <p:spPr>
          <a:xfrm>
            <a:off x="566928" y="5943600"/>
            <a:ext cx="8229600" cy="292608"/>
          </a:xfrm>
          <a:prstGeom prst="rect">
            <a:avLst/>
          </a:prstGeom>
          <a:noFill/>
          <a:ln/>
        </p:spPr>
        <p:txBody>
          <a:bodyPr wrap="square" lIns="0" tIns="0" rIns="0" bIns="0" rtlCol="0" anchor="ctr"/>
          <a:lstStyle/>
          <a:p>
            <a:pPr indent="0" marL="0">
              <a:buNone/>
            </a:pPr>
            <a:r>
              <a:rPr lang="en-US" sz="1150" dirty="0">
                <a:solidFill>
                  <a:srgbClr val="7E93A8"/>
                </a:solidFill>
                <a:latin typeface="Calibri" pitchFamily="34" charset="0"/>
                <a:ea typeface="Calibri" pitchFamily="34" charset="-122"/>
                <a:cs typeface="Calibri" pitchFamily="34" charset="-120"/>
              </a:rPr>
              <a:t>Team ViSaSha  ·  Mohamed Shaheem · Sahasra Reddy · Vishnu Vardhan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Problem understanding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Learn f⁻¹ : y → x, where y is the degraded low-resolution observation</a:t>
            </a:r>
            <a:endParaRPr lang="en-US" sz="1350" dirty="0"/>
          </a:p>
        </p:txBody>
      </p:sp>
      <p:sp>
        <p:nvSpPr>
          <p:cNvPr id="4" name="Shape 2"/>
          <p:cNvSpPr/>
          <p:nvPr/>
        </p:nvSpPr>
        <p:spPr>
          <a:xfrm>
            <a:off x="566928"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Shape 3"/>
          <p:cNvSpPr/>
          <p:nvPr/>
        </p:nvSpPr>
        <p:spPr>
          <a:xfrm>
            <a:off x="804672" y="1709928"/>
            <a:ext cx="475488" cy="475488"/>
          </a:xfrm>
          <a:prstGeom prst="ellipse">
            <a:avLst/>
          </a:prstGeom>
          <a:solidFill>
            <a:srgbClr val="1C7293"/>
          </a:solidFill>
          <a:ln w="12700">
            <a:solidFill>
              <a:srgbClr val="1C7293"/>
            </a:solidFill>
            <a:prstDash val="solid"/>
          </a:ln>
        </p:spPr>
      </p:sp>
      <p:sp>
        <p:nvSpPr>
          <p:cNvPr id="6" name="Text 4"/>
          <p:cNvSpPr/>
          <p:nvPr/>
        </p:nvSpPr>
        <p:spPr>
          <a:xfrm>
            <a:off x="804672"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408176"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Speckle noise</a:t>
            </a:r>
            <a:endParaRPr lang="en-US" sz="1600" dirty="0"/>
          </a:p>
        </p:txBody>
      </p:sp>
      <p:sp>
        <p:nvSpPr>
          <p:cNvPr id="8" name="Text 6"/>
          <p:cNvSpPr/>
          <p:nvPr/>
        </p:nvSpPr>
        <p:spPr>
          <a:xfrm>
            <a:off x="804672"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Multiplicative, PDF centred at 1.0. Scales with local intensity, so flat bright regions suffer most.</a:t>
            </a:r>
            <a:endParaRPr lang="en-US" sz="1150" dirty="0"/>
          </a:p>
        </p:txBody>
      </p:sp>
      <p:sp>
        <p:nvSpPr>
          <p:cNvPr id="9" name="Shape 7"/>
          <p:cNvSpPr/>
          <p:nvPr/>
        </p:nvSpPr>
        <p:spPr>
          <a:xfrm>
            <a:off x="4334256"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Shape 8"/>
          <p:cNvSpPr/>
          <p:nvPr/>
        </p:nvSpPr>
        <p:spPr>
          <a:xfrm>
            <a:off x="4572000" y="1709928"/>
            <a:ext cx="475488" cy="475488"/>
          </a:xfrm>
          <a:prstGeom prst="ellipse">
            <a:avLst/>
          </a:prstGeom>
          <a:solidFill>
            <a:srgbClr val="1C7293"/>
          </a:solidFill>
          <a:ln w="12700">
            <a:solidFill>
              <a:srgbClr val="1C7293"/>
            </a:solidFill>
            <a:prstDash val="solid"/>
          </a:ln>
        </p:spPr>
      </p:sp>
      <p:sp>
        <p:nvSpPr>
          <p:cNvPr id="11" name="Text 9"/>
          <p:cNvSpPr/>
          <p:nvPr/>
        </p:nvSpPr>
        <p:spPr>
          <a:xfrm>
            <a:off x="4572000"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2" name="Text 10"/>
          <p:cNvSpPr/>
          <p:nvPr/>
        </p:nvSpPr>
        <p:spPr>
          <a:xfrm>
            <a:off x="5175504"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Additive Gaussian</a:t>
            </a:r>
            <a:endParaRPr lang="en-US" sz="1600" dirty="0"/>
          </a:p>
        </p:txBody>
      </p:sp>
      <p:sp>
        <p:nvSpPr>
          <p:cNvPr id="13" name="Text 11"/>
          <p:cNvSpPr/>
          <p:nvPr/>
        </p:nvSpPr>
        <p:spPr>
          <a:xfrm>
            <a:off x="4572000"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Organizer sweep spans σ ≈ 0.05 → 0.50. Independent of signal level.</a:t>
            </a:r>
            <a:endParaRPr lang="en-US" sz="1150" dirty="0"/>
          </a:p>
        </p:txBody>
      </p:sp>
      <p:sp>
        <p:nvSpPr>
          <p:cNvPr id="14" name="Shape 12"/>
          <p:cNvSpPr/>
          <p:nvPr/>
        </p:nvSpPr>
        <p:spPr>
          <a:xfrm>
            <a:off x="8101584" y="1481328"/>
            <a:ext cx="3529584" cy="2121408"/>
          </a:xfrm>
          <a:prstGeom prst="roundRect">
            <a:avLst>
              <a:gd name="adj" fmla="val 258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5" name="Shape 13"/>
          <p:cNvSpPr/>
          <p:nvPr/>
        </p:nvSpPr>
        <p:spPr>
          <a:xfrm>
            <a:off x="8339328" y="1709928"/>
            <a:ext cx="475488" cy="475488"/>
          </a:xfrm>
          <a:prstGeom prst="ellipse">
            <a:avLst/>
          </a:prstGeom>
          <a:solidFill>
            <a:srgbClr val="1C7293"/>
          </a:solidFill>
          <a:ln w="12700">
            <a:solidFill>
              <a:srgbClr val="1C7293"/>
            </a:solidFill>
            <a:prstDash val="solid"/>
          </a:ln>
        </p:spPr>
      </p:sp>
      <p:sp>
        <p:nvSpPr>
          <p:cNvPr id="16" name="Text 14"/>
          <p:cNvSpPr/>
          <p:nvPr/>
        </p:nvSpPr>
        <p:spPr>
          <a:xfrm>
            <a:off x="8339328" y="170992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7" name="Text 15"/>
          <p:cNvSpPr/>
          <p:nvPr/>
        </p:nvSpPr>
        <p:spPr>
          <a:xfrm>
            <a:off x="8942832" y="1764792"/>
            <a:ext cx="2560320" cy="365760"/>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Downsampling ×2</a:t>
            </a:r>
            <a:endParaRPr lang="en-US" sz="1600" dirty="0"/>
          </a:p>
        </p:txBody>
      </p:sp>
      <p:sp>
        <p:nvSpPr>
          <p:cNvPr id="18" name="Text 16"/>
          <p:cNvSpPr/>
          <p:nvPr/>
        </p:nvSpPr>
        <p:spPr>
          <a:xfrm>
            <a:off x="8339328" y="2340864"/>
            <a:ext cx="3054096" cy="109728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256×256 → 128×128. Anti-aliased kernel — we measured this rather than assuming it.</a:t>
            </a:r>
            <a:endParaRPr lang="en-US" sz="1150" dirty="0"/>
          </a:p>
        </p:txBody>
      </p:sp>
      <p:sp>
        <p:nvSpPr>
          <p:cNvPr id="19" name="Shape 17"/>
          <p:cNvSpPr/>
          <p:nvPr/>
        </p:nvSpPr>
        <p:spPr>
          <a:xfrm>
            <a:off x="566928" y="3858768"/>
            <a:ext cx="6949440" cy="1371600"/>
          </a:xfrm>
          <a:prstGeom prst="roundRect">
            <a:avLst>
              <a:gd name="adj" fmla="val 40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0" name="Text 18"/>
          <p:cNvSpPr/>
          <p:nvPr/>
        </p:nvSpPr>
        <p:spPr>
          <a:xfrm>
            <a:off x="841248" y="4041648"/>
            <a:ext cx="6400800" cy="329184"/>
          </a:xfrm>
          <a:prstGeom prst="rect">
            <a:avLst/>
          </a:prstGeom>
          <a:noFill/>
          <a:ln/>
        </p:spPr>
        <p:txBody>
          <a:bodyPr wrap="square" lIns="0" tIns="0" rIns="0" bIns="0" rtlCol="0" anchor="ctr"/>
          <a:lstStyle/>
          <a:p>
            <a:pPr indent="0" marL="0">
              <a:buNone/>
            </a:pPr>
            <a:r>
              <a:rPr lang="en-US" sz="1500" b="1" dirty="0">
                <a:solidFill>
                  <a:srgbClr val="9C5A1E"/>
                </a:solidFill>
                <a:latin typeface="Cambria" pitchFamily="34" charset="0"/>
                <a:ea typeface="Cambria" pitchFamily="34" charset="-122"/>
                <a:cs typeface="Cambria" pitchFamily="34" charset="-120"/>
              </a:rPr>
              <a:t>Blur is NOT a benchmark degradation</a:t>
            </a:r>
            <a:endParaRPr lang="en-US" sz="1500" dirty="0"/>
          </a:p>
        </p:txBody>
      </p:sp>
      <p:sp>
        <p:nvSpPr>
          <p:cNvPr id="21" name="Text 19"/>
          <p:cNvSpPr/>
          <p:nvPr/>
        </p:nvSpPr>
        <p:spPr>
          <a:xfrm>
            <a:off x="841248" y="4389120"/>
            <a:ext cx="6400800" cy="731520"/>
          </a:xfrm>
          <a:prstGeom prst="rect">
            <a:avLst/>
          </a:prstGeom>
          <a:noFill/>
          <a:ln/>
        </p:spPr>
        <p:txBody>
          <a:bodyPr wrap="square" lIns="0" tIns="0" rIns="0" bIns="0" rtlCol="0" anchor="ctr"/>
          <a:lstStyle/>
          <a:p>
            <a:pPr indent="0" marL="0">
              <a:lnSpc>
                <a:spcPts val="1450"/>
              </a:lnSpc>
              <a:buNone/>
            </a:pPr>
            <a:r>
              <a:rPr lang="en-US" sz="1150" dirty="0">
                <a:solidFill>
                  <a:srgbClr val="8A5A2B"/>
                </a:solidFill>
                <a:latin typeface="Calibri" pitchFamily="34" charset="0"/>
                <a:ea typeface="Calibri" pitchFamily="34" charset="-122"/>
                <a:cs typeface="Calibri" pitchFamily="34" charset="-120"/>
              </a:rPr>
              <a:t>It appears in the organizer deck only as illustration. We deliberately build no deblurring stage — adding one would spend capacity and latency on a degradation that is not scored.</a:t>
            </a:r>
            <a:endParaRPr lang="en-US" sz="1150" dirty="0"/>
          </a:p>
        </p:txBody>
      </p:sp>
      <p:sp>
        <p:nvSpPr>
          <p:cNvPr id="22" name="Shape 20"/>
          <p:cNvSpPr/>
          <p:nvPr/>
        </p:nvSpPr>
        <p:spPr>
          <a:xfrm>
            <a:off x="7790688" y="3858768"/>
            <a:ext cx="3822192"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065008" y="4041648"/>
            <a:ext cx="329184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Order is undisclosed</a:t>
            </a:r>
            <a:endParaRPr lang="en-US" sz="1500" dirty="0"/>
          </a:p>
        </p:txBody>
      </p:sp>
      <p:sp>
        <p:nvSpPr>
          <p:cNvPr id="24" name="Text 22"/>
          <p:cNvSpPr/>
          <p:nvPr/>
        </p:nvSpPr>
        <p:spPr>
          <a:xfrm>
            <a:off x="8065008" y="4389120"/>
            <a:ext cx="3273552" cy="822960"/>
          </a:xfrm>
          <a:prstGeom prst="rect">
            <a:avLst/>
          </a:prstGeom>
          <a:noFill/>
          <a:ln/>
        </p:spPr>
        <p:txBody>
          <a:bodyPr wrap="square" lIns="0" tIns="0" rIns="0" bIns="0" rtlCol="0" anchor="ctr"/>
          <a:lstStyle/>
          <a:p>
            <a:pPr indent="0" marL="0">
              <a:lnSpc>
                <a:spcPts val="1450"/>
              </a:lnSpc>
              <a:buNone/>
            </a:pPr>
            <a:r>
              <a:rPr lang="en-US" sz="1150" dirty="0">
                <a:solidFill>
                  <a:srgbClr val="5B7186"/>
                </a:solidFill>
                <a:latin typeface="Calibri" pitchFamily="34" charset="0"/>
                <a:ea typeface="Calibri" pitchFamily="34" charset="-122"/>
                <a:cs typeface="Calibri" pitchFamily="34" charset="-120"/>
              </a:rPr>
              <a:t>The three degradations are applied in random order, so no fixed inverse sequence exists. We learn one joint mapping instead of chaining separate stages.</a:t>
            </a:r>
            <a:endParaRPr lang="en-US" sz="1150" dirty="0"/>
          </a:p>
        </p:txBody>
      </p:sp>
      <p:sp>
        <p:nvSpPr>
          <p:cNvPr id="25" name="Text 23"/>
          <p:cNvSpPr/>
          <p:nvPr/>
        </p:nvSpPr>
        <p:spPr>
          <a:xfrm>
            <a:off x="566928" y="5486400"/>
            <a:ext cx="11055096" cy="36576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Output contract: KLA does not clip or renormalize. Whatever we save is scored verbatim — our pipeline clips to [0,1] and formats.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Dataset analysis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Every one of the 6,800 arrays was inspected — no sampling, no assumptions</a:t>
            </a:r>
            <a:endParaRPr lang="en-US" sz="1350" dirty="0"/>
          </a:p>
        </p:txBody>
      </p:sp>
      <p:sp>
        <p:nvSpPr>
          <p:cNvPr id="4" name="Text 2"/>
          <p:cNvSpPr/>
          <p:nvPr/>
        </p:nvSpPr>
        <p:spPr>
          <a:xfrm>
            <a:off x="566928" y="1517904"/>
            <a:ext cx="1572768" cy="329184"/>
          </a:xfrm>
          <a:prstGeom prst="rect">
            <a:avLst/>
          </a:prstGeom>
          <a:noFill/>
          <a:ln/>
        </p:spPr>
        <p:txBody>
          <a:bodyPr wrap="square" lIns="0" tIns="0" rIns="0" bIns="0" rtlCol="0" anchor="ctr"/>
          <a:lstStyle/>
          <a:p>
            <a:pPr algn="l" indent="0" marL="0">
              <a:buNone/>
            </a:pPr>
            <a:endParaRPr lang="en-US" sz="1100" dirty="0"/>
          </a:p>
        </p:txBody>
      </p:sp>
      <p:sp>
        <p:nvSpPr>
          <p:cNvPr id="5" name="Text 3"/>
          <p:cNvSpPr/>
          <p:nvPr/>
        </p:nvSpPr>
        <p:spPr>
          <a:xfrm>
            <a:off x="2139696" y="1517904"/>
            <a:ext cx="78638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count</a:t>
            </a:r>
            <a:endParaRPr lang="en-US" sz="1100" dirty="0"/>
          </a:p>
        </p:txBody>
      </p:sp>
      <p:sp>
        <p:nvSpPr>
          <p:cNvPr id="6" name="Text 4"/>
          <p:cNvSpPr/>
          <p:nvPr/>
        </p:nvSpPr>
        <p:spPr>
          <a:xfrm>
            <a:off x="2926080" y="1517904"/>
            <a:ext cx="969264"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shape</a:t>
            </a:r>
            <a:endParaRPr lang="en-US" sz="1100" dirty="0"/>
          </a:p>
        </p:txBody>
      </p:sp>
      <p:sp>
        <p:nvSpPr>
          <p:cNvPr id="7" name="Text 5"/>
          <p:cNvSpPr/>
          <p:nvPr/>
        </p:nvSpPr>
        <p:spPr>
          <a:xfrm>
            <a:off x="3895344" y="1517904"/>
            <a:ext cx="1572768"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range</a:t>
            </a:r>
            <a:endParaRPr lang="en-US" sz="1100" dirty="0"/>
          </a:p>
        </p:txBody>
      </p:sp>
      <p:sp>
        <p:nvSpPr>
          <p:cNvPr id="8" name="Text 6"/>
          <p:cNvSpPr/>
          <p:nvPr/>
        </p:nvSpPr>
        <p:spPr>
          <a:xfrm>
            <a:off x="5468112" y="1517904"/>
            <a:ext cx="1133856" cy="329184"/>
          </a:xfrm>
          <a:prstGeom prst="rect">
            <a:avLst/>
          </a:prstGeom>
          <a:noFill/>
          <a:ln/>
        </p:spPr>
        <p:txBody>
          <a:bodyPr wrap="square" lIns="0" tIns="0" rIns="0" bIns="0" rtlCol="0" anchor="ctr"/>
          <a:lstStyle/>
          <a:p>
            <a:pPr algn="ctr" indent="0" marL="0">
              <a:buNone/>
            </a:pPr>
            <a:r>
              <a:rPr lang="en-US" sz="1100" b="1" dirty="0">
                <a:solidFill>
                  <a:srgbClr val="5B7186"/>
                </a:solidFill>
                <a:latin typeface="Calibri" pitchFamily="34" charset="0"/>
                <a:ea typeface="Calibri" pitchFamily="34" charset="-122"/>
                <a:cs typeface="Calibri" pitchFamily="34" charset="-120"/>
              </a:rPr>
              <a:t>outside [0,1]</a:t>
            </a:r>
            <a:endParaRPr lang="en-US" sz="1100" dirty="0"/>
          </a:p>
        </p:txBody>
      </p:sp>
      <p:sp>
        <p:nvSpPr>
          <p:cNvPr id="9" name="Shape 7"/>
          <p:cNvSpPr/>
          <p:nvPr/>
        </p:nvSpPr>
        <p:spPr>
          <a:xfrm>
            <a:off x="566928" y="1847088"/>
            <a:ext cx="6035040" cy="0"/>
          </a:xfrm>
          <a:prstGeom prst="line">
            <a:avLst/>
          </a:prstGeom>
          <a:noFill/>
          <a:ln w="12700">
            <a:solidFill>
              <a:srgbClr val="D9E2EC"/>
            </a:solidFill>
            <a:prstDash val="solid"/>
          </a:ln>
        </p:spPr>
      </p:sp>
      <p:sp>
        <p:nvSpPr>
          <p:cNvPr id="10" name="Text 8"/>
          <p:cNvSpPr/>
          <p:nvPr/>
        </p:nvSpPr>
        <p:spPr>
          <a:xfrm>
            <a:off x="566928" y="1901952"/>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GT</a:t>
            </a:r>
            <a:endParaRPr lang="en-US" sz="1100" dirty="0"/>
          </a:p>
        </p:txBody>
      </p:sp>
      <p:sp>
        <p:nvSpPr>
          <p:cNvPr id="11" name="Text 9"/>
          <p:cNvSpPr/>
          <p:nvPr/>
        </p:nvSpPr>
        <p:spPr>
          <a:xfrm>
            <a:off x="2139696" y="1901952"/>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2" name="Text 10"/>
          <p:cNvSpPr/>
          <p:nvPr/>
        </p:nvSpPr>
        <p:spPr>
          <a:xfrm>
            <a:off x="2926080" y="1901952"/>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256×256</a:t>
            </a:r>
            <a:endParaRPr lang="en-US" sz="1100" dirty="0"/>
          </a:p>
        </p:txBody>
      </p:sp>
      <p:sp>
        <p:nvSpPr>
          <p:cNvPr id="13" name="Text 11"/>
          <p:cNvSpPr/>
          <p:nvPr/>
        </p:nvSpPr>
        <p:spPr>
          <a:xfrm>
            <a:off x="3895344" y="1901952"/>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0.000 … 1.000</a:t>
            </a:r>
            <a:endParaRPr lang="en-US" sz="1100" dirty="0"/>
          </a:p>
        </p:txBody>
      </p:sp>
      <p:sp>
        <p:nvSpPr>
          <p:cNvPr id="14" name="Text 12"/>
          <p:cNvSpPr/>
          <p:nvPr/>
        </p:nvSpPr>
        <p:spPr>
          <a:xfrm>
            <a:off x="5468112" y="1901952"/>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0.00%</a:t>
            </a:r>
            <a:endParaRPr lang="en-US" sz="1100" dirty="0"/>
          </a:p>
        </p:txBody>
      </p:sp>
      <p:sp>
        <p:nvSpPr>
          <p:cNvPr id="15" name="Text 13"/>
          <p:cNvSpPr/>
          <p:nvPr/>
        </p:nvSpPr>
        <p:spPr>
          <a:xfrm>
            <a:off x="566928" y="2286000"/>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train NoisyLR</a:t>
            </a:r>
            <a:endParaRPr lang="en-US" sz="1100" dirty="0"/>
          </a:p>
        </p:txBody>
      </p:sp>
      <p:sp>
        <p:nvSpPr>
          <p:cNvPr id="16" name="Text 14"/>
          <p:cNvSpPr/>
          <p:nvPr/>
        </p:nvSpPr>
        <p:spPr>
          <a:xfrm>
            <a:off x="2139696" y="2286000"/>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3,200</a:t>
            </a:r>
            <a:endParaRPr lang="en-US" sz="1100" dirty="0"/>
          </a:p>
        </p:txBody>
      </p:sp>
      <p:sp>
        <p:nvSpPr>
          <p:cNvPr id="17" name="Text 15"/>
          <p:cNvSpPr/>
          <p:nvPr/>
        </p:nvSpPr>
        <p:spPr>
          <a:xfrm>
            <a:off x="2926080" y="2286000"/>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18" name="Text 16"/>
          <p:cNvSpPr/>
          <p:nvPr/>
        </p:nvSpPr>
        <p:spPr>
          <a:xfrm>
            <a:off x="3895344" y="2286000"/>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−0.279 … 2.158</a:t>
            </a:r>
            <a:endParaRPr lang="en-US" sz="1100" dirty="0"/>
          </a:p>
        </p:txBody>
      </p:sp>
      <p:sp>
        <p:nvSpPr>
          <p:cNvPr id="19" name="Text 17"/>
          <p:cNvSpPr/>
          <p:nvPr/>
        </p:nvSpPr>
        <p:spPr>
          <a:xfrm>
            <a:off x="5468112" y="2286000"/>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3.39%</a:t>
            </a:r>
            <a:endParaRPr lang="en-US" sz="1100" dirty="0"/>
          </a:p>
        </p:txBody>
      </p:sp>
      <p:sp>
        <p:nvSpPr>
          <p:cNvPr id="20" name="Text 18"/>
          <p:cNvSpPr/>
          <p:nvPr/>
        </p:nvSpPr>
        <p:spPr>
          <a:xfrm>
            <a:off x="566928" y="2670048"/>
            <a:ext cx="1572768" cy="329184"/>
          </a:xfrm>
          <a:prstGeom prst="rect">
            <a:avLst/>
          </a:prstGeom>
          <a:noFill/>
          <a:ln/>
        </p:spPr>
        <p:txBody>
          <a:bodyPr wrap="square" lIns="0" tIns="0" rIns="0" bIns="0" rtlCol="0" anchor="ctr"/>
          <a:lstStyle/>
          <a:p>
            <a:pPr algn="l" indent="0" marL="0">
              <a:buNone/>
            </a:pPr>
            <a:r>
              <a:rPr lang="en-US" sz="1100" b="1" dirty="0">
                <a:solidFill>
                  <a:srgbClr val="13202E"/>
                </a:solidFill>
                <a:latin typeface="Calibri" pitchFamily="34" charset="0"/>
                <a:ea typeface="Calibri" pitchFamily="34" charset="-122"/>
                <a:cs typeface="Calibri" pitchFamily="34" charset="-120"/>
              </a:rPr>
              <a:t>test NoisyLR</a:t>
            </a:r>
            <a:endParaRPr lang="en-US" sz="1100" dirty="0"/>
          </a:p>
        </p:txBody>
      </p:sp>
      <p:sp>
        <p:nvSpPr>
          <p:cNvPr id="21" name="Text 19"/>
          <p:cNvSpPr/>
          <p:nvPr/>
        </p:nvSpPr>
        <p:spPr>
          <a:xfrm>
            <a:off x="2139696" y="2670048"/>
            <a:ext cx="78638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400</a:t>
            </a:r>
            <a:endParaRPr lang="en-US" sz="1100" dirty="0"/>
          </a:p>
        </p:txBody>
      </p:sp>
      <p:sp>
        <p:nvSpPr>
          <p:cNvPr id="22" name="Text 20"/>
          <p:cNvSpPr/>
          <p:nvPr/>
        </p:nvSpPr>
        <p:spPr>
          <a:xfrm>
            <a:off x="2926080" y="2670048"/>
            <a:ext cx="969264"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128×128</a:t>
            </a:r>
            <a:endParaRPr lang="en-US" sz="1100" dirty="0"/>
          </a:p>
        </p:txBody>
      </p:sp>
      <p:sp>
        <p:nvSpPr>
          <p:cNvPr id="23" name="Text 21"/>
          <p:cNvSpPr/>
          <p:nvPr/>
        </p:nvSpPr>
        <p:spPr>
          <a:xfrm>
            <a:off x="3895344" y="2670048"/>
            <a:ext cx="1572768"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−0.225 … 2.158</a:t>
            </a:r>
            <a:endParaRPr lang="en-US" sz="1100" dirty="0"/>
          </a:p>
        </p:txBody>
      </p:sp>
      <p:sp>
        <p:nvSpPr>
          <p:cNvPr id="24" name="Text 22"/>
          <p:cNvSpPr/>
          <p:nvPr/>
        </p:nvSpPr>
        <p:spPr>
          <a:xfrm>
            <a:off x="5468112" y="2670048"/>
            <a:ext cx="1133856" cy="329184"/>
          </a:xfrm>
          <a:prstGeom prst="rect">
            <a:avLst/>
          </a:prstGeom>
          <a:noFill/>
          <a:ln/>
        </p:spPr>
        <p:txBody>
          <a:bodyPr wrap="square" lIns="0" tIns="0" rIns="0" bIns="0" rtlCol="0" anchor="ctr"/>
          <a:lstStyle/>
          <a:p>
            <a:pPr algn="ctr" indent="0" marL="0">
              <a:buNone/>
            </a:pPr>
            <a:r>
              <a:rPr lang="en-US" sz="1100" dirty="0">
                <a:solidFill>
                  <a:srgbClr val="13202E"/>
                </a:solidFill>
                <a:latin typeface="Calibri" pitchFamily="34" charset="0"/>
                <a:ea typeface="Calibri" pitchFamily="34" charset="-122"/>
                <a:cs typeface="Calibri" pitchFamily="34" charset="-120"/>
              </a:rPr>
              <a:t>3.74%</a:t>
            </a:r>
            <a:endParaRPr lang="en-US" sz="1100" dirty="0"/>
          </a:p>
        </p:txBody>
      </p:sp>
      <p:sp>
        <p:nvSpPr>
          <p:cNvPr id="25" name="Shape 23"/>
          <p:cNvSpPr/>
          <p:nvPr/>
        </p:nvSpPr>
        <p:spPr>
          <a:xfrm>
            <a:off x="566928" y="2999232"/>
            <a:ext cx="6035040" cy="0"/>
          </a:xfrm>
          <a:prstGeom prst="line">
            <a:avLst/>
          </a:prstGeom>
          <a:noFill/>
          <a:ln w="12700">
            <a:solidFill>
              <a:srgbClr val="D9E2EC"/>
            </a:solidFill>
            <a:prstDash val="solid"/>
          </a:ln>
        </p:spPr>
      </p:sp>
      <p:sp>
        <p:nvSpPr>
          <p:cNvPr id="26" name="Text 24"/>
          <p:cNvSpPr/>
          <p:nvPr/>
        </p:nvSpPr>
        <p:spPr>
          <a:xfrm>
            <a:off x="566928" y="3200400"/>
            <a:ext cx="603504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Pairing rule: identical filename</a:t>
            </a:r>
            <a:endParaRPr lang="en-US" sz="1500" dirty="0"/>
          </a:p>
        </p:txBody>
      </p:sp>
      <p:sp>
        <p:nvSpPr>
          <p:cNvPr id="27" name="Text 25"/>
          <p:cNvSpPr/>
          <p:nvPr/>
        </p:nvSpPr>
        <p:spPr>
          <a:xfrm>
            <a:off x="566928" y="3547872"/>
            <a:ext cx="603504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GT/000123.npy ↔ NoisyLR/000123.npy — no suffix, no offset, no index table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×2 scale confirmed on every pair checked; zero exceptions</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Train and test NoisyLR statistics match (mean 0.4335 vs 0.4427) — the OOD half differs in content, not degradation strength</a:t>
            </a:r>
            <a:endParaRPr lang="en-US" sz="1150" dirty="0"/>
          </a:p>
        </p:txBody>
      </p:sp>
      <p:sp>
        <p:nvSpPr>
          <p:cNvPr id="28" name="Shape 26"/>
          <p:cNvSpPr/>
          <p:nvPr/>
        </p:nvSpPr>
        <p:spPr>
          <a:xfrm>
            <a:off x="566928" y="5047488"/>
            <a:ext cx="6035040" cy="1170432"/>
          </a:xfrm>
          <a:prstGeom prst="roundRect">
            <a:avLst>
              <a:gd name="adj" fmla="val 4688"/>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5175504"/>
            <a:ext cx="557784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Measured, not assumed</a:t>
            </a:r>
            <a:endParaRPr lang="en-US" sz="1300" dirty="0"/>
          </a:p>
        </p:txBody>
      </p:sp>
      <p:sp>
        <p:nvSpPr>
          <p:cNvPr id="30" name="Text 28"/>
          <p:cNvSpPr/>
          <p:nvPr/>
        </p:nvSpPr>
        <p:spPr>
          <a:xfrm>
            <a:off x="804672" y="5468112"/>
            <a:ext cx="5577840" cy="658368"/>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Downsampler is anti-aliased, not nearest (residual RMSE 0.0853 vs 0.0979). Effective noise std varies per image from 0.025 to 0.20 — the model must be blind to noise strength.</a:t>
            </a:r>
            <a:endParaRPr lang="en-US" sz="1050" dirty="0"/>
          </a:p>
        </p:txBody>
      </p:sp>
      <p:pic>
        <p:nvPicPr>
          <p:cNvPr id="31" name="Image 0" descr="C:\Users\mdsha\Downloads\KLA Hackathon\kla-restoration\results\figures\phase1_dataset_peek.png">    </p:cNvPr>
          <p:cNvPicPr>
            <a:picLocks noChangeAspect="1"/>
          </p:cNvPicPr>
          <p:nvPr/>
        </p:nvPicPr>
        <p:blipFill>
          <a:blip r:embed="rId1"/>
          <a:stretch>
            <a:fillRect/>
          </a:stretch>
        </p:blipFill>
        <p:spPr>
          <a:xfrm>
            <a:off x="6858000" y="1481328"/>
            <a:ext cx="4754880" cy="3566160"/>
          </a:xfrm>
          <a:prstGeom prst="rect">
            <a:avLst/>
          </a:prstGeom>
        </p:spPr>
      </p:pic>
      <p:sp>
        <p:nvSpPr>
          <p:cNvPr id="32" name="Text 29"/>
          <p:cNvSpPr/>
          <p:nvPr/>
        </p:nvSpPr>
        <p:spPr>
          <a:xfrm>
            <a:off x="6858000" y="5102352"/>
            <a:ext cx="4754880" cy="457200"/>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GT (top) · train NoisyLR (middle) · test NoisyLR (bottom). Natural imagery, not wafer scans.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End-to-end pipeline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joint mapping — no cascade of per-degradation stages</a:t>
            </a:r>
            <a:endParaRPr lang="en-US" sz="1350" dirty="0"/>
          </a:p>
        </p:txBody>
      </p:sp>
      <p:sp>
        <p:nvSpPr>
          <p:cNvPr id="4" name="Shape 2"/>
          <p:cNvSpPr/>
          <p:nvPr/>
        </p:nvSpPr>
        <p:spPr>
          <a:xfrm>
            <a:off x="56692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65836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Load</a:t>
            </a:r>
            <a:endParaRPr lang="en-US" sz="1350" dirty="0"/>
          </a:p>
        </p:txBody>
      </p:sp>
      <p:sp>
        <p:nvSpPr>
          <p:cNvPr id="6" name="Text 4"/>
          <p:cNvSpPr/>
          <p:nvPr/>
        </p:nvSpPr>
        <p:spPr>
          <a:xfrm>
            <a:off x="64008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.npy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raw, unclipped</a:t>
            </a:r>
            <a:endParaRPr lang="en-US" sz="1000" dirty="0"/>
          </a:p>
        </p:txBody>
      </p:sp>
      <p:sp>
        <p:nvSpPr>
          <p:cNvPr id="7" name="Text 5"/>
          <p:cNvSpPr/>
          <p:nvPr/>
        </p:nvSpPr>
        <p:spPr>
          <a:xfrm>
            <a:off x="2304288"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459736"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2551176"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Normalize</a:t>
            </a:r>
            <a:endParaRPr lang="en-US" sz="1350" dirty="0"/>
          </a:p>
        </p:txBody>
      </p:sp>
      <p:sp>
        <p:nvSpPr>
          <p:cNvPr id="10" name="Text 8"/>
          <p:cNvSpPr/>
          <p:nvPr/>
        </p:nvSpPr>
        <p:spPr>
          <a:xfrm>
            <a:off x="2532888"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fixed mean shift</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−0.4335</a:t>
            </a:r>
            <a:endParaRPr lang="en-US" sz="1000" dirty="0"/>
          </a:p>
        </p:txBody>
      </p:sp>
      <p:sp>
        <p:nvSpPr>
          <p:cNvPr id="11" name="Text 9"/>
          <p:cNvSpPr/>
          <p:nvPr/>
        </p:nvSpPr>
        <p:spPr>
          <a:xfrm>
            <a:off x="4197096"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4352544" y="1828800"/>
            <a:ext cx="1755648" cy="1481328"/>
          </a:xfrm>
          <a:prstGeom prst="roundRect">
            <a:avLst>
              <a:gd name="adj" fmla="val 3704"/>
            </a:avLst>
          </a:prstGeom>
          <a:solidFill>
            <a:srgbClr val="1C7293"/>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4443984" y="1993392"/>
            <a:ext cx="1572768"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NAFNet-SR</a:t>
            </a:r>
            <a:endParaRPr lang="en-US" sz="1350" dirty="0"/>
          </a:p>
        </p:txBody>
      </p:sp>
      <p:sp>
        <p:nvSpPr>
          <p:cNvPr id="14" name="Text 12"/>
          <p:cNvSpPr/>
          <p:nvPr/>
        </p:nvSpPr>
        <p:spPr>
          <a:xfrm>
            <a:off x="4425696"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enc–dec at LR res</a:t>
            </a:r>
            <a:endParaRPr lang="en-US" sz="1000" dirty="0"/>
          </a:p>
          <a:p>
            <a:pPr algn="ctr" indent="0" marL="0">
              <a:lnSpc>
                <a:spcPts val="1300"/>
              </a:lnSpc>
              <a:buNone/>
            </a:pPr>
            <a:r>
              <a:rPr lang="en-US" sz="1000" dirty="0">
                <a:solidFill>
                  <a:srgbClr val="DCEAF2"/>
                </a:solidFill>
                <a:latin typeface="Calibri" pitchFamily="34" charset="0"/>
                <a:ea typeface="Calibri" pitchFamily="34" charset="-122"/>
                <a:cs typeface="Calibri" pitchFamily="34" charset="-120"/>
              </a:rPr>
              <a:t>4.02 M params</a:t>
            </a:r>
            <a:endParaRPr lang="en-US" sz="1000" dirty="0"/>
          </a:p>
        </p:txBody>
      </p:sp>
      <p:sp>
        <p:nvSpPr>
          <p:cNvPr id="15" name="Text 13"/>
          <p:cNvSpPr/>
          <p:nvPr/>
        </p:nvSpPr>
        <p:spPr>
          <a:xfrm>
            <a:off x="6089904"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245352"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6336792"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PixelShuffle ×2</a:t>
            </a:r>
            <a:endParaRPr lang="en-US" sz="1350" dirty="0"/>
          </a:p>
        </p:txBody>
      </p:sp>
      <p:sp>
        <p:nvSpPr>
          <p:cNvPr id="18" name="Text 16"/>
          <p:cNvSpPr/>
          <p:nvPr/>
        </p:nvSpPr>
        <p:spPr>
          <a:xfrm>
            <a:off x="6318504"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upsample deferred</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to the last layer</a:t>
            </a:r>
            <a:endParaRPr lang="en-US" sz="1000" dirty="0"/>
          </a:p>
        </p:txBody>
      </p:sp>
      <p:sp>
        <p:nvSpPr>
          <p:cNvPr id="19" name="Text 17"/>
          <p:cNvSpPr/>
          <p:nvPr/>
        </p:nvSpPr>
        <p:spPr>
          <a:xfrm>
            <a:off x="7982712"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8138160"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Text 19"/>
          <p:cNvSpPr/>
          <p:nvPr/>
        </p:nvSpPr>
        <p:spPr>
          <a:xfrm>
            <a:off x="8229600"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 bicubic</a:t>
            </a:r>
            <a:endParaRPr lang="en-US" sz="1350" dirty="0"/>
          </a:p>
        </p:txBody>
      </p:sp>
      <p:sp>
        <p:nvSpPr>
          <p:cNvPr id="22" name="Text 20"/>
          <p:cNvSpPr/>
          <p:nvPr/>
        </p:nvSpPr>
        <p:spPr>
          <a:xfrm>
            <a:off x="8211312"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global residual</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zero-init tail</a:t>
            </a:r>
            <a:endParaRPr lang="en-US" sz="1000" dirty="0"/>
          </a:p>
        </p:txBody>
      </p:sp>
      <p:sp>
        <p:nvSpPr>
          <p:cNvPr id="23" name="Text 21"/>
          <p:cNvSpPr/>
          <p:nvPr/>
        </p:nvSpPr>
        <p:spPr>
          <a:xfrm>
            <a:off x="9875520" y="2331720"/>
            <a:ext cx="173736" cy="45720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10030968" y="1828800"/>
            <a:ext cx="1755648" cy="1481328"/>
          </a:xfrm>
          <a:prstGeom prst="roundRect">
            <a:avLst>
              <a:gd name="adj" fmla="val 3704"/>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5" name="Text 23"/>
          <p:cNvSpPr/>
          <p:nvPr/>
        </p:nvSpPr>
        <p:spPr>
          <a:xfrm>
            <a:off x="10122408" y="1993392"/>
            <a:ext cx="1572768" cy="347472"/>
          </a:xfrm>
          <a:prstGeom prst="rect">
            <a:avLst/>
          </a:prstGeom>
          <a:noFill/>
          <a:ln/>
        </p:spPr>
        <p:txBody>
          <a:bodyPr wrap="square" lIns="0" tIns="0" rIns="0" bIns="0" rtlCol="0" anchor="ctr"/>
          <a:lstStyle/>
          <a:p>
            <a:pPr algn="ctr" indent="0" marL="0">
              <a:buNone/>
            </a:pPr>
            <a:r>
              <a:rPr lang="en-US" sz="1350" b="1" dirty="0">
                <a:solidFill>
                  <a:srgbClr val="13202E"/>
                </a:solidFill>
                <a:latin typeface="Cambria" pitchFamily="34" charset="0"/>
                <a:ea typeface="Cambria" pitchFamily="34" charset="-122"/>
                <a:cs typeface="Cambria" pitchFamily="34" charset="-120"/>
              </a:rPr>
              <a:t>Clip &amp; save</a:t>
            </a:r>
            <a:endParaRPr lang="en-US" sz="1350" dirty="0"/>
          </a:p>
        </p:txBody>
      </p:sp>
      <p:sp>
        <p:nvSpPr>
          <p:cNvPr id="26" name="Text 24"/>
          <p:cNvSpPr/>
          <p:nvPr/>
        </p:nvSpPr>
        <p:spPr>
          <a:xfrm>
            <a:off x="10104120" y="2377440"/>
            <a:ext cx="1609344" cy="822960"/>
          </a:xfrm>
          <a:prstGeom prst="rect">
            <a:avLst/>
          </a:prstGeom>
          <a:noFill/>
          <a:ln/>
        </p:spPr>
        <p:txBody>
          <a:bodyPr wrap="square" lIns="0" tIns="0" rIns="0" bIns="0" rtlCol="0" anchor="ctr"/>
          <a:lstStyle/>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[0,1] float32</a:t>
            </a:r>
            <a:endParaRPr lang="en-US" sz="1000" dirty="0"/>
          </a:p>
          <a:p>
            <a:pPr algn="ctr" indent="0" marL="0">
              <a:lnSpc>
                <a:spcPts val="1300"/>
              </a:lnSpc>
              <a:buNone/>
            </a:pPr>
            <a:r>
              <a:rPr lang="en-US" sz="1000" dirty="0">
                <a:solidFill>
                  <a:srgbClr val="5B7186"/>
                </a:solidFill>
                <a:latin typeface="Calibri" pitchFamily="34" charset="0"/>
                <a:ea typeface="Calibri" pitchFamily="34" charset="-122"/>
                <a:cs typeface="Calibri" pitchFamily="34" charset="-120"/>
              </a:rPr>
              <a:t>same filename</a:t>
            </a:r>
            <a:endParaRPr lang="en-US" sz="1000" dirty="0"/>
          </a:p>
        </p:txBody>
      </p:sp>
      <p:sp>
        <p:nvSpPr>
          <p:cNvPr id="27" name="Text 25"/>
          <p:cNvSpPr/>
          <p:nvPr/>
        </p:nvSpPr>
        <p:spPr>
          <a:xfrm>
            <a:off x="566928" y="3712464"/>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Two properties this buys us</a:t>
            </a:r>
            <a:endParaRPr lang="en-US" sz="1600" dirty="0"/>
          </a:p>
        </p:txBody>
      </p:sp>
      <p:sp>
        <p:nvSpPr>
          <p:cNvPr id="28" name="Shape 26"/>
          <p:cNvSpPr/>
          <p:nvPr/>
        </p:nvSpPr>
        <p:spPr>
          <a:xfrm>
            <a:off x="566928" y="4114800"/>
            <a:ext cx="5394960"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80467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Resolution-agnostic</a:t>
            </a:r>
            <a:endParaRPr lang="en-US" sz="1350" dirty="0"/>
          </a:p>
        </p:txBody>
      </p:sp>
      <p:sp>
        <p:nvSpPr>
          <p:cNvPr id="30" name="Text 28"/>
          <p:cNvSpPr/>
          <p:nvPr/>
        </p:nvSpPr>
        <p:spPr>
          <a:xfrm>
            <a:off x="80467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Fully convolutional; inputs are reflect-padded to a multiple of stride 8 and cropped back exactly. No spatial dimension is hardcoded anywhere. Verified on 128², 256² and a deliberately odd 130×97.</a:t>
            </a:r>
            <a:endParaRPr lang="en-US" sz="1100" dirty="0"/>
          </a:p>
        </p:txBody>
      </p:sp>
      <p:sp>
        <p:nvSpPr>
          <p:cNvPr id="31" name="Shape 29"/>
          <p:cNvSpPr/>
          <p:nvPr/>
        </p:nvSpPr>
        <p:spPr>
          <a:xfrm>
            <a:off x="6236208" y="4114800"/>
            <a:ext cx="5376672"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6473952" y="4261104"/>
            <a:ext cx="4937760" cy="292608"/>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Starts at the baseline, never below</a:t>
            </a:r>
            <a:endParaRPr lang="en-US" sz="1350" dirty="0"/>
          </a:p>
        </p:txBody>
      </p:sp>
      <p:sp>
        <p:nvSpPr>
          <p:cNvPr id="33" name="Text 31"/>
          <p:cNvSpPr/>
          <p:nvPr/>
        </p:nvSpPr>
        <p:spPr>
          <a:xfrm>
            <a:off x="6473952" y="4553712"/>
            <a:ext cx="4937760" cy="118872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The tail convolution is zero-initialized and the bicubic upsample is added back, so an untrained model outputs exactly the bicubic baseline. Training can only improve on the floor — and convergence starts from a sensible point instead of noise.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Preprocessing and data handling</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The rule that matters: never clip the input, only the output</a:t>
            </a:r>
            <a:endParaRPr lang="en-US" sz="1350" dirty="0"/>
          </a:p>
        </p:txBody>
      </p:sp>
      <p:sp>
        <p:nvSpPr>
          <p:cNvPr id="4" name="Shape 2"/>
          <p:cNvSpPr/>
          <p:nvPr/>
        </p:nvSpPr>
        <p:spPr>
          <a:xfrm>
            <a:off x="566928" y="1517904"/>
            <a:ext cx="5394960"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2296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Normalization</a:t>
            </a:r>
            <a:endParaRPr lang="en-US" sz="1600" dirty="0"/>
          </a:p>
        </p:txBody>
      </p:sp>
      <p:sp>
        <p:nvSpPr>
          <p:cNvPr id="6" name="Text 4"/>
          <p:cNvSpPr/>
          <p:nvPr/>
        </p:nvSpPr>
        <p:spPr>
          <a:xfrm>
            <a:off x="822960" y="2029968"/>
            <a:ext cx="4846320" cy="384048"/>
          </a:xfrm>
          <a:prstGeom prst="rect">
            <a:avLst/>
          </a:prstGeom>
          <a:noFill/>
          <a:ln/>
        </p:spPr>
        <p:txBody>
          <a:bodyPr wrap="square" lIns="0" tIns="0" rIns="0" bIns="0" rtlCol="0" anchor="ctr"/>
          <a:lstStyle/>
          <a:p>
            <a:pPr indent="0" marL="0">
              <a:buNone/>
            </a:pPr>
            <a:r>
              <a:rPr lang="en-US" sz="1500" b="1" dirty="0">
                <a:solidFill>
                  <a:srgbClr val="065A82"/>
                </a:solidFill>
                <a:latin typeface="Courier New" pitchFamily="34" charset="0"/>
                <a:ea typeface="Courier New" pitchFamily="34" charset="-122"/>
                <a:cs typeface="Courier New" pitchFamily="34" charset="-120"/>
              </a:rPr>
              <a:t>x_norm  =  y_raw  −  0.4335</a:t>
            </a:r>
            <a:endParaRPr lang="en-US" sz="1500" dirty="0"/>
          </a:p>
        </p:txBody>
      </p:sp>
      <p:sp>
        <p:nvSpPr>
          <p:cNvPr id="7" name="Text 5"/>
          <p:cNvSpPr/>
          <p:nvPr/>
        </p:nvSpPr>
        <p:spPr>
          <a:xfrm>
            <a:off x="822960" y="2468880"/>
            <a:ext cx="4882896" cy="10972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A single fixed dataset-level constant, recorded in configs/final.yaml</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No per-image statistics — those would leak test-time information</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std deliberately left at 1.0: mean-shift only</a:t>
            </a:r>
            <a:endParaRPr lang="en-US" sz="1100" dirty="0"/>
          </a:p>
        </p:txBody>
      </p:sp>
      <p:sp>
        <p:nvSpPr>
          <p:cNvPr id="8" name="Shape 6"/>
          <p:cNvSpPr/>
          <p:nvPr/>
        </p:nvSpPr>
        <p:spPr>
          <a:xfrm>
            <a:off x="6236208" y="1517904"/>
            <a:ext cx="5376672" cy="2148840"/>
          </a:xfrm>
          <a:prstGeom prst="roundRect">
            <a:avLst>
              <a:gd name="adj" fmla="val 2553"/>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6492240" y="1682496"/>
            <a:ext cx="4846320" cy="310896"/>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the input is never clipped</a:t>
            </a:r>
            <a:endParaRPr lang="en-US" sz="1600" dirty="0"/>
          </a:p>
        </p:txBody>
      </p:sp>
      <p:sp>
        <p:nvSpPr>
          <p:cNvPr id="10" name="Text 8"/>
          <p:cNvSpPr/>
          <p:nvPr/>
        </p:nvSpPr>
        <p:spPr>
          <a:xfrm>
            <a:off x="6492240" y="2048256"/>
            <a:ext cx="4864608" cy="146304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3,120 of 3,200 training images contain a pixel above 1.0, and 1,967 contain a pixel below 0.0. Those out-of-range values are signal, not error — they carry the noise realization. Clipping the input would destroy evidence the network needs to estimate and remove the noise.</a:t>
            </a:r>
            <a:endParaRPr lang="en-US" sz="1150" dirty="0"/>
          </a:p>
        </p:txBody>
      </p:sp>
      <p:sp>
        <p:nvSpPr>
          <p:cNvPr id="11" name="Text 9"/>
          <p:cNvSpPr/>
          <p:nvPr/>
        </p:nvSpPr>
        <p:spPr>
          <a:xfrm>
            <a:off x="566928" y="384048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Augmentation and cropping</a:t>
            </a:r>
            <a:endParaRPr lang="en-US" sz="1600" dirty="0"/>
          </a:p>
        </p:txBody>
      </p:sp>
      <p:sp>
        <p:nvSpPr>
          <p:cNvPr id="12" name="Shape 10"/>
          <p:cNvSpPr/>
          <p:nvPr/>
        </p:nvSpPr>
        <p:spPr>
          <a:xfrm>
            <a:off x="566928"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Shape 11"/>
          <p:cNvSpPr/>
          <p:nvPr/>
        </p:nvSpPr>
        <p:spPr>
          <a:xfrm>
            <a:off x="804672" y="4425696"/>
            <a:ext cx="329184" cy="329184"/>
          </a:xfrm>
          <a:prstGeom prst="ellipse">
            <a:avLst/>
          </a:prstGeom>
          <a:solidFill>
            <a:srgbClr val="F2A65A"/>
          </a:solidFill>
          <a:ln w="12700">
            <a:solidFill>
              <a:srgbClr val="F2A65A"/>
            </a:solidFill>
            <a:prstDash val="solid"/>
          </a:ln>
        </p:spPr>
      </p:sp>
      <p:sp>
        <p:nvSpPr>
          <p:cNvPr id="14" name="Text 12"/>
          <p:cNvSpPr/>
          <p:nvPr/>
        </p:nvSpPr>
        <p:spPr>
          <a:xfrm>
            <a:off x="1225296"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Random crop on the LR grid</a:t>
            </a:r>
            <a:endParaRPr lang="en-US" sz="1250" dirty="0"/>
          </a:p>
        </p:txBody>
      </p:sp>
      <p:sp>
        <p:nvSpPr>
          <p:cNvPr id="15" name="Text 13"/>
          <p:cNvSpPr/>
          <p:nvPr/>
        </p:nvSpPr>
        <p:spPr>
          <a:xfrm>
            <a:off x="804672"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LR 64×64 with the exactly matched GT 128×128 crop</a:t>
            </a:r>
            <a:endParaRPr lang="en-US" sz="1050" dirty="0"/>
          </a:p>
        </p:txBody>
      </p:sp>
      <p:sp>
        <p:nvSpPr>
          <p:cNvPr id="16" name="Shape 14"/>
          <p:cNvSpPr/>
          <p:nvPr/>
        </p:nvSpPr>
        <p:spPr>
          <a:xfrm>
            <a:off x="4334256"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Shape 15"/>
          <p:cNvSpPr/>
          <p:nvPr/>
        </p:nvSpPr>
        <p:spPr>
          <a:xfrm>
            <a:off x="4572000" y="4425696"/>
            <a:ext cx="329184" cy="329184"/>
          </a:xfrm>
          <a:prstGeom prst="ellipse">
            <a:avLst/>
          </a:prstGeom>
          <a:solidFill>
            <a:srgbClr val="F2A65A"/>
          </a:solidFill>
          <a:ln w="12700">
            <a:solidFill>
              <a:srgbClr val="F2A65A"/>
            </a:solidFill>
            <a:prstDash val="solid"/>
          </a:ln>
        </p:spPr>
      </p:sp>
      <p:sp>
        <p:nvSpPr>
          <p:cNvPr id="18" name="Text 16"/>
          <p:cNvSpPr/>
          <p:nvPr/>
        </p:nvSpPr>
        <p:spPr>
          <a:xfrm>
            <a:off x="4992624"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Flips + 90° rotations only</a:t>
            </a:r>
            <a:endParaRPr lang="en-US" sz="1250" dirty="0"/>
          </a:p>
        </p:txBody>
      </p:sp>
      <p:sp>
        <p:nvSpPr>
          <p:cNvPr id="19" name="Text 17"/>
          <p:cNvSpPr/>
          <p:nvPr/>
        </p:nvSpPr>
        <p:spPr>
          <a:xfrm>
            <a:off x="4572000"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Nothing that touches intensity statistics</a:t>
            </a:r>
            <a:endParaRPr lang="en-US" sz="1050" dirty="0"/>
          </a:p>
        </p:txBody>
      </p:sp>
      <p:sp>
        <p:nvSpPr>
          <p:cNvPr id="20" name="Shape 18"/>
          <p:cNvSpPr/>
          <p:nvPr/>
        </p:nvSpPr>
        <p:spPr>
          <a:xfrm>
            <a:off x="8101584" y="4224528"/>
            <a:ext cx="3529584" cy="1371600"/>
          </a:xfrm>
          <a:prstGeom prst="roundRect">
            <a:avLst>
              <a:gd name="adj" fmla="val 4000"/>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1" name="Shape 19"/>
          <p:cNvSpPr/>
          <p:nvPr/>
        </p:nvSpPr>
        <p:spPr>
          <a:xfrm>
            <a:off x="8339328" y="4425696"/>
            <a:ext cx="329184" cy="329184"/>
          </a:xfrm>
          <a:prstGeom prst="ellipse">
            <a:avLst/>
          </a:prstGeom>
          <a:solidFill>
            <a:srgbClr val="F2A65A"/>
          </a:solidFill>
          <a:ln w="12700">
            <a:solidFill>
              <a:srgbClr val="F2A65A"/>
            </a:solidFill>
            <a:prstDash val="solid"/>
          </a:ln>
        </p:spPr>
      </p:sp>
      <p:sp>
        <p:nvSpPr>
          <p:cNvPr id="22" name="Text 20"/>
          <p:cNvSpPr/>
          <p:nvPr/>
        </p:nvSpPr>
        <p:spPr>
          <a:xfrm>
            <a:off x="8759952" y="4425696"/>
            <a:ext cx="2706624" cy="329184"/>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Validation: 200 images</a:t>
            </a:r>
            <a:endParaRPr lang="en-US" sz="1250" dirty="0"/>
          </a:p>
        </p:txBody>
      </p:sp>
      <p:sp>
        <p:nvSpPr>
          <p:cNvPr id="23" name="Text 21"/>
          <p:cNvSpPr/>
          <p:nvPr/>
        </p:nvSpPr>
        <p:spPr>
          <a:xfrm>
            <a:off x="8339328" y="4846320"/>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Held out by image, seeded, file list committed to the repo</a:t>
            </a:r>
            <a:endParaRPr lang="en-US" sz="1050" dirty="0"/>
          </a:p>
        </p:txBody>
      </p:sp>
      <p:sp>
        <p:nvSpPr>
          <p:cNvPr id="24" name="Text 22"/>
          <p:cNvSpPr/>
          <p:nvPr/>
        </p:nvSpPr>
        <p:spPr>
          <a:xfrm>
            <a:off x="566928" y="5815584"/>
            <a:ext cx="11055096" cy="329184"/>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Test_NoisyLR is never trained on, never validated on, and never used for checkpoint selection.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Architecture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NAFNet-style encoder–decoder, ×2 upsample deferred to the very end</a:t>
            </a:r>
            <a:endParaRPr lang="en-US" sz="1350" dirty="0"/>
          </a:p>
        </p:txBody>
      </p:sp>
      <p:sp>
        <p:nvSpPr>
          <p:cNvPr id="4" name="Shape 2"/>
          <p:cNvSpPr/>
          <p:nvPr/>
        </p:nvSpPr>
        <p:spPr>
          <a:xfrm>
            <a:off x="56692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71323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Encoder</a:t>
            </a:r>
            <a:endParaRPr lang="en-US" sz="1400" dirty="0"/>
          </a:p>
        </p:txBody>
      </p:sp>
      <p:sp>
        <p:nvSpPr>
          <p:cNvPr id="6" name="Text 4"/>
          <p:cNvSpPr/>
          <p:nvPr/>
        </p:nvSpPr>
        <p:spPr>
          <a:xfrm>
            <a:off x="71323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32 → 64 → 128</a:t>
            </a:r>
            <a:endParaRPr lang="en-US" sz="1150" dirty="0"/>
          </a:p>
        </p:txBody>
      </p:sp>
      <p:sp>
        <p:nvSpPr>
          <p:cNvPr id="7" name="Text 5"/>
          <p:cNvSpPr/>
          <p:nvPr/>
        </p:nvSpPr>
        <p:spPr>
          <a:xfrm>
            <a:off x="71323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4]</a:t>
            </a:r>
            <a:endParaRPr lang="en-US" sz="1050" dirty="0"/>
          </a:p>
        </p:txBody>
      </p:sp>
      <p:sp>
        <p:nvSpPr>
          <p:cNvPr id="8" name="Shape 6"/>
          <p:cNvSpPr/>
          <p:nvPr/>
        </p:nvSpPr>
        <p:spPr>
          <a:xfrm>
            <a:off x="340156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7"/>
          <p:cNvSpPr/>
          <p:nvPr/>
        </p:nvSpPr>
        <p:spPr>
          <a:xfrm>
            <a:off x="354787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Bottleneck</a:t>
            </a:r>
            <a:endParaRPr lang="en-US" sz="1400" dirty="0"/>
          </a:p>
        </p:txBody>
      </p:sp>
      <p:sp>
        <p:nvSpPr>
          <p:cNvPr id="10" name="Text 8"/>
          <p:cNvSpPr/>
          <p:nvPr/>
        </p:nvSpPr>
        <p:spPr>
          <a:xfrm>
            <a:off x="354787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width 256</a:t>
            </a:r>
            <a:endParaRPr lang="en-US" sz="1150" dirty="0"/>
          </a:p>
        </p:txBody>
      </p:sp>
      <p:sp>
        <p:nvSpPr>
          <p:cNvPr id="11" name="Text 9"/>
          <p:cNvSpPr/>
          <p:nvPr/>
        </p:nvSpPr>
        <p:spPr>
          <a:xfrm>
            <a:off x="354787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6 NAFBlocks</a:t>
            </a:r>
            <a:endParaRPr lang="en-US" sz="1050" dirty="0"/>
          </a:p>
        </p:txBody>
      </p:sp>
      <p:sp>
        <p:nvSpPr>
          <p:cNvPr id="12" name="Shape 10"/>
          <p:cNvSpPr/>
          <p:nvPr/>
        </p:nvSpPr>
        <p:spPr>
          <a:xfrm>
            <a:off x="6236208" y="1517904"/>
            <a:ext cx="2615184" cy="1298448"/>
          </a:xfrm>
          <a:prstGeom prst="roundRect">
            <a:avLst>
              <a:gd name="adj" fmla="val 422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6382512" y="1645920"/>
            <a:ext cx="2322576" cy="310896"/>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Decoder</a:t>
            </a:r>
            <a:endParaRPr lang="en-US" sz="1400" dirty="0"/>
          </a:p>
        </p:txBody>
      </p:sp>
      <p:sp>
        <p:nvSpPr>
          <p:cNvPr id="14" name="Text 12"/>
          <p:cNvSpPr/>
          <p:nvPr/>
        </p:nvSpPr>
        <p:spPr>
          <a:xfrm>
            <a:off x="6382512" y="1975104"/>
            <a:ext cx="2322576" cy="274320"/>
          </a:xfrm>
          <a:prstGeom prst="rect">
            <a:avLst/>
          </a:prstGeom>
          <a:noFill/>
          <a:ln/>
        </p:spPr>
        <p:txBody>
          <a:bodyPr wrap="square" lIns="0" tIns="0" rIns="0" bIns="0" rtlCol="0" anchor="ctr"/>
          <a:lstStyle/>
          <a:p>
            <a:pPr indent="0" marL="0">
              <a:buNone/>
            </a:pPr>
            <a:r>
              <a:rPr lang="en-US" sz="1150" dirty="0">
                <a:solidFill>
                  <a:srgbClr val="13202E"/>
                </a:solidFill>
                <a:latin typeface="Calibri" pitchFamily="34" charset="0"/>
                <a:ea typeface="Calibri" pitchFamily="34" charset="-122"/>
                <a:cs typeface="Calibri" pitchFamily="34" charset="-120"/>
              </a:rPr>
              <a:t>128 → 64 → 32</a:t>
            </a:r>
            <a:endParaRPr lang="en-US" sz="1150" dirty="0"/>
          </a:p>
        </p:txBody>
      </p:sp>
      <p:sp>
        <p:nvSpPr>
          <p:cNvPr id="15" name="Text 13"/>
          <p:cNvSpPr/>
          <p:nvPr/>
        </p:nvSpPr>
        <p:spPr>
          <a:xfrm>
            <a:off x="6382512" y="2267712"/>
            <a:ext cx="2322576" cy="274320"/>
          </a:xfrm>
          <a:prstGeom prst="rect">
            <a:avLst/>
          </a:prstGeom>
          <a:noFill/>
          <a:ln/>
        </p:spPr>
        <p:txBody>
          <a:bodyPr wrap="square" lIns="0" tIns="0" rIns="0" bIns="0" rtlCol="0" anchor="ctr"/>
          <a:lstStyle/>
          <a:p>
            <a:pPr indent="0" marL="0">
              <a:buNone/>
            </a:pPr>
            <a:r>
              <a:rPr lang="en-US" sz="1050" dirty="0">
                <a:solidFill>
                  <a:srgbClr val="5B7186"/>
                </a:solidFill>
                <a:latin typeface="Calibri" pitchFamily="34" charset="0"/>
                <a:ea typeface="Calibri" pitchFamily="34" charset="-122"/>
                <a:cs typeface="Calibri" pitchFamily="34" charset="-120"/>
              </a:rPr>
              <a:t>blocks [2, 2, 2]</a:t>
            </a:r>
            <a:endParaRPr lang="en-US" sz="1050" dirty="0"/>
          </a:p>
        </p:txBody>
      </p:sp>
      <p:sp>
        <p:nvSpPr>
          <p:cNvPr id="16" name="Shape 14"/>
          <p:cNvSpPr/>
          <p:nvPr/>
        </p:nvSpPr>
        <p:spPr>
          <a:xfrm>
            <a:off x="9070848" y="1517904"/>
            <a:ext cx="2615184" cy="1298448"/>
          </a:xfrm>
          <a:prstGeom prst="roundRect">
            <a:avLst>
              <a:gd name="adj" fmla="val 4225"/>
            </a:avLst>
          </a:prstGeom>
          <a:solidFill>
            <a:srgbClr val="065A82"/>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7" name="Text 15"/>
          <p:cNvSpPr/>
          <p:nvPr/>
        </p:nvSpPr>
        <p:spPr>
          <a:xfrm>
            <a:off x="9217152" y="1645920"/>
            <a:ext cx="2322576"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Head</a:t>
            </a:r>
            <a:endParaRPr lang="en-US" sz="1400" dirty="0"/>
          </a:p>
        </p:txBody>
      </p:sp>
      <p:sp>
        <p:nvSpPr>
          <p:cNvPr id="18" name="Text 16"/>
          <p:cNvSpPr/>
          <p:nvPr/>
        </p:nvSpPr>
        <p:spPr>
          <a:xfrm>
            <a:off x="9217152" y="1975104"/>
            <a:ext cx="2322576" cy="274320"/>
          </a:xfrm>
          <a:prstGeom prst="rect">
            <a:avLst/>
          </a:prstGeom>
          <a:noFill/>
          <a:ln/>
        </p:spPr>
        <p:txBody>
          <a:bodyPr wrap="square" lIns="0" tIns="0" rIns="0" bIns="0" rtlCol="0" anchor="ctr"/>
          <a:lstStyle/>
          <a:p>
            <a:pPr indent="0" marL="0">
              <a:buNone/>
            </a:pPr>
            <a:r>
              <a:rPr lang="en-US" sz="1150" dirty="0">
                <a:solidFill>
                  <a:srgbClr val="DCEAF2"/>
                </a:solidFill>
                <a:latin typeface="Calibri" pitchFamily="34" charset="0"/>
                <a:ea typeface="Calibri" pitchFamily="34" charset="-122"/>
                <a:cs typeface="Calibri" pitchFamily="34" charset="-120"/>
              </a:rPr>
              <a:t>PixelShuffle ×2</a:t>
            </a:r>
            <a:endParaRPr lang="en-US" sz="1150" dirty="0"/>
          </a:p>
        </p:txBody>
      </p:sp>
      <p:sp>
        <p:nvSpPr>
          <p:cNvPr id="19" name="Text 17"/>
          <p:cNvSpPr/>
          <p:nvPr/>
        </p:nvSpPr>
        <p:spPr>
          <a:xfrm>
            <a:off x="9217152" y="2267712"/>
            <a:ext cx="2322576" cy="274320"/>
          </a:xfrm>
          <a:prstGeom prst="rect">
            <a:avLst/>
          </a:prstGeom>
          <a:noFill/>
          <a:ln/>
        </p:spPr>
        <p:txBody>
          <a:bodyPr wrap="square" lIns="0" tIns="0" rIns="0" bIns="0" rtlCol="0" anchor="ctr"/>
          <a:lstStyle/>
          <a:p>
            <a:pPr indent="0" marL="0">
              <a:buNone/>
            </a:pPr>
            <a:r>
              <a:rPr lang="en-US" sz="1050" dirty="0">
                <a:solidFill>
                  <a:srgbClr val="AFCBDC"/>
                </a:solidFill>
                <a:latin typeface="Calibri" pitchFamily="34" charset="0"/>
                <a:ea typeface="Calibri" pitchFamily="34" charset="-122"/>
                <a:cs typeface="Calibri" pitchFamily="34" charset="-120"/>
              </a:rPr>
              <a:t>1 channel out</a:t>
            </a:r>
            <a:endParaRPr lang="en-US" sz="1050" dirty="0"/>
          </a:p>
        </p:txBody>
      </p:sp>
      <p:sp>
        <p:nvSpPr>
          <p:cNvPr id="20" name="Text 18"/>
          <p:cNvSpPr/>
          <p:nvPr/>
        </p:nvSpPr>
        <p:spPr>
          <a:xfrm>
            <a:off x="566928" y="3017520"/>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Why this shape</a:t>
            </a:r>
            <a:endParaRPr lang="en-US" sz="1600" dirty="0"/>
          </a:p>
        </p:txBody>
      </p:sp>
      <p:sp>
        <p:nvSpPr>
          <p:cNvPr id="21" name="Text 19"/>
          <p:cNvSpPr/>
          <p:nvPr/>
        </p:nvSpPr>
        <p:spPr>
          <a:xfrm>
            <a:off x="566928" y="3401568"/>
            <a:ext cx="5486400" cy="19202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the whole encoder–decoder runs at 128×128, not 256×256 — roughly 4× cheaper for the same depth, and throughput is scored</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SimpleGate + simplified channel attention replace softmax attention, keeping quality-per-FLOP high without transformer cost</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Three downsample levels give the receptive field needed to separate speckle from texture</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Fully convolutional, so 128² and 256² inputs both work unchanged</a:t>
            </a:r>
            <a:endParaRPr lang="en-US" sz="1150" dirty="0"/>
          </a:p>
        </p:txBody>
      </p:sp>
      <p:sp>
        <p:nvSpPr>
          <p:cNvPr id="22" name="Shape 20"/>
          <p:cNvSpPr/>
          <p:nvPr/>
        </p:nvSpPr>
        <p:spPr>
          <a:xfrm>
            <a:off x="63550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63550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24" name="Text 22"/>
          <p:cNvSpPr/>
          <p:nvPr/>
        </p:nvSpPr>
        <p:spPr>
          <a:xfrm>
            <a:off x="63550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25" name="Shape 23"/>
          <p:cNvSpPr/>
          <p:nvPr/>
        </p:nvSpPr>
        <p:spPr>
          <a:xfrm>
            <a:off x="9098280" y="3401568"/>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6" name="Text 24"/>
          <p:cNvSpPr/>
          <p:nvPr/>
        </p:nvSpPr>
        <p:spPr>
          <a:xfrm>
            <a:off x="9098280" y="3529584"/>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8</a:t>
            </a:r>
            <a:endParaRPr lang="en-US" sz="3400" dirty="0"/>
          </a:p>
        </p:txBody>
      </p:sp>
      <p:sp>
        <p:nvSpPr>
          <p:cNvPr id="27" name="Text 25"/>
          <p:cNvSpPr/>
          <p:nvPr/>
        </p:nvSpPr>
        <p:spPr>
          <a:xfrm>
            <a:off x="9098280" y="4096512"/>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network stride</a:t>
            </a:r>
            <a:endParaRPr lang="en-US" sz="1100" dirty="0"/>
          </a:p>
        </p:txBody>
      </p:sp>
      <p:sp>
        <p:nvSpPr>
          <p:cNvPr id="28" name="Shape 26"/>
          <p:cNvSpPr/>
          <p:nvPr/>
        </p:nvSpPr>
        <p:spPr>
          <a:xfrm>
            <a:off x="63550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9" name="Text 27"/>
          <p:cNvSpPr/>
          <p:nvPr/>
        </p:nvSpPr>
        <p:spPr>
          <a:xfrm>
            <a:off x="63550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38.9 ms</a:t>
            </a:r>
            <a:endParaRPr lang="en-US" sz="3400" dirty="0"/>
          </a:p>
        </p:txBody>
      </p:sp>
      <p:sp>
        <p:nvSpPr>
          <p:cNvPr id="30" name="Text 28"/>
          <p:cNvSpPr/>
          <p:nvPr/>
        </p:nvSpPr>
        <p:spPr>
          <a:xfrm>
            <a:off x="63550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fwd @ 128², bs 1</a:t>
            </a:r>
            <a:endParaRPr lang="en-US" sz="1100" dirty="0"/>
          </a:p>
        </p:txBody>
      </p:sp>
      <p:sp>
        <p:nvSpPr>
          <p:cNvPr id="31" name="Shape 29"/>
          <p:cNvSpPr/>
          <p:nvPr/>
        </p:nvSpPr>
        <p:spPr>
          <a:xfrm>
            <a:off x="9098280" y="4572000"/>
            <a:ext cx="2542032" cy="1024128"/>
          </a:xfrm>
          <a:prstGeom prst="roundRect">
            <a:avLst>
              <a:gd name="adj" fmla="val 5357"/>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9098280" y="4700016"/>
            <a:ext cx="2542032"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33" name="Text 31"/>
          <p:cNvSpPr/>
          <p:nvPr/>
        </p:nvSpPr>
        <p:spPr>
          <a:xfrm>
            <a:off x="9098280" y="5266944"/>
            <a:ext cx="2542032"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per image @ bs 16</a:t>
            </a:r>
            <a:endParaRPr lang="en-US" sz="1100" dirty="0"/>
          </a:p>
        </p:txBody>
      </p:sp>
      <p:sp>
        <p:nvSpPr>
          <p:cNvPr id="34" name="Text 32"/>
          <p:cNvSpPr/>
          <p:nvPr/>
        </p:nvSpPr>
        <p:spPr>
          <a:xfrm>
            <a:off x="6355080" y="5797296"/>
            <a:ext cx="5303520" cy="310896"/>
          </a:xfrm>
          <a:prstGeom prst="rect">
            <a:avLst/>
          </a:prstGeom>
          <a:noFill/>
          <a:ln/>
        </p:spPr>
        <p:txBody>
          <a:bodyPr wrap="square" lIns="0" tIns="0" rIns="0" bIns="0" rtlCol="0" anchor="ctr"/>
          <a:lstStyle/>
          <a:p>
            <a:pPr indent="0" marL="0">
              <a:buNone/>
            </a:pPr>
            <a:r>
              <a:rPr lang="en-US" sz="1000" i="1" dirty="0">
                <a:solidFill>
                  <a:srgbClr val="5B7186"/>
                </a:solidFill>
                <a:latin typeface="Calibri" pitchFamily="34" charset="0"/>
                <a:ea typeface="Calibri" pitchFamily="34" charset="-122"/>
                <a:cs typeface="Calibri" pitchFamily="34" charset="-120"/>
              </a:rPr>
              <a:t>Latency measured with CUDA events, median of 30 after warmup, on an RTX 4050 Laptop GPU.</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Loss design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Optimizing for fidelity, not for plausibility</a:t>
            </a:r>
            <a:endParaRPr lang="en-US" sz="1350" dirty="0"/>
          </a:p>
        </p:txBody>
      </p:sp>
      <p:sp>
        <p:nvSpPr>
          <p:cNvPr id="4" name="Shape 2"/>
          <p:cNvSpPr/>
          <p:nvPr/>
        </p:nvSpPr>
        <p:spPr>
          <a:xfrm>
            <a:off x="566928" y="1554480"/>
            <a:ext cx="11055096" cy="1060704"/>
          </a:xfrm>
          <a:prstGeom prst="roundRect">
            <a:avLst>
              <a:gd name="adj" fmla="val 517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554480"/>
            <a:ext cx="11055096" cy="1060704"/>
          </a:xfrm>
          <a:prstGeom prst="rect">
            <a:avLst/>
          </a:prstGeom>
          <a:noFill/>
          <a:ln/>
        </p:spPr>
        <p:txBody>
          <a:bodyPr wrap="square" lIns="0" tIns="0" rIns="0" bIns="0" rtlCol="0" anchor="ctr"/>
          <a:lstStyle/>
          <a:p>
            <a:pPr algn="ctr" indent="0" marL="0">
              <a:buNone/>
            </a:pPr>
            <a:r>
              <a:rPr lang="en-US" sz="1900" b="1" dirty="0">
                <a:solidFill>
                  <a:srgbClr val="065A82"/>
                </a:solidFill>
                <a:latin typeface="Courier New" pitchFamily="34" charset="0"/>
                <a:ea typeface="Courier New" pitchFamily="34" charset="-122"/>
                <a:cs typeface="Courier New" pitchFamily="34" charset="-120"/>
              </a:rPr>
              <a:t>L  =  Charbonnier(ε = 1e-3)   +   0.15 · (1 − MS-SSIM)</a:t>
            </a:r>
            <a:endParaRPr lang="en-US" sz="1900" dirty="0"/>
          </a:p>
        </p:txBody>
      </p:sp>
      <p:sp>
        <p:nvSpPr>
          <p:cNvPr id="6" name="Shape 4"/>
          <p:cNvSpPr/>
          <p:nvPr/>
        </p:nvSpPr>
        <p:spPr>
          <a:xfrm>
            <a:off x="566928"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7" name="Text 5"/>
          <p:cNvSpPr/>
          <p:nvPr/>
        </p:nvSpPr>
        <p:spPr>
          <a:xfrm>
            <a:off x="804672"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Charbonnier</a:t>
            </a:r>
            <a:endParaRPr lang="en-US" sz="1500" dirty="0"/>
          </a:p>
        </p:txBody>
      </p:sp>
      <p:sp>
        <p:nvSpPr>
          <p:cNvPr id="8" name="Text 6"/>
          <p:cNvSpPr/>
          <p:nvPr/>
        </p:nvSpPr>
        <p:spPr>
          <a:xfrm>
            <a:off x="804672"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A smooth L1. Robust to the heavy-tailed residuals that speckle produces, where plain L2 would let a few bright outliers dominate the gradient.</a:t>
            </a:r>
            <a:endParaRPr lang="en-US" sz="1100" dirty="0"/>
          </a:p>
        </p:txBody>
      </p:sp>
      <p:sp>
        <p:nvSpPr>
          <p:cNvPr id="9" name="Shape 7"/>
          <p:cNvSpPr/>
          <p:nvPr/>
        </p:nvSpPr>
        <p:spPr>
          <a:xfrm>
            <a:off x="4334256" y="2834640"/>
            <a:ext cx="3529584" cy="1700784"/>
          </a:xfrm>
          <a:prstGeom prst="roundRect">
            <a:avLst>
              <a:gd name="adj" fmla="val 3226"/>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0" name="Text 8"/>
          <p:cNvSpPr/>
          <p:nvPr/>
        </p:nvSpPr>
        <p:spPr>
          <a:xfrm>
            <a:off x="4572000" y="3017520"/>
            <a:ext cx="3054096" cy="310896"/>
          </a:xfrm>
          <a:prstGeom prst="rect">
            <a:avLst/>
          </a:prstGeom>
          <a:noFill/>
          <a:ln/>
        </p:spPr>
        <p:txBody>
          <a:bodyPr wrap="square" lIns="0" tIns="0" rIns="0" bIns="0" rtlCol="0" anchor="ctr"/>
          <a:lstStyle/>
          <a:p>
            <a:pPr indent="0" marL="0">
              <a:buNone/>
            </a:pPr>
            <a:r>
              <a:rPr lang="en-US" sz="1500" b="1" dirty="0">
                <a:solidFill>
                  <a:srgbClr val="1C7293"/>
                </a:solidFill>
                <a:latin typeface="Cambria" pitchFamily="34" charset="0"/>
                <a:ea typeface="Cambria" pitchFamily="34" charset="-122"/>
                <a:cs typeface="Cambria" pitchFamily="34" charset="-120"/>
              </a:rPr>
              <a:t>MS-SSIM (0.15)</a:t>
            </a:r>
            <a:endParaRPr lang="en-US" sz="1500" dirty="0"/>
          </a:p>
        </p:txBody>
      </p:sp>
      <p:sp>
        <p:nvSpPr>
          <p:cNvPr id="11" name="Text 9"/>
          <p:cNvSpPr/>
          <p:nvPr/>
        </p:nvSpPr>
        <p:spPr>
          <a:xfrm>
            <a:off x="4572000" y="3364992"/>
            <a:ext cx="3054096" cy="1005840"/>
          </a:xfrm>
          <a:prstGeom prst="rect">
            <a:avLst/>
          </a:prstGeom>
          <a:noFill/>
          <a:ln/>
        </p:spPr>
        <p:txBody>
          <a:bodyPr wrap="square" lIns="0" tIns="0" rIns="0" bIns="0" rtlCol="0" anchor="ctr"/>
          <a:lstStyle/>
          <a:p>
            <a:pPr indent="0" marL="0">
              <a:lnSpc>
                <a:spcPts val="1450"/>
              </a:lnSpc>
              <a:buNone/>
            </a:pPr>
            <a:r>
              <a:rPr lang="en-US" sz="1100" dirty="0">
                <a:solidFill>
                  <a:srgbClr val="5B7186"/>
                </a:solidFill>
                <a:latin typeface="Calibri" pitchFamily="34" charset="0"/>
                <a:ea typeface="Calibri" pitchFamily="34" charset="-122"/>
                <a:cs typeface="Calibri" pitchFamily="34" charset="-120"/>
              </a:rPr>
              <a:t>Multi-scale structural term. Pulls LPIPS in the right direction without a VGG download or perceptual-weight tuning we cannot afford tonight.</a:t>
            </a:r>
            <a:endParaRPr lang="en-US" sz="1100" dirty="0"/>
          </a:p>
        </p:txBody>
      </p:sp>
      <p:sp>
        <p:nvSpPr>
          <p:cNvPr id="12" name="Shape 10"/>
          <p:cNvSpPr/>
          <p:nvPr/>
        </p:nvSpPr>
        <p:spPr>
          <a:xfrm>
            <a:off x="8101584" y="2834640"/>
            <a:ext cx="3520440" cy="1700784"/>
          </a:xfrm>
          <a:prstGeom prst="roundRect">
            <a:avLst>
              <a:gd name="adj" fmla="val 3226"/>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3" name="Text 11"/>
          <p:cNvSpPr/>
          <p:nvPr/>
        </p:nvSpPr>
        <p:spPr>
          <a:xfrm>
            <a:off x="8339328" y="3017520"/>
            <a:ext cx="3054096" cy="310896"/>
          </a:xfrm>
          <a:prstGeom prst="rect">
            <a:avLst/>
          </a:prstGeom>
          <a:noFill/>
          <a:ln/>
        </p:spPr>
        <p:txBody>
          <a:bodyPr wrap="square" lIns="0" tIns="0" rIns="0" bIns="0" rtlCol="0" anchor="ctr"/>
          <a:lstStyle/>
          <a:p>
            <a:pPr indent="0" marL="0">
              <a:buNone/>
            </a:pPr>
            <a:r>
              <a:rPr lang="en-US" sz="1500" b="1" dirty="0">
                <a:solidFill>
                  <a:srgbClr val="B5544A"/>
                </a:solidFill>
                <a:latin typeface="Cambria" pitchFamily="34" charset="0"/>
                <a:ea typeface="Cambria" pitchFamily="34" charset="-122"/>
                <a:cs typeface="Cambria" pitchFamily="34" charset="-120"/>
              </a:rPr>
              <a:t>No adversarial loss</a:t>
            </a:r>
            <a:endParaRPr lang="en-US" sz="1500" dirty="0"/>
          </a:p>
        </p:txBody>
      </p:sp>
      <p:sp>
        <p:nvSpPr>
          <p:cNvPr id="14" name="Text 12"/>
          <p:cNvSpPr/>
          <p:nvPr/>
        </p:nvSpPr>
        <p:spPr>
          <a:xfrm>
            <a:off x="8339328" y="3364992"/>
            <a:ext cx="3054096" cy="1097280"/>
          </a:xfrm>
          <a:prstGeom prst="rect">
            <a:avLst/>
          </a:prstGeom>
          <a:noFill/>
          <a:ln/>
        </p:spPr>
        <p:txBody>
          <a:bodyPr wrap="square" lIns="0" tIns="0" rIns="0" bIns="0" rtlCol="0" anchor="ctr"/>
          <a:lstStyle/>
          <a:p>
            <a:pPr indent="0" marL="0">
              <a:lnSpc>
                <a:spcPts val="1350"/>
              </a:lnSpc>
              <a:buNone/>
            </a:pPr>
            <a:r>
              <a:rPr lang="en-US" sz="1050" dirty="0">
                <a:solidFill>
                  <a:srgbClr val="8A4A42"/>
                </a:solidFill>
                <a:latin typeface="Calibri" pitchFamily="34" charset="0"/>
                <a:ea typeface="Calibri" pitchFamily="34" charset="-122"/>
                <a:cs typeface="Calibri" pitchFamily="34" charset="-120"/>
              </a:rPr>
              <a:t>A GAN would invent texture that looks right and is not there. The objective scores against real ground truth, so hallucinated structure is penalised — and with the metric weights undisclosed, trading dB for perceptual sharpness is an uncontrolled bet.</a:t>
            </a:r>
            <a:endParaRPr lang="en-US" sz="1050" dirty="0"/>
          </a:p>
        </p:txBody>
      </p:sp>
      <p:sp>
        <p:nvSpPr>
          <p:cNvPr id="15" name="Text 13"/>
          <p:cNvSpPr/>
          <p:nvPr/>
        </p:nvSpPr>
        <p:spPr>
          <a:xfrm>
            <a:off x="566928" y="4791456"/>
            <a:ext cx="7315200" cy="329184"/>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Rejected alternatives, and why</a:t>
            </a:r>
            <a:endParaRPr lang="en-US" sz="1500" dirty="0"/>
          </a:p>
        </p:txBody>
      </p:sp>
      <p:sp>
        <p:nvSpPr>
          <p:cNvPr id="16" name="Text 14"/>
          <p:cNvSpPr/>
          <p:nvPr/>
        </p:nvSpPr>
        <p:spPr>
          <a:xfrm>
            <a:off x="566928" y="5157216"/>
            <a:ext cx="10972800" cy="118872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Real-ESRGAN / BSRGAN initialization — GAN-trained priors synthesize plausible detail rather than recovering real detail; several dB of PSNR traded for LPIPS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Full SwinIR / Restormer — window attention is slow, and end-to-end throughput is an explicitly scored axis</a:t>
            </a:r>
            <a:endParaRPr lang="en-US" sz="1100" dirty="0"/>
          </a:p>
          <a:p>
            <a:pPr marL="342900" indent="-342900">
              <a:lnSpc>
                <a:spcPts val="1700"/>
              </a:lnSpc>
              <a:spcAft>
                <a:spcPts val="700"/>
              </a:spcAft>
              <a:buSzPct val="100000"/>
              <a:buChar char="•"/>
            </a:pPr>
            <a:r>
              <a:rPr lang="en-US" sz="1100" dirty="0">
                <a:solidFill>
                  <a:srgbClr val="13202E"/>
                </a:solidFill>
                <a:latin typeface="Calibri" pitchFamily="34" charset="0"/>
                <a:ea typeface="Calibri" pitchFamily="34" charset="-122"/>
                <a:cs typeface="Calibri" pitchFamily="34" charset="-120"/>
              </a:rPr>
              <a:t>Perceptual (VGG) loss — weight tuning and a 500 MB download were not affordable inside the build window</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Experiments and baseline</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One config, one seed, one checkpoint — the training budget was spent, not scattered</a:t>
            </a:r>
            <a:endParaRPr lang="en-US" sz="1350" dirty="0"/>
          </a:p>
        </p:txBody>
      </p:sp>
      <p:sp>
        <p:nvSpPr>
          <p:cNvPr id="4" name="Text 2"/>
          <p:cNvSpPr/>
          <p:nvPr/>
        </p:nvSpPr>
        <p:spPr>
          <a:xfrm>
            <a:off x="566928" y="1481328"/>
            <a:ext cx="5486400" cy="310896"/>
          </a:xfrm>
          <a:prstGeom prst="rect">
            <a:avLst/>
          </a:prstGeom>
          <a:noFill/>
          <a:ln/>
        </p:spPr>
        <p:txBody>
          <a:bodyPr wrap="square" lIns="0" tIns="0" rIns="0" bIns="0" rtlCol="0" anchor="ctr"/>
          <a:lstStyle/>
          <a:p>
            <a:pPr indent="0" marL="0">
              <a:buNone/>
            </a:pPr>
            <a:r>
              <a:rPr lang="en-US" sz="1500" b="1" dirty="0">
                <a:solidFill>
                  <a:srgbClr val="13202E"/>
                </a:solidFill>
                <a:latin typeface="Cambria" pitchFamily="34" charset="0"/>
                <a:ea typeface="Cambria" pitchFamily="34" charset="-122"/>
                <a:cs typeface="Cambria" pitchFamily="34" charset="-120"/>
              </a:rPr>
              <a:t>Mandatory baseline: bicubic ×2</a:t>
            </a:r>
            <a:endParaRPr lang="en-US" sz="1500" dirty="0"/>
          </a:p>
        </p:txBody>
      </p:sp>
      <p:sp>
        <p:nvSpPr>
          <p:cNvPr id="5" name="Text 3"/>
          <p:cNvSpPr/>
          <p:nvPr/>
        </p:nvSpPr>
        <p:spPr>
          <a:xfrm>
            <a:off x="566928" y="1828800"/>
            <a:ext cx="5486400" cy="914400"/>
          </a:xfrm>
          <a:prstGeom prst="rect">
            <a:avLst/>
          </a:prstGeom>
          <a:noFill/>
          <a:ln/>
        </p:spPr>
        <p:txBody>
          <a:bodyPr wrap="square" lIns="0" tIns="0" rIns="0" bIns="0" rtlCol="0" anchor="ctr"/>
          <a:lstStyle/>
          <a:p>
            <a:pPr indent="0" marL="0">
              <a:lnSpc>
                <a:spcPts val="1500"/>
              </a:lnSpc>
              <a:buNone/>
            </a:pPr>
            <a:r>
              <a:rPr lang="en-US" sz="1150" dirty="0">
                <a:solidFill>
                  <a:srgbClr val="5B7186"/>
                </a:solidFill>
                <a:latin typeface="Calibri" pitchFamily="34" charset="0"/>
                <a:ea typeface="Calibri" pitchFamily="34" charset="-122"/>
                <a:cs typeface="Calibri" pitchFamily="34" charset="-120"/>
              </a:rPr>
              <a:t>A plain ×2 bicubic upsample of the raw input, clipped at save time. It does no denoising at all, which is exactly why its SSIM and LPIPS are poor while PSNR is merely mediocre — the noise survives the upsample intact. It is the honest floor.</a:t>
            </a:r>
            <a:endParaRPr lang="en-US" sz="1150" dirty="0"/>
          </a:p>
        </p:txBody>
      </p:sp>
      <p:sp>
        <p:nvSpPr>
          <p:cNvPr id="6" name="Text 4"/>
          <p:cNvSpPr/>
          <p:nvPr/>
        </p:nvSpPr>
        <p:spPr>
          <a:xfrm>
            <a:off x="566928" y="2852928"/>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Optimizer</a:t>
            </a:r>
            <a:endParaRPr lang="en-US" sz="1100" dirty="0"/>
          </a:p>
        </p:txBody>
      </p:sp>
      <p:sp>
        <p:nvSpPr>
          <p:cNvPr id="7" name="Text 5"/>
          <p:cNvSpPr/>
          <p:nvPr/>
        </p:nvSpPr>
        <p:spPr>
          <a:xfrm>
            <a:off x="2084832" y="2852928"/>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AdamW, lr 2e-4, cosine → 1e-6, 500-step warmup</a:t>
            </a:r>
            <a:endParaRPr lang="en-US" sz="1100" dirty="0"/>
          </a:p>
        </p:txBody>
      </p:sp>
      <p:sp>
        <p:nvSpPr>
          <p:cNvPr id="8" name="Text 6"/>
          <p:cNvSpPr/>
          <p:nvPr/>
        </p:nvSpPr>
        <p:spPr>
          <a:xfrm>
            <a:off x="566928" y="3186684"/>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Batch / crop</a:t>
            </a:r>
            <a:endParaRPr lang="en-US" sz="1100" dirty="0"/>
          </a:p>
        </p:txBody>
      </p:sp>
      <p:sp>
        <p:nvSpPr>
          <p:cNvPr id="9" name="Text 7"/>
          <p:cNvSpPr/>
          <p:nvPr/>
        </p:nvSpPr>
        <p:spPr>
          <a:xfrm>
            <a:off x="2084832" y="3186684"/>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64 · LR 64 → GT 128</a:t>
            </a:r>
            <a:endParaRPr lang="en-US" sz="1100" dirty="0"/>
          </a:p>
        </p:txBody>
      </p:sp>
      <p:sp>
        <p:nvSpPr>
          <p:cNvPr id="10" name="Text 8"/>
          <p:cNvSpPr/>
          <p:nvPr/>
        </p:nvSpPr>
        <p:spPr>
          <a:xfrm>
            <a:off x="566928" y="3520440"/>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Precision</a:t>
            </a:r>
            <a:endParaRPr lang="en-US" sz="1100" dirty="0"/>
          </a:p>
        </p:txBody>
      </p:sp>
      <p:sp>
        <p:nvSpPr>
          <p:cNvPr id="11" name="Text 9"/>
          <p:cNvSpPr/>
          <p:nvPr/>
        </p:nvSpPr>
        <p:spPr>
          <a:xfrm>
            <a:off x="2084832" y="3520440"/>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bf16 autocast, channels_last, TF32</a:t>
            </a:r>
            <a:endParaRPr lang="en-US" sz="1100" dirty="0"/>
          </a:p>
        </p:txBody>
      </p:sp>
      <p:sp>
        <p:nvSpPr>
          <p:cNvPr id="12" name="Text 10"/>
          <p:cNvSpPr/>
          <p:nvPr/>
        </p:nvSpPr>
        <p:spPr>
          <a:xfrm>
            <a:off x="566928" y="3854196"/>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EMA</a:t>
            </a:r>
            <a:endParaRPr lang="en-US" sz="1100" dirty="0"/>
          </a:p>
        </p:txBody>
      </p:sp>
      <p:sp>
        <p:nvSpPr>
          <p:cNvPr id="13" name="Text 11"/>
          <p:cNvSpPr/>
          <p:nvPr/>
        </p:nvSpPr>
        <p:spPr>
          <a:xfrm>
            <a:off x="2084832" y="3854196"/>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0.999 — EMA weights are what get validated and saved</a:t>
            </a:r>
            <a:endParaRPr lang="en-US" sz="1100" dirty="0"/>
          </a:p>
        </p:txBody>
      </p:sp>
      <p:sp>
        <p:nvSpPr>
          <p:cNvPr id="14" name="Text 12"/>
          <p:cNvSpPr/>
          <p:nvPr/>
        </p:nvSpPr>
        <p:spPr>
          <a:xfrm>
            <a:off x="566928" y="4187952"/>
            <a:ext cx="1463040" cy="292608"/>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Seed</a:t>
            </a:r>
            <a:endParaRPr lang="en-US" sz="1100" dirty="0"/>
          </a:p>
        </p:txBody>
      </p:sp>
      <p:sp>
        <p:nvSpPr>
          <p:cNvPr id="15" name="Text 13"/>
          <p:cNvSpPr/>
          <p:nvPr/>
        </p:nvSpPr>
        <p:spPr>
          <a:xfrm>
            <a:off x="2084832" y="4187952"/>
            <a:ext cx="4023360" cy="292608"/>
          </a:xfrm>
          <a:prstGeom prst="rect">
            <a:avLst/>
          </a:prstGeom>
          <a:noFill/>
          <a:ln/>
        </p:spPr>
        <p:txBody>
          <a:bodyPr wrap="square" lIns="0" tIns="0" rIns="0" bIns="0" rtlCol="0" anchor="ctr"/>
          <a:lstStyle/>
          <a:p>
            <a:pPr indent="0" marL="0">
              <a:buNone/>
            </a:pPr>
            <a:r>
              <a:rPr lang="en-US" sz="1100" dirty="0">
                <a:solidFill>
                  <a:srgbClr val="13202E"/>
                </a:solidFill>
                <a:latin typeface="Calibri" pitchFamily="34" charset="0"/>
                <a:ea typeface="Calibri" pitchFamily="34" charset="-122"/>
                <a:cs typeface="Calibri" pitchFamily="34" charset="-120"/>
              </a:rPr>
              <a:t>1337, logged with the git hash in every checkpoint</a:t>
            </a:r>
            <a:endParaRPr lang="en-US" sz="1100" dirty="0"/>
          </a:p>
        </p:txBody>
      </p:sp>
      <p:graphicFrame>
        <p:nvGraphicFramePr>
          <p:cNvPr id="16" name="Chart 0" descr=""/>
          <p:cNvGraphicFramePr/>
          <p:nvPr/>
        </p:nvGraphicFramePr>
        <p:xfrm>
          <a:off x="6400800" y="141732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400800" y="4242816"/>
            <a:ext cx="5257800" cy="566928"/>
          </a:xfrm>
          <a:prstGeom prst="rect">
            <a:avLst/>
          </a:prstGeom>
          <a:noFill/>
          <a:ln/>
        </p:spPr>
        <p:txBody>
          <a:bodyPr wrap="square" lIns="0" tIns="0" rIns="0" bIns="0" rtlCol="0" anchor="ctr"/>
          <a:lstStyle/>
          <a:p>
            <a:pPr indent="0" marL="0">
              <a:lnSpc>
                <a:spcPts val="1200"/>
              </a:lnSpc>
              <a:buNone/>
            </a:pPr>
            <a:r>
              <a:rPr lang="en-US" sz="950" i="1" dirty="0">
                <a:solidFill>
                  <a:srgbClr val="5B7186"/>
                </a:solidFill>
                <a:latin typeface="Calibri" pitchFamily="34" charset="0"/>
                <a:ea typeface="Calibri" pitchFamily="34" charset="-122"/>
                <a:cs typeface="Calibri" pitchFamily="34" charset="-120"/>
              </a:rPr>
              <a:t>Every point is above the bicubic floor of 22.73 dB. Validation peaks at step 4,000 (27.52 dB) and then declines while training loss keeps falling — overfitting. The submitted checkpoint is that peak.</a:t>
            </a:r>
            <a:endParaRPr lang="en-US" sz="950" dirty="0"/>
          </a:p>
        </p:txBody>
      </p:sp>
      <p:sp>
        <p:nvSpPr>
          <p:cNvPr id="18" name="Shape 15"/>
          <p:cNvSpPr/>
          <p:nvPr/>
        </p:nvSpPr>
        <p:spPr>
          <a:xfrm>
            <a:off x="566928" y="4882896"/>
            <a:ext cx="11055096" cy="1243584"/>
          </a:xfrm>
          <a:prstGeom prst="roundRect">
            <a:avLst>
              <a:gd name="adj" fmla="val 4412"/>
            </a:avLst>
          </a:prstGeom>
          <a:solidFill>
            <a:srgbClr val="EAF2F7"/>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6"/>
          <p:cNvSpPr/>
          <p:nvPr/>
        </p:nvSpPr>
        <p:spPr>
          <a:xfrm>
            <a:off x="841248" y="5010912"/>
            <a:ext cx="10424160" cy="274320"/>
          </a:xfrm>
          <a:prstGeom prst="rect">
            <a:avLst/>
          </a:prstGeom>
          <a:noFill/>
          <a:ln/>
        </p:spPr>
        <p:txBody>
          <a:bodyPr wrap="square" lIns="0" tIns="0" rIns="0" bIns="0" rtlCol="0" anchor="ctr"/>
          <a:lstStyle/>
          <a:p>
            <a:pPr indent="0" marL="0">
              <a:buNone/>
            </a:pPr>
            <a:r>
              <a:rPr lang="en-US" sz="1300" b="1" dirty="0">
                <a:solidFill>
                  <a:srgbClr val="065A82"/>
                </a:solidFill>
                <a:latin typeface="Cambria" pitchFamily="34" charset="0"/>
                <a:ea typeface="Cambria" pitchFamily="34" charset="-122"/>
                <a:cs typeface="Cambria" pitchFamily="34" charset="-120"/>
              </a:rPr>
              <a:t>Pipeline sanity checks — both pass before any training was launched</a:t>
            </a:r>
            <a:endParaRPr lang="en-US" sz="1300" dirty="0"/>
          </a:p>
        </p:txBody>
      </p:sp>
      <p:sp>
        <p:nvSpPr>
          <p:cNvPr id="20" name="Text 17"/>
          <p:cNvSpPr/>
          <p:nvPr/>
        </p:nvSpPr>
        <p:spPr>
          <a:xfrm>
            <a:off x="841248" y="5321808"/>
            <a:ext cx="10424160" cy="658368"/>
          </a:xfrm>
          <a:prstGeom prst="rect">
            <a:avLst/>
          </a:prstGeom>
          <a:noFill/>
          <a:ln/>
        </p:spPr>
        <p:txBody>
          <a:bodyPr wrap="square" lIns="0" tIns="0" rIns="0" bIns="0" rtlCol="0" anchor="ctr"/>
          <a:lstStyle/>
          <a:p>
            <a:pPr indent="0" marL="0">
              <a:lnSpc>
                <a:spcPts val="1400"/>
              </a:lnSpc>
              <a:buNone/>
            </a:pPr>
            <a:r>
              <a:rPr lang="en-US" sz="1050" dirty="0">
                <a:solidFill>
                  <a:srgbClr val="5B7186"/>
                </a:solidFill>
                <a:latin typeface="Calibri" pitchFamily="34" charset="0"/>
                <a:ea typeface="Calibri" pitchFamily="34" charset="-122"/>
                <a:cs typeface="Calibri" pitchFamily="34" charset="-120"/>
              </a:rPr>
              <a:t>A · memorize 2 fixed pairs (no crop, no augmentation): 26.36 → 52.13 dB, +25.77 over bicubic — the network can represent the mapping.          B · save/reload round trip: bit-exact float32, clip exact, channel axis stripped — saving costs nothing.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Results: PSNR · SSIM · LPIPS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KLA's blend over the three is undisclosed, so all three are reported unweighted</a:t>
            </a:r>
            <a:endParaRPr lang="en-US" sz="1350" dirty="0"/>
          </a:p>
        </p:txBody>
      </p:sp>
      <p:sp>
        <p:nvSpPr>
          <p:cNvPr id="4" name="Shape 2"/>
          <p:cNvSpPr/>
          <p:nvPr/>
        </p:nvSpPr>
        <p:spPr>
          <a:xfrm>
            <a:off x="566928"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804672"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PSNR ↑</a:t>
            </a:r>
            <a:endParaRPr lang="en-US" sz="1700" dirty="0"/>
          </a:p>
        </p:txBody>
      </p:sp>
      <p:sp>
        <p:nvSpPr>
          <p:cNvPr id="6" name="Text 4"/>
          <p:cNvSpPr/>
          <p:nvPr/>
        </p:nvSpPr>
        <p:spPr>
          <a:xfrm>
            <a:off x="804672"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7" name="Text 5"/>
          <p:cNvSpPr/>
          <p:nvPr/>
        </p:nvSpPr>
        <p:spPr>
          <a:xfrm>
            <a:off x="804672"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22.7300</a:t>
            </a:r>
            <a:endParaRPr lang="en-US" sz="1800" dirty="0"/>
          </a:p>
        </p:txBody>
      </p:sp>
      <p:sp>
        <p:nvSpPr>
          <p:cNvPr id="8" name="Text 6"/>
          <p:cNvSpPr/>
          <p:nvPr/>
        </p:nvSpPr>
        <p:spPr>
          <a:xfrm>
            <a:off x="2450592"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9" name="Text 7"/>
          <p:cNvSpPr/>
          <p:nvPr/>
        </p:nvSpPr>
        <p:spPr>
          <a:xfrm>
            <a:off x="2450592"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27.5150</a:t>
            </a:r>
            <a:endParaRPr lang="en-US" sz="2200" dirty="0"/>
          </a:p>
        </p:txBody>
      </p:sp>
      <p:sp>
        <p:nvSpPr>
          <p:cNvPr id="10" name="Shape 8"/>
          <p:cNvSpPr/>
          <p:nvPr/>
        </p:nvSpPr>
        <p:spPr>
          <a:xfrm>
            <a:off x="804672" y="2871216"/>
            <a:ext cx="3054096" cy="310896"/>
          </a:xfrm>
          <a:prstGeom prst="roundRect">
            <a:avLst>
              <a:gd name="adj" fmla="val 50000"/>
            </a:avLst>
          </a:prstGeom>
          <a:solidFill>
            <a:srgbClr val="2E8B6F"/>
          </a:solidFill>
          <a:ln w="12700">
            <a:solidFill>
              <a:srgbClr val="2E8B6F"/>
            </a:solidFill>
            <a:prstDash val="solid"/>
          </a:ln>
        </p:spPr>
      </p:sp>
      <p:sp>
        <p:nvSpPr>
          <p:cNvPr id="11" name="Text 9"/>
          <p:cNvSpPr/>
          <p:nvPr/>
        </p:nvSpPr>
        <p:spPr>
          <a:xfrm>
            <a:off x="804672"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+4.79 dB</a:t>
            </a:r>
            <a:endParaRPr lang="en-US" sz="1050" dirty="0"/>
          </a:p>
        </p:txBody>
      </p:sp>
      <p:sp>
        <p:nvSpPr>
          <p:cNvPr id="12" name="Text 10"/>
          <p:cNvSpPr/>
          <p:nvPr/>
        </p:nvSpPr>
        <p:spPr>
          <a:xfrm>
            <a:off x="804672"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Fidelity — how close each pixel is to ground truth.</a:t>
            </a:r>
            <a:endParaRPr lang="en-US" sz="1050" dirty="0"/>
          </a:p>
        </p:txBody>
      </p:sp>
      <p:sp>
        <p:nvSpPr>
          <p:cNvPr id="13" name="Shape 11"/>
          <p:cNvSpPr/>
          <p:nvPr/>
        </p:nvSpPr>
        <p:spPr>
          <a:xfrm>
            <a:off x="4334256"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4572000"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SSIM ↑</a:t>
            </a:r>
            <a:endParaRPr lang="en-US" sz="1700" dirty="0"/>
          </a:p>
        </p:txBody>
      </p:sp>
      <p:sp>
        <p:nvSpPr>
          <p:cNvPr id="15" name="Text 13"/>
          <p:cNvSpPr/>
          <p:nvPr/>
        </p:nvSpPr>
        <p:spPr>
          <a:xfrm>
            <a:off x="4572000"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16" name="Text 14"/>
          <p:cNvSpPr/>
          <p:nvPr/>
        </p:nvSpPr>
        <p:spPr>
          <a:xfrm>
            <a:off x="4572000"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0.5215</a:t>
            </a:r>
            <a:endParaRPr lang="en-US" sz="1800" dirty="0"/>
          </a:p>
        </p:txBody>
      </p:sp>
      <p:sp>
        <p:nvSpPr>
          <p:cNvPr id="17" name="Text 15"/>
          <p:cNvSpPr/>
          <p:nvPr/>
        </p:nvSpPr>
        <p:spPr>
          <a:xfrm>
            <a:off x="6217920"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18" name="Text 16"/>
          <p:cNvSpPr/>
          <p:nvPr/>
        </p:nvSpPr>
        <p:spPr>
          <a:xfrm>
            <a:off x="6217920"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0.7430</a:t>
            </a:r>
            <a:endParaRPr lang="en-US" sz="2200" dirty="0"/>
          </a:p>
        </p:txBody>
      </p:sp>
      <p:sp>
        <p:nvSpPr>
          <p:cNvPr id="19" name="Shape 17"/>
          <p:cNvSpPr/>
          <p:nvPr/>
        </p:nvSpPr>
        <p:spPr>
          <a:xfrm>
            <a:off x="4572000" y="2871216"/>
            <a:ext cx="3054096" cy="310896"/>
          </a:xfrm>
          <a:prstGeom prst="roundRect">
            <a:avLst>
              <a:gd name="adj" fmla="val 50000"/>
            </a:avLst>
          </a:prstGeom>
          <a:solidFill>
            <a:srgbClr val="2E8B6F"/>
          </a:solidFill>
          <a:ln w="12700">
            <a:solidFill>
              <a:srgbClr val="2E8B6F"/>
            </a:solidFill>
            <a:prstDash val="solid"/>
          </a:ln>
        </p:spPr>
      </p:sp>
      <p:sp>
        <p:nvSpPr>
          <p:cNvPr id="20" name="Text 18"/>
          <p:cNvSpPr/>
          <p:nvPr/>
        </p:nvSpPr>
        <p:spPr>
          <a:xfrm>
            <a:off x="4572000"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+0.222</a:t>
            </a:r>
            <a:endParaRPr lang="en-US" sz="1050" dirty="0"/>
          </a:p>
        </p:txBody>
      </p:sp>
      <p:sp>
        <p:nvSpPr>
          <p:cNvPr id="21" name="Text 19"/>
          <p:cNvSpPr/>
          <p:nvPr/>
        </p:nvSpPr>
        <p:spPr>
          <a:xfrm>
            <a:off x="4572000"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Structure — local luminance, contrast and correlation.</a:t>
            </a:r>
            <a:endParaRPr lang="en-US" sz="1050" dirty="0"/>
          </a:p>
        </p:txBody>
      </p:sp>
      <p:sp>
        <p:nvSpPr>
          <p:cNvPr id="22" name="Shape 20"/>
          <p:cNvSpPr/>
          <p:nvPr/>
        </p:nvSpPr>
        <p:spPr>
          <a:xfrm>
            <a:off x="8101584" y="1517904"/>
            <a:ext cx="3529584" cy="2651760"/>
          </a:xfrm>
          <a:prstGeom prst="roundRect">
            <a:avLst>
              <a:gd name="adj" fmla="val 2069"/>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23" name="Text 21"/>
          <p:cNvSpPr/>
          <p:nvPr/>
        </p:nvSpPr>
        <p:spPr>
          <a:xfrm>
            <a:off x="8339328" y="1682496"/>
            <a:ext cx="3054096" cy="329184"/>
          </a:xfrm>
          <a:prstGeom prst="rect">
            <a:avLst/>
          </a:prstGeom>
          <a:noFill/>
          <a:ln/>
        </p:spPr>
        <p:txBody>
          <a:bodyPr wrap="square" lIns="0" tIns="0" rIns="0" bIns="0" rtlCol="0" anchor="ctr"/>
          <a:lstStyle/>
          <a:p>
            <a:pPr indent="0" marL="0">
              <a:buNone/>
            </a:pPr>
            <a:r>
              <a:rPr lang="en-US" sz="1700" b="1" dirty="0">
                <a:solidFill>
                  <a:srgbClr val="13202E"/>
                </a:solidFill>
                <a:latin typeface="Cambria" pitchFamily="34" charset="0"/>
                <a:ea typeface="Cambria" pitchFamily="34" charset="-122"/>
                <a:cs typeface="Cambria" pitchFamily="34" charset="-120"/>
              </a:rPr>
              <a:t>LPIPS ↓</a:t>
            </a:r>
            <a:endParaRPr lang="en-US" sz="1700" dirty="0"/>
          </a:p>
        </p:txBody>
      </p:sp>
      <p:sp>
        <p:nvSpPr>
          <p:cNvPr id="24" name="Text 22"/>
          <p:cNvSpPr/>
          <p:nvPr/>
        </p:nvSpPr>
        <p:spPr>
          <a:xfrm>
            <a:off x="8339328" y="2103120"/>
            <a:ext cx="1554480" cy="237744"/>
          </a:xfrm>
          <a:prstGeom prst="rect">
            <a:avLst/>
          </a:prstGeom>
          <a:noFill/>
          <a:ln/>
        </p:spPr>
        <p:txBody>
          <a:bodyPr wrap="square" lIns="0" tIns="0" rIns="0" bIns="0" rtlCol="0" anchor="ctr"/>
          <a:lstStyle/>
          <a:p>
            <a:pPr indent="0" marL="0">
              <a:buNone/>
            </a:pPr>
            <a:r>
              <a:rPr lang="en-US" sz="1000" dirty="0">
                <a:solidFill>
                  <a:srgbClr val="5B7186"/>
                </a:solidFill>
                <a:latin typeface="Calibri" pitchFamily="34" charset="0"/>
                <a:ea typeface="Calibri" pitchFamily="34" charset="-122"/>
                <a:cs typeface="Calibri" pitchFamily="34" charset="-120"/>
              </a:rPr>
              <a:t>bicubic baseline</a:t>
            </a:r>
            <a:endParaRPr lang="en-US" sz="1000" dirty="0"/>
          </a:p>
        </p:txBody>
      </p:sp>
      <p:sp>
        <p:nvSpPr>
          <p:cNvPr id="25" name="Text 23"/>
          <p:cNvSpPr/>
          <p:nvPr/>
        </p:nvSpPr>
        <p:spPr>
          <a:xfrm>
            <a:off x="8339328" y="2322576"/>
            <a:ext cx="1554480" cy="384048"/>
          </a:xfrm>
          <a:prstGeom prst="rect">
            <a:avLst/>
          </a:prstGeom>
          <a:noFill/>
          <a:ln/>
        </p:spPr>
        <p:txBody>
          <a:bodyPr wrap="square" lIns="0" tIns="0" rIns="0" bIns="0" rtlCol="0" anchor="ctr"/>
          <a:lstStyle/>
          <a:p>
            <a:pPr indent="0" marL="0">
              <a:buNone/>
            </a:pPr>
            <a:r>
              <a:rPr lang="en-US" sz="1800" dirty="0">
                <a:solidFill>
                  <a:srgbClr val="5B7186"/>
                </a:solidFill>
                <a:latin typeface="Cambria" pitchFamily="34" charset="0"/>
                <a:ea typeface="Cambria" pitchFamily="34" charset="-122"/>
                <a:cs typeface="Cambria" pitchFamily="34" charset="-120"/>
              </a:rPr>
              <a:t>0.4395</a:t>
            </a:r>
            <a:endParaRPr lang="en-US" sz="1800" dirty="0"/>
          </a:p>
        </p:txBody>
      </p:sp>
      <p:sp>
        <p:nvSpPr>
          <p:cNvPr id="26" name="Text 24"/>
          <p:cNvSpPr/>
          <p:nvPr/>
        </p:nvSpPr>
        <p:spPr>
          <a:xfrm>
            <a:off x="9985248" y="2103120"/>
            <a:ext cx="1408176" cy="237744"/>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ours</a:t>
            </a:r>
            <a:endParaRPr lang="en-US" sz="1000" dirty="0"/>
          </a:p>
        </p:txBody>
      </p:sp>
      <p:sp>
        <p:nvSpPr>
          <p:cNvPr id="27" name="Text 25"/>
          <p:cNvSpPr/>
          <p:nvPr/>
        </p:nvSpPr>
        <p:spPr>
          <a:xfrm>
            <a:off x="9985248" y="2286000"/>
            <a:ext cx="1408176" cy="457200"/>
          </a:xfrm>
          <a:prstGeom prst="rect">
            <a:avLst/>
          </a:prstGeom>
          <a:noFill/>
          <a:ln/>
        </p:spPr>
        <p:txBody>
          <a:bodyPr wrap="square" lIns="0" tIns="0" rIns="0" bIns="0" rtlCol="0" anchor="ctr"/>
          <a:lstStyle/>
          <a:p>
            <a:pPr indent="0" marL="0">
              <a:buNone/>
            </a:pPr>
            <a:r>
              <a:rPr lang="en-US" sz="2200" b="1" dirty="0">
                <a:solidFill>
                  <a:srgbClr val="065A82"/>
                </a:solidFill>
                <a:latin typeface="Cambria" pitchFamily="34" charset="0"/>
                <a:ea typeface="Cambria" pitchFamily="34" charset="-122"/>
                <a:cs typeface="Cambria" pitchFamily="34" charset="-120"/>
              </a:rPr>
              <a:t>0.2676</a:t>
            </a:r>
            <a:endParaRPr lang="en-US" sz="2200" dirty="0"/>
          </a:p>
        </p:txBody>
      </p:sp>
      <p:sp>
        <p:nvSpPr>
          <p:cNvPr id="28" name="Shape 26"/>
          <p:cNvSpPr/>
          <p:nvPr/>
        </p:nvSpPr>
        <p:spPr>
          <a:xfrm>
            <a:off x="8339328" y="2871216"/>
            <a:ext cx="3054096" cy="310896"/>
          </a:xfrm>
          <a:prstGeom prst="roundRect">
            <a:avLst>
              <a:gd name="adj" fmla="val 50000"/>
            </a:avLst>
          </a:prstGeom>
          <a:solidFill>
            <a:srgbClr val="2E8B6F"/>
          </a:solidFill>
          <a:ln w="12700">
            <a:solidFill>
              <a:srgbClr val="2E8B6F"/>
            </a:solidFill>
            <a:prstDash val="solid"/>
          </a:ln>
        </p:spPr>
      </p:sp>
      <p:sp>
        <p:nvSpPr>
          <p:cNvPr id="29" name="Text 27"/>
          <p:cNvSpPr/>
          <p:nvPr/>
        </p:nvSpPr>
        <p:spPr>
          <a:xfrm>
            <a:off x="8339328" y="2871216"/>
            <a:ext cx="3054096"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improvement  −0.172</a:t>
            </a:r>
            <a:endParaRPr lang="en-US" sz="1050" dirty="0"/>
          </a:p>
        </p:txBody>
      </p:sp>
      <p:sp>
        <p:nvSpPr>
          <p:cNvPr id="30" name="Text 28"/>
          <p:cNvSpPr/>
          <p:nvPr/>
        </p:nvSpPr>
        <p:spPr>
          <a:xfrm>
            <a:off x="8339328" y="3310128"/>
            <a:ext cx="3054096" cy="640080"/>
          </a:xfrm>
          <a:prstGeom prst="rect">
            <a:avLst/>
          </a:prstGeom>
          <a:noFill/>
          <a:ln/>
        </p:spPr>
        <p:txBody>
          <a:bodyPr wrap="square" lIns="0" tIns="0" rIns="0" bIns="0" rtlCol="0" anchor="ctr"/>
          <a:lstStyle/>
          <a:p>
            <a:pPr indent="0" marL="0">
              <a:lnSpc>
                <a:spcPts val="1350"/>
              </a:lnSpc>
              <a:buNone/>
            </a:pPr>
            <a:r>
              <a:rPr lang="en-US" sz="1050" dirty="0">
                <a:solidFill>
                  <a:srgbClr val="5B7186"/>
                </a:solidFill>
                <a:latin typeface="Calibri" pitchFamily="34" charset="0"/>
                <a:ea typeface="Calibri" pitchFamily="34" charset="-122"/>
                <a:cs typeface="Calibri" pitchFamily="34" charset="-120"/>
              </a:rPr>
              <a:t>Perceptual distance (AlexNet). Lower is better.</a:t>
            </a:r>
            <a:endParaRPr lang="en-US" sz="1050" dirty="0"/>
          </a:p>
        </p:txBody>
      </p:sp>
      <p:sp>
        <p:nvSpPr>
          <p:cNvPr id="31" name="Shape 29"/>
          <p:cNvSpPr/>
          <p:nvPr/>
        </p:nvSpPr>
        <p:spPr>
          <a:xfrm>
            <a:off x="566928" y="4370832"/>
            <a:ext cx="3529584"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2" name="Text 30"/>
          <p:cNvSpPr/>
          <p:nvPr/>
        </p:nvSpPr>
        <p:spPr>
          <a:xfrm>
            <a:off x="804672" y="4517136"/>
            <a:ext cx="3054096" cy="310896"/>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Computed on the saved files</a:t>
            </a:r>
            <a:endParaRPr lang="en-US" sz="1250" dirty="0"/>
          </a:p>
        </p:txBody>
      </p:sp>
      <p:sp>
        <p:nvSpPr>
          <p:cNvPr id="33" name="Text 31"/>
          <p:cNvSpPr/>
          <p:nvPr/>
        </p:nvSpPr>
        <p:spPr>
          <a:xfrm>
            <a:off x="804672"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scripts/evaluate.py reads the written .npy outputs back off disk rather than scoring in-memory tensors, so any dtype or range loss at save time is captured in the number we report.</a:t>
            </a:r>
            <a:endParaRPr lang="en-US" sz="1000" dirty="0"/>
          </a:p>
        </p:txBody>
      </p:sp>
      <p:sp>
        <p:nvSpPr>
          <p:cNvPr id="34" name="Shape 32"/>
          <p:cNvSpPr/>
          <p:nvPr/>
        </p:nvSpPr>
        <p:spPr>
          <a:xfrm>
            <a:off x="4334256" y="4370832"/>
            <a:ext cx="3529584" cy="1737360"/>
          </a:xfrm>
          <a:prstGeom prst="roundRect">
            <a:avLst>
              <a:gd name="adj" fmla="val 3158"/>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5" name="Text 33"/>
          <p:cNvSpPr/>
          <p:nvPr/>
        </p:nvSpPr>
        <p:spPr>
          <a:xfrm>
            <a:off x="4572000" y="4517136"/>
            <a:ext cx="3054096" cy="310896"/>
          </a:xfrm>
          <a:prstGeom prst="rect">
            <a:avLst/>
          </a:prstGeom>
          <a:noFill/>
          <a:ln/>
        </p:spPr>
        <p:txBody>
          <a:bodyPr wrap="square" lIns="0" tIns="0" rIns="0" bIns="0" rtlCol="0" anchor="ctr"/>
          <a:lstStyle/>
          <a:p>
            <a:pPr indent="0" marL="0">
              <a:buNone/>
            </a:pPr>
            <a:r>
              <a:rPr lang="en-US" sz="1250" b="1" dirty="0">
                <a:solidFill>
                  <a:srgbClr val="13202E"/>
                </a:solidFill>
                <a:latin typeface="Cambria" pitchFamily="34" charset="0"/>
                <a:ea typeface="Cambria" pitchFamily="34" charset="-122"/>
                <a:cs typeface="Cambria" pitchFamily="34" charset="-120"/>
              </a:rPr>
              <a:t>Metric code validated, not trusted</a:t>
            </a:r>
            <a:endParaRPr lang="en-US" sz="1250" dirty="0"/>
          </a:p>
        </p:txBody>
      </p:sp>
      <p:sp>
        <p:nvSpPr>
          <p:cNvPr id="36" name="Text 34"/>
          <p:cNvSpPr/>
          <p:nvPr/>
        </p:nvSpPr>
        <p:spPr>
          <a:xfrm>
            <a:off x="4572000"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PSNR and SSIM are implemented in torch, then checked against scikit-image across six noise levels. Maximum deviation 1.6e-07 (SSIM) and 9.0e-07 (PSNR).</a:t>
            </a:r>
            <a:endParaRPr lang="en-US" sz="1000" dirty="0"/>
          </a:p>
        </p:txBody>
      </p:sp>
      <p:sp>
        <p:nvSpPr>
          <p:cNvPr id="37" name="Shape 35"/>
          <p:cNvSpPr/>
          <p:nvPr/>
        </p:nvSpPr>
        <p:spPr>
          <a:xfrm>
            <a:off x="8101584" y="4370832"/>
            <a:ext cx="3529584" cy="1737360"/>
          </a:xfrm>
          <a:prstGeom prst="roundRect">
            <a:avLst>
              <a:gd name="adj" fmla="val 3158"/>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38" name="Text 36"/>
          <p:cNvSpPr/>
          <p:nvPr/>
        </p:nvSpPr>
        <p:spPr>
          <a:xfrm>
            <a:off x="8339328" y="4517136"/>
            <a:ext cx="3054096" cy="310896"/>
          </a:xfrm>
          <a:prstGeom prst="rect">
            <a:avLst/>
          </a:prstGeom>
          <a:noFill/>
          <a:ln/>
        </p:spPr>
        <p:txBody>
          <a:bodyPr wrap="square" lIns="0" tIns="0" rIns="0" bIns="0" rtlCol="0" anchor="ctr"/>
          <a:lstStyle/>
          <a:p>
            <a:pPr indent="0" marL="0">
              <a:buNone/>
            </a:pPr>
            <a:r>
              <a:rPr lang="en-US" sz="1250" b="1" dirty="0">
                <a:solidFill>
                  <a:srgbClr val="9C5A1E"/>
                </a:solidFill>
                <a:latin typeface="Cambria" pitchFamily="34" charset="0"/>
                <a:ea typeface="Cambria" pitchFamily="34" charset="-122"/>
                <a:cs typeface="Cambria" pitchFamily="34" charset="-120"/>
              </a:rPr>
              <a:t>OOD proxy: read 24.40 dB, not 27.52</a:t>
            </a:r>
            <a:endParaRPr lang="en-US" sz="1250" dirty="0"/>
          </a:p>
        </p:txBody>
      </p:sp>
      <p:sp>
        <p:nvSpPr>
          <p:cNvPr id="39" name="Text 37"/>
          <p:cNvSpPr/>
          <p:nvPr/>
        </p:nvSpPr>
        <p:spPr>
          <a:xfrm>
            <a:off x="8339328" y="4846320"/>
            <a:ext cx="3054096" cy="1170432"/>
          </a:xfrm>
          <a:prstGeom prst="rect">
            <a:avLst/>
          </a:prstGeom>
          <a:noFill/>
          <a:ln/>
        </p:spPr>
        <p:txBody>
          <a:bodyPr wrap="square" lIns="0" tIns="0" rIns="0" bIns="0" rtlCol="0" anchor="ctr"/>
          <a:lstStyle/>
          <a:p>
            <a:pPr indent="0" marL="0">
              <a:lnSpc>
                <a:spcPts val="1250"/>
              </a:lnSpc>
              <a:buNone/>
            </a:pPr>
            <a:r>
              <a:rPr lang="en-US" sz="1000" dirty="0">
                <a:solidFill>
                  <a:srgbClr val="8A5A2B"/>
                </a:solidFill>
                <a:latin typeface="Calibri" pitchFamily="34" charset="0"/>
                <a:ea typeface="Calibri" pitchFamily="34" charset="-122"/>
                <a:cs typeface="Calibri" pitchFamily="34" charset="-120"/>
              </a:rPr>
              <a:t>Half the hidden test is OOD content we cannot measure directly. Partitioning the held-out split by content character gives 31.36 / 26.73 / 24.40 dB for smooth / edge-dominated / texture-heavy. We treat the weakest as our OOD expectation.</a:t>
            </a:r>
            <a:endParaRPr lang="en-US" sz="1000" dirty="0"/>
          </a:p>
        </p:txBody>
      </p:sp>
      <p:sp>
        <p:nvSpPr>
          <p:cNvPr id="40" name="Text 38"/>
          <p:cNvSpPr/>
          <p:nvPr/>
        </p:nvSpPr>
        <p:spPr>
          <a:xfrm>
            <a:off x="566928" y="6236208"/>
            <a:ext cx="11055096" cy="292608"/>
          </a:xfrm>
          <a:prstGeom prst="rect">
            <a:avLst/>
          </a:prstGeom>
          <a:noFill/>
          <a:ln/>
        </p:spPr>
        <p:txBody>
          <a:bodyPr wrap="square" lIns="0" tIns="0" rIns="0" bIns="0" rtlCol="0" anchor="ctr"/>
          <a:lstStyle/>
          <a:p>
            <a:pPr indent="0" marL="0">
              <a:buNone/>
            </a:pPr>
            <a:r>
              <a:rPr lang="en-US" sz="950" i="1" dirty="0">
                <a:solidFill>
                  <a:srgbClr val="5B7186"/>
                </a:solidFill>
                <a:latin typeface="Calibri" pitchFamily="34" charset="0"/>
                <a:ea typeface="Calibri" pitchFamily="34" charset="-122"/>
                <a:cs typeface="Calibri" pitchFamily="34" charset="-120"/>
              </a:rPr>
              <a:t>Method and per-group table in results/ood_analysis.md; figure in results/figures/ood_groups.png.</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Runtime and optimization</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Throughput is scored end-to-end — including disk read and file writing</a:t>
            </a:r>
            <a:endParaRPr lang="en-US" sz="1350" dirty="0"/>
          </a:p>
        </p:txBody>
      </p:sp>
      <p:sp>
        <p:nvSpPr>
          <p:cNvPr id="4" name="Shape 2"/>
          <p:cNvSpPr/>
          <p:nvPr/>
        </p:nvSpPr>
        <p:spPr>
          <a:xfrm>
            <a:off x="56692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5" name="Text 3"/>
          <p:cNvSpPr/>
          <p:nvPr/>
        </p:nvSpPr>
        <p:spPr>
          <a:xfrm>
            <a:off x="56692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172.4</a:t>
            </a:r>
            <a:endParaRPr lang="en-US" sz="3400" dirty="0"/>
          </a:p>
        </p:txBody>
      </p:sp>
      <p:sp>
        <p:nvSpPr>
          <p:cNvPr id="6" name="Text 4"/>
          <p:cNvSpPr/>
          <p:nvPr/>
        </p:nvSpPr>
        <p:spPr>
          <a:xfrm>
            <a:off x="56692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images / sec</a:t>
            </a:r>
            <a:endParaRPr lang="en-US" sz="1100" dirty="0"/>
          </a:p>
        </p:txBody>
      </p:sp>
      <p:sp>
        <p:nvSpPr>
          <p:cNvPr id="7" name="Shape 5"/>
          <p:cNvSpPr/>
          <p:nvPr/>
        </p:nvSpPr>
        <p:spPr>
          <a:xfrm>
            <a:off x="340156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8" name="Text 6"/>
          <p:cNvSpPr/>
          <p:nvPr/>
        </p:nvSpPr>
        <p:spPr>
          <a:xfrm>
            <a:off x="340156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2.32 s</a:t>
            </a:r>
            <a:endParaRPr lang="en-US" sz="3400" dirty="0"/>
          </a:p>
        </p:txBody>
      </p:sp>
      <p:sp>
        <p:nvSpPr>
          <p:cNvPr id="9" name="Text 7"/>
          <p:cNvSpPr/>
          <p:nvPr/>
        </p:nvSpPr>
        <p:spPr>
          <a:xfrm>
            <a:off x="340156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 400 test images</a:t>
            </a:r>
            <a:endParaRPr lang="en-US" sz="1100" dirty="0"/>
          </a:p>
        </p:txBody>
      </p:sp>
      <p:sp>
        <p:nvSpPr>
          <p:cNvPr id="10" name="Shape 8"/>
          <p:cNvSpPr/>
          <p:nvPr/>
        </p:nvSpPr>
        <p:spPr>
          <a:xfrm>
            <a:off x="623620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1" name="Text 9"/>
          <p:cNvSpPr/>
          <p:nvPr/>
        </p:nvSpPr>
        <p:spPr>
          <a:xfrm>
            <a:off x="623620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4.98 ms</a:t>
            </a:r>
            <a:endParaRPr lang="en-US" sz="3400" dirty="0"/>
          </a:p>
        </p:txBody>
      </p:sp>
      <p:sp>
        <p:nvSpPr>
          <p:cNvPr id="12" name="Text 10"/>
          <p:cNvSpPr/>
          <p:nvPr/>
        </p:nvSpPr>
        <p:spPr>
          <a:xfrm>
            <a:off x="623620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forward, per image</a:t>
            </a:r>
            <a:endParaRPr lang="en-US" sz="1100" dirty="0"/>
          </a:p>
        </p:txBody>
      </p:sp>
      <p:sp>
        <p:nvSpPr>
          <p:cNvPr id="13" name="Shape 11"/>
          <p:cNvSpPr/>
          <p:nvPr/>
        </p:nvSpPr>
        <p:spPr>
          <a:xfrm>
            <a:off x="9070848" y="1517904"/>
            <a:ext cx="2615184" cy="1188720"/>
          </a:xfrm>
          <a:prstGeom prst="roundRect">
            <a:avLst>
              <a:gd name="adj" fmla="val 4615"/>
            </a:avLst>
          </a:prstGeom>
          <a:solidFill>
            <a:srgbClr val="FFFFFF"/>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4" name="Text 12"/>
          <p:cNvSpPr/>
          <p:nvPr/>
        </p:nvSpPr>
        <p:spPr>
          <a:xfrm>
            <a:off x="9070848" y="1664208"/>
            <a:ext cx="2615184" cy="603504"/>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4.02 M</a:t>
            </a:r>
            <a:endParaRPr lang="en-US" sz="3400" dirty="0"/>
          </a:p>
        </p:txBody>
      </p:sp>
      <p:sp>
        <p:nvSpPr>
          <p:cNvPr id="15" name="Text 13"/>
          <p:cNvSpPr/>
          <p:nvPr/>
        </p:nvSpPr>
        <p:spPr>
          <a:xfrm>
            <a:off x="9070848" y="2231136"/>
            <a:ext cx="2615184" cy="365760"/>
          </a:xfrm>
          <a:prstGeom prst="rect">
            <a:avLst/>
          </a:prstGeom>
          <a:noFill/>
          <a:ln/>
        </p:spPr>
        <p:txBody>
          <a:bodyPr wrap="square" lIns="0" tIns="0" rIns="0" bIns="0" rtlCol="0" anchor="ctr"/>
          <a:lstStyle/>
          <a:p>
            <a:pPr algn="ctr" indent="0" marL="0">
              <a:buNone/>
            </a:pPr>
            <a:r>
              <a:rPr lang="en-US" sz="1100" dirty="0">
                <a:solidFill>
                  <a:srgbClr val="5B7186"/>
                </a:solidFill>
                <a:latin typeface="Calibri" pitchFamily="34" charset="0"/>
                <a:ea typeface="Calibri" pitchFamily="34" charset="-122"/>
                <a:cs typeface="Calibri" pitchFamily="34" charset="-120"/>
              </a:rPr>
              <a:t>parameters</a:t>
            </a:r>
            <a:endParaRPr lang="en-US" sz="1100" dirty="0"/>
          </a:p>
        </p:txBody>
      </p:sp>
      <p:sp>
        <p:nvSpPr>
          <p:cNvPr id="16" name="Text 14"/>
          <p:cNvSpPr/>
          <p:nvPr/>
        </p:nvSpPr>
        <p:spPr>
          <a:xfrm>
            <a:off x="566928" y="2944368"/>
            <a:ext cx="5486400" cy="329184"/>
          </a:xfrm>
          <a:prstGeom prst="rect">
            <a:avLst/>
          </a:prstGeom>
          <a:noFill/>
          <a:ln/>
        </p:spPr>
        <p:txBody>
          <a:bodyPr wrap="square" lIns="0" tIns="0" rIns="0" bIns="0" rtlCol="0" anchor="ctr"/>
          <a:lstStyle/>
          <a:p>
            <a:pPr indent="0" marL="0">
              <a:buNone/>
            </a:pPr>
            <a:r>
              <a:rPr lang="en-US" sz="1600" b="1" dirty="0">
                <a:solidFill>
                  <a:srgbClr val="13202E"/>
                </a:solidFill>
                <a:latin typeface="Cambria" pitchFamily="34" charset="0"/>
                <a:ea typeface="Cambria" pitchFamily="34" charset="-122"/>
                <a:cs typeface="Cambria" pitchFamily="34" charset="-120"/>
              </a:rPr>
              <a:t>What we did to make it fast</a:t>
            </a:r>
            <a:endParaRPr lang="en-US" sz="1600" dirty="0"/>
          </a:p>
        </p:txBody>
      </p:sp>
      <p:sp>
        <p:nvSpPr>
          <p:cNvPr id="17" name="Text 15"/>
          <p:cNvSpPr/>
          <p:nvPr/>
        </p:nvSpPr>
        <p:spPr>
          <a:xfrm>
            <a:off x="566928" y="3328416"/>
            <a:ext cx="5486400" cy="21945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Post-upsampling design — the network runs at LR resolution, so the expensive layers never see 256×256</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Threaded output writing: single-threaded encoding is the classic hidden bottleneck in exactly this task</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torch.inference_mode(), channels_last, bf16 autocast, TF32</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Images grouped by shape so mixed resolutions batch cleanly</a:t>
            </a:r>
            <a:endParaRPr lang="en-US" sz="1150" dirty="0"/>
          </a:p>
          <a:p>
            <a:pPr marL="342900" indent="-342900">
              <a:lnSpc>
                <a:spcPts val="1700"/>
              </a:lnSpc>
              <a:spcAft>
                <a:spcPts val="700"/>
              </a:spcAft>
              <a:buSzPct val="100000"/>
              <a:buChar char="•"/>
            </a:pPr>
            <a:r>
              <a:rPr lang="en-US" sz="1150" dirty="0">
                <a:solidFill>
                  <a:srgbClr val="13202E"/>
                </a:solidFill>
                <a:latin typeface="Calibri" pitchFamily="34" charset="0"/>
                <a:ea typeface="Calibri" pitchFamily="34" charset="-122"/>
                <a:cs typeface="Calibri" pitchFamily="34" charset="-120"/>
              </a:rPr>
              <a:t>Pinned-memory reads overlap disk I/O with compute</a:t>
            </a:r>
            <a:endParaRPr lang="en-US" sz="1150" dirty="0"/>
          </a:p>
        </p:txBody>
      </p:sp>
      <p:sp>
        <p:nvSpPr>
          <p:cNvPr id="18" name="Shape 16"/>
          <p:cNvSpPr/>
          <p:nvPr/>
        </p:nvSpPr>
        <p:spPr>
          <a:xfrm>
            <a:off x="6355080" y="3328416"/>
            <a:ext cx="5303520" cy="2194560"/>
          </a:xfrm>
          <a:prstGeom prst="roundRect">
            <a:avLst>
              <a:gd name="adj" fmla="val 2500"/>
            </a:avLst>
          </a:prstGeom>
          <a:solidFill>
            <a:srgbClr val="FFF4E8"/>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19" name="Text 17"/>
          <p:cNvSpPr/>
          <p:nvPr/>
        </p:nvSpPr>
        <p:spPr>
          <a:xfrm>
            <a:off x="6611112" y="3493008"/>
            <a:ext cx="4791456" cy="292608"/>
          </a:xfrm>
          <a:prstGeom prst="rect">
            <a:avLst/>
          </a:prstGeom>
          <a:noFill/>
          <a:ln/>
        </p:spPr>
        <p:txBody>
          <a:bodyPr wrap="square" lIns="0" tIns="0" rIns="0" bIns="0" rtlCol="0" anchor="ctr"/>
          <a:lstStyle/>
          <a:p>
            <a:pPr indent="0" marL="0">
              <a:buNone/>
            </a:pPr>
            <a:r>
              <a:rPr lang="en-US" sz="1400" b="1" dirty="0">
                <a:solidFill>
                  <a:srgbClr val="9C5A1E"/>
                </a:solidFill>
                <a:latin typeface="Cambria" pitchFamily="34" charset="0"/>
                <a:ea typeface="Cambria" pitchFamily="34" charset="-122"/>
                <a:cs typeface="Cambria" pitchFamily="34" charset="-120"/>
              </a:rPr>
              <a:t>Honest caveat on these numbers</a:t>
            </a:r>
            <a:endParaRPr lang="en-US" sz="1400" dirty="0"/>
          </a:p>
        </p:txBody>
      </p:sp>
      <p:sp>
        <p:nvSpPr>
          <p:cNvPr id="20" name="Text 18"/>
          <p:cNvSpPr/>
          <p:nvPr/>
        </p:nvSpPr>
        <p:spPr>
          <a:xfrm>
            <a:off x="6611112" y="3822192"/>
            <a:ext cx="4791456" cy="1591056"/>
          </a:xfrm>
          <a:prstGeom prst="rect">
            <a:avLst/>
          </a:prstGeom>
          <a:noFill/>
          <a:ln/>
        </p:spPr>
        <p:txBody>
          <a:bodyPr wrap="square" lIns="0" tIns="0" rIns="0" bIns="0" rtlCol="0" anchor="ctr"/>
          <a:lstStyle/>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All timings were measured on an RTX 4050 Laptop GPU (6 GB, sm_89), not on an H100. They should be read as relative — showing where the time goes and that no stage is pathological — not as a prediction of evaluation-hardware throughput.</a:t>
            </a:r>
            <a:endParaRPr lang="en-US" sz="1050" dirty="0"/>
          </a:p>
          <a:p>
            <a:pPr indent="0" marL="0">
              <a:lnSpc>
                <a:spcPts val="1400"/>
              </a:lnSpc>
              <a:buNone/>
            </a:pPr>
            <a:endParaRPr lang="en-US" sz="1050" dirty="0"/>
          </a:p>
          <a:p>
            <a:pPr indent="0" marL="0">
              <a:lnSpc>
                <a:spcPts val="1400"/>
              </a:lnSpc>
              <a:buNone/>
            </a:pPr>
            <a:r>
              <a:rPr lang="en-US" sz="1050" dirty="0">
                <a:solidFill>
                  <a:srgbClr val="8A5A2B"/>
                </a:solidFill>
                <a:latin typeface="Calibri" pitchFamily="34" charset="0"/>
                <a:ea typeface="Calibri" pitchFamily="34" charset="-122"/>
                <a:cs typeface="Calibri" pitchFamily="34" charset="-120"/>
              </a:rPr>
              <a:t>Method: CUDA events with explicit synchronize, warmup passes discarded, median of repeated runs, full per-stage breakdown in results/runtime_report.md.</a:t>
            </a:r>
            <a:endParaRPr lang="en-US" sz="1050" dirty="0"/>
          </a:p>
        </p:txBody>
      </p:sp>
      <p:sp>
        <p:nvSpPr>
          <p:cNvPr id="21" name="Text 19"/>
          <p:cNvSpPr/>
          <p:nvPr/>
        </p:nvSpPr>
        <p:spPr>
          <a:xfrm>
            <a:off x="566928" y="5705856"/>
            <a:ext cx="11055096" cy="731520"/>
          </a:xfrm>
          <a:prstGeom prst="rect">
            <a:avLst/>
          </a:prstGeom>
          <a:noFill/>
          <a:ln/>
        </p:spPr>
        <p:txBody>
          <a:bodyPr wrap="square" lIns="0" tIns="0" rIns="0" bIns="0" rtlCol="0" anchor="ctr"/>
          <a:lstStyle/>
          <a:p>
            <a:pPr indent="0" marL="0">
              <a:lnSpc>
                <a:spcPts val="1250"/>
              </a:lnSpc>
              <a:buNone/>
            </a:pPr>
            <a:r>
              <a:rPr lang="en-US" sz="1000" dirty="0">
                <a:solidFill>
                  <a:srgbClr val="5B7186"/>
                </a:solidFill>
                <a:latin typeface="Calibri" pitchFamily="34" charset="0"/>
                <a:ea typeface="Calibri" pitchFamily="34" charset="-122"/>
                <a:cs typeface="Calibri" pitchFamily="34" charset="-120"/>
              </a:rPr>
              <a:t>Resolution paths verified beyond the released data. All 400 released test inputs are 128×128, so the 256×256 → 512×512 path was never exercised by them. It is now checked explicitly (scripts/verify_resolution_paths.py): correct ×2 shape, filenames, float32 dtype and [0,1] range at 256×256, plus 250×250 and 129×129 to force the reflect-padding path that multiples of the stride never touch — no seam, and a mixed-shape directory batches correctly. Peak VRAM: 0.124 GB at 256×256, 0.350 GB at 512×512, 1.256 GB at 256×256 batch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566928" y="384048"/>
            <a:ext cx="11055096" cy="566928"/>
          </a:xfrm>
          <a:prstGeom prst="rect">
            <a:avLst/>
          </a:prstGeom>
          <a:noFill/>
          <a:ln/>
        </p:spPr>
        <p:txBody>
          <a:bodyPr wrap="square" lIns="0" tIns="0" rIns="0" bIns="0" rtlCol="0" anchor="ctr"/>
          <a:lstStyle/>
          <a:p>
            <a:pPr indent="0" marL="0">
              <a:buNone/>
            </a:pPr>
            <a:r>
              <a:rPr lang="en-US" sz="3200" b="1" dirty="0">
                <a:solidFill>
                  <a:srgbClr val="13202E"/>
                </a:solidFill>
                <a:latin typeface="Cambria" pitchFamily="34" charset="0"/>
                <a:ea typeface="Cambria" pitchFamily="34" charset="-122"/>
                <a:cs typeface="Cambria" pitchFamily="34" charset="-120"/>
              </a:rPr>
              <a:t>Visual results and failure cases</a:t>
            </a:r>
            <a:endParaRPr lang="en-US" sz="3200" dirty="0"/>
          </a:p>
        </p:txBody>
      </p:sp>
      <p:sp>
        <p:nvSpPr>
          <p:cNvPr id="3" name="Text 1"/>
          <p:cNvSpPr/>
          <p:nvPr/>
        </p:nvSpPr>
        <p:spPr>
          <a:xfrm>
            <a:off x="566928" y="941832"/>
            <a:ext cx="11055096" cy="292608"/>
          </a:xfrm>
          <a:prstGeom prst="rect">
            <a:avLst/>
          </a:prstGeom>
          <a:noFill/>
          <a:ln/>
        </p:spPr>
        <p:txBody>
          <a:bodyPr wrap="square" lIns="0" tIns="0" rIns="0" bIns="0" rtlCol="0" anchor="ctr"/>
          <a:lstStyle/>
          <a:p>
            <a:pPr indent="0" marL="0">
              <a:buNone/>
            </a:pPr>
            <a:r>
              <a:rPr lang="en-US" sz="1350" i="1" dirty="0">
                <a:solidFill>
                  <a:srgbClr val="5B7186"/>
                </a:solidFill>
                <a:latin typeface="Calibri" pitchFamily="34" charset="0"/>
                <a:ea typeface="Calibri" pitchFamily="34" charset="-122"/>
                <a:cs typeface="Calibri" pitchFamily="34" charset="-120"/>
              </a:rPr>
              <a:t>Looking at the images, not only at the averages</a:t>
            </a:r>
            <a:endParaRPr lang="en-US" sz="1350" dirty="0"/>
          </a:p>
        </p:txBody>
      </p:sp>
      <p:pic>
        <p:nvPicPr>
          <p:cNvPr id="4" name="Image 0" descr="C:\Users\mdsha\Downloads\KLA Hackathon\kla-restoration\results\figures\qualitative_typical.png">    </p:cNvPr>
          <p:cNvPicPr>
            <a:picLocks noChangeAspect="1"/>
          </p:cNvPicPr>
          <p:nvPr/>
        </p:nvPicPr>
        <p:blipFill>
          <a:blip r:embed="rId1"/>
          <a:stretch>
            <a:fillRect/>
          </a:stretch>
        </p:blipFill>
        <p:spPr>
          <a:xfrm>
            <a:off x="566928" y="1463040"/>
            <a:ext cx="5486400" cy="3246120"/>
          </a:xfrm>
          <a:prstGeom prst="rect">
            <a:avLst/>
          </a:prstGeom>
        </p:spPr>
      </p:pic>
      <p:sp>
        <p:nvSpPr>
          <p:cNvPr id="5" name="Text 2"/>
          <p:cNvSpPr/>
          <p:nvPr/>
        </p:nvSpPr>
        <p:spPr>
          <a:xfrm>
            <a:off x="566928" y="4754880"/>
            <a:ext cx="5486400" cy="274320"/>
          </a:xfrm>
          <a:prstGeom prst="rect">
            <a:avLst/>
          </a:prstGeom>
          <a:noFill/>
          <a:ln/>
        </p:spPr>
        <p:txBody>
          <a:bodyPr wrap="square" lIns="0" tIns="0" rIns="0" bIns="0" rtlCol="0" anchor="ctr"/>
          <a:lstStyle/>
          <a:p>
            <a:pPr indent="0" marL="0">
              <a:buNone/>
            </a:pPr>
            <a:r>
              <a:rPr lang="en-US" sz="1050" i="1" dirty="0">
                <a:solidFill>
                  <a:srgbClr val="5B7186"/>
                </a:solidFill>
                <a:latin typeface="Calibri" pitchFamily="34" charset="0"/>
                <a:ea typeface="Calibri" pitchFamily="34" charset="-122"/>
                <a:cs typeface="Calibri" pitchFamily="34" charset="-120"/>
              </a:rPr>
              <a:t>Typical cases — median-PSNR validation images</a:t>
            </a:r>
            <a:endParaRPr lang="en-US" sz="1050" dirty="0"/>
          </a:p>
        </p:txBody>
      </p:sp>
      <p:pic>
        <p:nvPicPr>
          <p:cNvPr id="6" name="Image 1" descr="C:\Users\mdsha\Downloads\KLA Hackathon\kla-restoration\results\figures\qualitative_failures.png">    </p:cNvPr>
          <p:cNvPicPr>
            <a:picLocks noChangeAspect="1"/>
          </p:cNvPicPr>
          <p:nvPr/>
        </p:nvPicPr>
        <p:blipFill>
          <a:blip r:embed="rId2"/>
          <a:stretch>
            <a:fillRect/>
          </a:stretch>
        </p:blipFill>
        <p:spPr>
          <a:xfrm>
            <a:off x="6309360" y="1463040"/>
            <a:ext cx="5486400" cy="3246120"/>
          </a:xfrm>
          <a:prstGeom prst="rect">
            <a:avLst/>
          </a:prstGeom>
        </p:spPr>
      </p:pic>
      <p:sp>
        <p:nvSpPr>
          <p:cNvPr id="7" name="Text 3"/>
          <p:cNvSpPr/>
          <p:nvPr/>
        </p:nvSpPr>
        <p:spPr>
          <a:xfrm>
            <a:off x="6309360" y="4754880"/>
            <a:ext cx="5486400" cy="274320"/>
          </a:xfrm>
          <a:prstGeom prst="rect">
            <a:avLst/>
          </a:prstGeom>
          <a:noFill/>
          <a:ln/>
        </p:spPr>
        <p:txBody>
          <a:bodyPr wrap="square" lIns="0" tIns="0" rIns="0" bIns="0" rtlCol="0" anchor="ctr"/>
          <a:lstStyle/>
          <a:p>
            <a:pPr indent="0" marL="0">
              <a:buNone/>
            </a:pPr>
            <a:r>
              <a:rPr lang="en-US" sz="900" b="1" i="1" dirty="0">
                <a:solidFill>
                  <a:srgbClr val="B5544A"/>
                </a:solidFill>
                <a:latin typeface="Calibri" pitchFamily="34" charset="0"/>
                <a:ea typeface="Calibri" pitchFamily="34" charset="-122"/>
                <a:cs typeface="Calibri" pitchFamily="34" charset="-120"/>
              </a:rPr>
              <a:t>Failure cases — lowest-PSNR validation images (all three are texture-heavy: our OOD proxy group)</a:t>
            </a:r>
            <a:endParaRPr lang="en-US" sz="900" dirty="0"/>
          </a:p>
        </p:txBody>
      </p:sp>
      <p:sp>
        <p:nvSpPr>
          <p:cNvPr id="8" name="Shape 4"/>
          <p:cNvSpPr/>
          <p:nvPr/>
        </p:nvSpPr>
        <p:spPr>
          <a:xfrm>
            <a:off x="566928" y="5084064"/>
            <a:ext cx="11055096" cy="1463040"/>
          </a:xfrm>
          <a:prstGeom prst="roundRect">
            <a:avLst>
              <a:gd name="adj" fmla="val 3750"/>
            </a:avLst>
          </a:prstGeom>
          <a:solidFill>
            <a:srgbClr val="FDECEA"/>
          </a:solidFill>
          <a:ln w="9525">
            <a:solidFill>
              <a:srgbClr val="D9E2EC"/>
            </a:solidFill>
            <a:prstDash val="solid"/>
          </a:ln>
          <a:effectLst>
            <a:outerShdw sx="100000" sy="100000" kx="0" ky="0" algn="bl" rotWithShape="0" blurRad="101600" dist="508" dir="5400000">
              <a:srgbClr val="9AAEC0">
                <a:alpha val="10000"/>
              </a:srgbClr>
            </a:outerShdw>
          </a:effectLst>
        </p:spPr>
      </p:sp>
      <p:sp>
        <p:nvSpPr>
          <p:cNvPr id="9" name="Text 5"/>
          <p:cNvSpPr/>
          <p:nvPr/>
        </p:nvSpPr>
        <p:spPr>
          <a:xfrm>
            <a:off x="841248" y="5175504"/>
            <a:ext cx="10424160" cy="256032"/>
          </a:xfrm>
          <a:prstGeom prst="rect">
            <a:avLst/>
          </a:prstGeom>
          <a:noFill/>
          <a:ln/>
        </p:spPr>
        <p:txBody>
          <a:bodyPr wrap="square" lIns="0" tIns="0" rIns="0" bIns="0" rtlCol="0" anchor="ctr"/>
          <a:lstStyle/>
          <a:p>
            <a:pPr indent="0" marL="0">
              <a:buNone/>
            </a:pPr>
            <a:r>
              <a:rPr lang="en-US" sz="1250" b="1" dirty="0">
                <a:solidFill>
                  <a:srgbClr val="B5544A"/>
                </a:solidFill>
                <a:latin typeface="Cambria" pitchFamily="34" charset="0"/>
                <a:ea typeface="Cambria" pitchFamily="34" charset="-122"/>
                <a:cs typeface="Cambria" pitchFamily="34" charset="-120"/>
              </a:rPr>
              <a:t>Where the model struggles</a:t>
            </a:r>
            <a:endParaRPr lang="en-US" sz="1250" dirty="0"/>
          </a:p>
        </p:txBody>
      </p:sp>
      <p:sp>
        <p:nvSpPr>
          <p:cNvPr id="10" name="Text 6"/>
          <p:cNvSpPr/>
          <p:nvPr/>
        </p:nvSpPr>
        <p:spPr>
          <a:xfrm>
            <a:off x="841248" y="5449824"/>
            <a:ext cx="10469880" cy="1024128"/>
          </a:xfrm>
          <a:prstGeom prst="rect">
            <a:avLst/>
          </a:prstGeom>
          <a:noFill/>
          <a:ln/>
        </p:spPr>
        <p:txBody>
          <a:bodyPr wrap="square" lIns="0" tIns="0" rIns="0" bIns="0" rtlCol="0" anchor="ctr"/>
          <a:lstStyle/>
          <a:p>
            <a:pPr indent="0" marL="0">
              <a:lnSpc>
                <a:spcPts val="1250"/>
              </a:lnSpc>
              <a:buNone/>
            </a:pPr>
            <a:r>
              <a:rPr lang="en-US" sz="950" dirty="0">
                <a:solidFill>
                  <a:srgbClr val="8A4A42"/>
                </a:solidFill>
                <a:latin typeface="Calibri" pitchFamily="34" charset="0"/>
                <a:ea typeface="Calibri" pitchFamily="34" charset="-122"/>
                <a:cs typeface="Calibri" pitchFamily="34" charset="-120"/>
              </a:rPr>
              <a:t>All three lowest-PSNR validation images fall in the texture-heavy group — the partition and the failure analysis agree independently. The model over-smooths when the ground truth is itself dominated by dense high-frequency texture: 002539 (10.86 dB) and 002535 (18.16 dB) have near-noise-like GT, 002473 is dense foliage. A fidelity objective correctly suppresses high-frequency content that looks like noise, which is right on average but erases genuine fine texture. That group averages 24.40 dB against 27.52 dB overall, and it is our honest OOD estimate. Even here the model beats bicubic on all three (10.86 vs 10.22, 17.61 vs 17.21, 18.16 vs 17.30) — it never does worse, it simply cannot win much.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1463040" y="4023360"/>
            <a:ext cx="4572000" cy="4572000"/>
          </a:xfrm>
          <a:prstGeom prst="ellipse">
            <a:avLst/>
          </a:prstGeom>
          <a:solidFill>
            <a:srgbClr val="16324F"/>
          </a:solidFill>
          <a:ln w="12700">
            <a:solidFill>
              <a:srgbClr val="16324F"/>
            </a:solidFill>
            <a:prstDash val="solid"/>
          </a:ln>
        </p:spPr>
      </p:sp>
      <p:sp>
        <p:nvSpPr>
          <p:cNvPr id="3" name="Text 1"/>
          <p:cNvSpPr/>
          <p:nvPr/>
        </p:nvSpPr>
        <p:spPr>
          <a:xfrm>
            <a:off x="566928" y="54864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2"/>
          <p:cNvSpPr/>
          <p:nvPr/>
        </p:nvSpPr>
        <p:spPr>
          <a:xfrm>
            <a:off x="566928" y="1335024"/>
            <a:ext cx="384048" cy="384048"/>
          </a:xfrm>
          <a:prstGeom prst="ellipse">
            <a:avLst/>
          </a:prstGeom>
          <a:solidFill>
            <a:srgbClr val="F2A65A"/>
          </a:solidFill>
          <a:ln w="12700">
            <a:solidFill>
              <a:srgbClr val="F2A65A"/>
            </a:solidFill>
            <a:prstDash val="solid"/>
          </a:ln>
        </p:spPr>
      </p:sp>
      <p:sp>
        <p:nvSpPr>
          <p:cNvPr id="5" name="Text 3"/>
          <p:cNvSpPr/>
          <p:nvPr/>
        </p:nvSpPr>
        <p:spPr>
          <a:xfrm>
            <a:off x="566928" y="1335024"/>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133856" y="1298448"/>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Beats the mandatory baseline</a:t>
            </a:r>
            <a:endParaRPr lang="en-US" sz="1600" dirty="0"/>
          </a:p>
        </p:txBody>
      </p:sp>
      <p:sp>
        <p:nvSpPr>
          <p:cNvPr id="7" name="Text 5"/>
          <p:cNvSpPr/>
          <p:nvPr/>
        </p:nvSpPr>
        <p:spPr>
          <a:xfrm>
            <a:off x="1133856" y="1600200"/>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27.52 dB vs 22.73 dB bicubic (+4.79 dB), on a held-out split never used for training</a:t>
            </a:r>
            <a:endParaRPr lang="en-US" sz="1000" dirty="0"/>
          </a:p>
        </p:txBody>
      </p:sp>
      <p:sp>
        <p:nvSpPr>
          <p:cNvPr id="8" name="Shape 6"/>
          <p:cNvSpPr/>
          <p:nvPr/>
        </p:nvSpPr>
        <p:spPr>
          <a:xfrm>
            <a:off x="566928" y="2414016"/>
            <a:ext cx="384048" cy="384048"/>
          </a:xfrm>
          <a:prstGeom prst="ellipse">
            <a:avLst/>
          </a:prstGeom>
          <a:solidFill>
            <a:srgbClr val="F2A65A"/>
          </a:solidFill>
          <a:ln w="12700">
            <a:solidFill>
              <a:srgbClr val="F2A65A"/>
            </a:solidFill>
            <a:prstDash val="solid"/>
          </a:ln>
        </p:spPr>
      </p:sp>
      <p:sp>
        <p:nvSpPr>
          <p:cNvPr id="9" name="Text 7"/>
          <p:cNvSpPr/>
          <p:nvPr/>
        </p:nvSpPr>
        <p:spPr>
          <a:xfrm>
            <a:off x="566928" y="2414016"/>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133856" y="2377440"/>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Reproducible by construction</a:t>
            </a:r>
            <a:endParaRPr lang="en-US" sz="1600" dirty="0"/>
          </a:p>
        </p:txBody>
      </p:sp>
      <p:sp>
        <p:nvSpPr>
          <p:cNvPr id="11" name="Text 9"/>
          <p:cNvSpPr/>
          <p:nvPr/>
        </p:nvSpPr>
        <p:spPr>
          <a:xfrm>
            <a:off x="1133856" y="2679192"/>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One config, one seed, committed val split, git hash inside every checkpoint, metrics computed from the saved files</a:t>
            </a:r>
            <a:endParaRPr lang="en-US" sz="1000" dirty="0"/>
          </a:p>
        </p:txBody>
      </p:sp>
      <p:sp>
        <p:nvSpPr>
          <p:cNvPr id="12" name="Shape 10"/>
          <p:cNvSpPr/>
          <p:nvPr/>
        </p:nvSpPr>
        <p:spPr>
          <a:xfrm>
            <a:off x="566928" y="3493008"/>
            <a:ext cx="384048" cy="384048"/>
          </a:xfrm>
          <a:prstGeom prst="ellipse">
            <a:avLst/>
          </a:prstGeom>
          <a:solidFill>
            <a:srgbClr val="F2A65A"/>
          </a:solidFill>
          <a:ln w="12700">
            <a:solidFill>
              <a:srgbClr val="F2A65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400" b="1" dirty="0">
                <a:solidFill>
                  <a:srgbClr val="0F1C2E"/>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133856" y="3456432"/>
            <a:ext cx="65379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Training hygiene: we caught our own overfitting</a:t>
            </a:r>
            <a:endParaRPr lang="en-US" sz="1600" dirty="0"/>
          </a:p>
        </p:txBody>
      </p:sp>
      <p:sp>
        <p:nvSpPr>
          <p:cNvPr id="15" name="Text 13"/>
          <p:cNvSpPr/>
          <p:nvPr/>
        </p:nvSpPr>
        <p:spPr>
          <a:xfrm>
            <a:off x="1133856" y="3758184"/>
            <a:ext cx="6537960" cy="822960"/>
          </a:xfrm>
          <a:prstGeom prst="rect">
            <a:avLst/>
          </a:prstGeom>
          <a:noFill/>
          <a:ln/>
        </p:spPr>
        <p:txBody>
          <a:bodyPr wrap="square" lIns="0" tIns="0" rIns="0" bIns="0" rtlCol="0" anchor="ctr"/>
          <a:lstStyle/>
          <a:p>
            <a:pPr indent="0" marL="0">
              <a:lnSpc>
                <a:spcPts val="1280"/>
              </a:lnSpc>
              <a:buNone/>
            </a:pPr>
            <a:r>
              <a:rPr lang="en-US" sz="1000" dirty="0">
                <a:solidFill>
                  <a:srgbClr val="A8BDD0"/>
                </a:solidFill>
                <a:latin typeface="Calibri" pitchFamily="34" charset="0"/>
                <a:ea typeface="Calibri" pitchFamily="34" charset="-122"/>
                <a:cs typeface="Calibri" pitchFamily="34" charset="-120"/>
              </a:rPr>
              <a:t>Validation PSNR peaked at step 4,000 of the approved 15,000 while training loss kept falling. We identified this as overfitting — 3,000 images against 4.02 M parameters, no weight decay — stopped at ~9.4k and submitted the peak checkpoint best.pt had already captured. Next step is weight decay, not more steps.</a:t>
            </a:r>
            <a:endParaRPr lang="en-US" sz="1000" dirty="0"/>
          </a:p>
        </p:txBody>
      </p:sp>
      <p:sp>
        <p:nvSpPr>
          <p:cNvPr id="16" name="Text 14"/>
          <p:cNvSpPr/>
          <p:nvPr/>
        </p:nvSpPr>
        <p:spPr>
          <a:xfrm>
            <a:off x="7955280" y="1371600"/>
            <a:ext cx="3749040" cy="310896"/>
          </a:xfrm>
          <a:prstGeom prst="rect">
            <a:avLst/>
          </a:prstGeom>
          <a:noFill/>
          <a:ln/>
        </p:spPr>
        <p:txBody>
          <a:bodyPr wrap="square" lIns="0" tIns="0" rIns="0" bIns="0" rtlCol="0" anchor="ctr"/>
          <a:lstStyle/>
          <a:p>
            <a:pPr indent="0" marL="0">
              <a:buNone/>
            </a:pPr>
            <a:r>
              <a:rPr lang="en-US" sz="1600" b="1" dirty="0">
                <a:solidFill>
                  <a:srgbClr val="F2A65A"/>
                </a:solidFill>
                <a:latin typeface="Cambria" pitchFamily="34" charset="0"/>
                <a:ea typeface="Cambria" pitchFamily="34" charset="-122"/>
                <a:cs typeface="Cambria" pitchFamily="34" charset="-120"/>
              </a:rPr>
              <a:t>Disclosure</a:t>
            </a:r>
            <a:endParaRPr lang="en-US" sz="1600" dirty="0"/>
          </a:p>
        </p:txBody>
      </p:sp>
      <p:sp>
        <p:nvSpPr>
          <p:cNvPr id="17" name="Text 15"/>
          <p:cNvSpPr/>
          <p:nvPr/>
        </p:nvSpPr>
        <p:spPr>
          <a:xfrm>
            <a:off x="7955280" y="1719072"/>
            <a:ext cx="3749040" cy="3291840"/>
          </a:xfrm>
          <a:prstGeom prst="rect">
            <a:avLst/>
          </a:prstGeom>
          <a:noFill/>
          <a:ln/>
        </p:spPr>
        <p:txBody>
          <a:bodyPr wrap="square" lIns="0" tIns="0" rIns="0" bIns="0" rtlCol="0" anchor="ctr"/>
          <a:lstStyle/>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External datasets used: NONE.</a:t>
            </a: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Pretrained weights in the submitted model: NONE — trained from random initialization on the organizer pairs only.</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Evaluation only: LPIPS (pypi lpips 0.1.4, github.com/richzhang/PerceptualSimilarity, BSD-2) and its AlexNet backbone (torchvision, BSD-3). Both licences were read from the shipped LICENSE files, not from memory. Neither is imported by inference.py — verified by tracing its full import graph and re-running it with those packages blocked and sockets disabled.</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Test_NoisyLR was used only to produce submission outputs — never trained on, never validated on.</a:t>
            </a:r>
            <a:endParaRPr lang="en-US" sz="900" dirty="0"/>
          </a:p>
          <a:p>
            <a:pPr indent="0" marL="0">
              <a:lnSpc>
                <a:spcPts val="1200"/>
              </a:lnSpc>
              <a:buNone/>
            </a:pPr>
            <a:endParaRPr lang="en-US" sz="900" dirty="0"/>
          </a:p>
          <a:p>
            <a:pPr indent="0" marL="0">
              <a:lnSpc>
                <a:spcPts val="1200"/>
              </a:lnSpc>
              <a:buNone/>
            </a:pPr>
            <a:r>
              <a:rPr lang="en-US" sz="900" dirty="0">
                <a:solidFill>
                  <a:srgbClr val="A8BDD0"/>
                </a:solidFill>
                <a:latin typeface="Calibri" pitchFamily="34" charset="0"/>
                <a:ea typeface="Calibri" pitchFamily="34" charset="-122"/>
                <a:cs typeface="Calibri" pitchFamily="34" charset="-120"/>
              </a:rPr>
              <a:t>Full detail in EXTERNAL_RESOURCES.md.</a:t>
            </a:r>
            <a:endParaRPr lang="en-US" sz="900" dirty="0"/>
          </a:p>
        </p:txBody>
      </p:sp>
      <p:sp>
        <p:nvSpPr>
          <p:cNvPr id="18" name="Text 16"/>
          <p:cNvSpPr/>
          <p:nvPr/>
        </p:nvSpPr>
        <p:spPr>
          <a:xfrm>
            <a:off x="566928" y="4791456"/>
            <a:ext cx="6949440" cy="274320"/>
          </a:xfrm>
          <a:prstGeom prst="rect">
            <a:avLst/>
          </a:prstGeom>
          <a:noFill/>
          <a:ln/>
        </p:spPr>
        <p:txBody>
          <a:bodyPr wrap="square" lIns="0" tIns="0" rIns="0" bIns="0" rtlCol="0" anchor="ctr"/>
          <a:lstStyle/>
          <a:p>
            <a:pPr indent="0" marL="0">
              <a:buNone/>
            </a:pPr>
            <a:r>
              <a:rPr lang="en-US" sz="1100" dirty="0">
                <a:solidFill>
                  <a:srgbClr val="A8BDD0"/>
                </a:solidFill>
                <a:latin typeface="Calibri" pitchFamily="34" charset="0"/>
                <a:ea typeface="Calibri" pitchFamily="34" charset="-122"/>
                <a:cs typeface="Calibri" pitchFamily="34" charset="-120"/>
              </a:rPr>
              <a:t>Team ViSaSha  ·  Mohamed Shaheem · Sahasra Reddy · Vishnu Vardhan</a:t>
            </a:r>
            <a:endParaRPr lang="en-US" sz="1100" dirty="0"/>
          </a:p>
        </p:txBody>
      </p:sp>
      <p:sp>
        <p:nvSpPr>
          <p:cNvPr id="19" name="Text 17"/>
          <p:cNvSpPr/>
          <p:nvPr/>
        </p:nvSpPr>
        <p:spPr>
          <a:xfrm>
            <a:off x="566928" y="5065776"/>
            <a:ext cx="6766560" cy="237744"/>
          </a:xfrm>
          <a:prstGeom prst="rect">
            <a:avLst/>
          </a:prstGeom>
          <a:noFill/>
          <a:ln/>
        </p:spPr>
        <p:txBody>
          <a:bodyPr wrap="square" lIns="0" tIns="0" rIns="0" bIns="0" rtlCol="0" anchor="ctr"/>
          <a:lstStyle/>
          <a:p>
            <a:pPr indent="0" marL="0">
              <a:buNone/>
            </a:pPr>
            <a:r>
              <a:rPr lang="en-US" sz="1000" dirty="0">
                <a:solidFill>
                  <a:srgbClr val="7E93A8"/>
                </a:solidFill>
                <a:latin typeface="Calibri" pitchFamily="34" charset="0"/>
                <a:ea typeface="Calibri" pitchFamily="34" charset="-122"/>
                <a:cs typeface="Calibri" pitchFamily="34" charset="-120"/>
              </a:rPr>
              <a:t>Repository</a:t>
            </a:r>
            <a:endParaRPr lang="en-US" sz="1000" dirty="0"/>
          </a:p>
        </p:txBody>
      </p:sp>
      <p:sp>
        <p:nvSpPr>
          <p:cNvPr id="20" name="Text 18"/>
          <p:cNvSpPr/>
          <p:nvPr/>
        </p:nvSpPr>
        <p:spPr>
          <a:xfrm>
            <a:off x="566928" y="5138928"/>
            <a:ext cx="676656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github.com/shaheeeeeeeeem/kla-restoration</a:t>
            </a:r>
            <a:endParaRPr lang="en-US" sz="1900" dirty="0"/>
          </a:p>
        </p:txBody>
      </p:sp>
      <p:sp>
        <p:nvSpPr>
          <p:cNvPr id="21" name="Text 19"/>
          <p:cNvSpPr/>
          <p:nvPr/>
        </p:nvSpPr>
        <p:spPr>
          <a:xfrm>
            <a:off x="566928" y="5486400"/>
            <a:ext cx="6949440" cy="347472"/>
          </a:xfrm>
          <a:prstGeom prst="rect">
            <a:avLst/>
          </a:prstGeom>
          <a:noFill/>
          <a:ln/>
        </p:spPr>
        <p:txBody>
          <a:bodyPr wrap="square" lIns="0" tIns="0" rIns="0" bIns="0" rtlCol="0" anchor="ctr"/>
          <a:lstStyle/>
          <a:p>
            <a:pPr indent="0" marL="0">
              <a:buNone/>
            </a:pPr>
            <a:r>
              <a:rPr lang="en-US" sz="1250" dirty="0">
                <a:solidFill>
                  <a:srgbClr val="F2A65A"/>
                </a:solidFill>
                <a:latin typeface="Courier New" pitchFamily="34" charset="0"/>
                <a:ea typeface="Courier New" pitchFamily="34" charset="-122"/>
                <a:cs typeface="Courier New" pitchFamily="34" charset="-120"/>
              </a:rPr>
              <a:t>python inference.py --input_dir &lt;degraded&gt; --output_dir &lt;restored&gt;</a:t>
            </a:r>
            <a:endParaRPr lang="en-US" sz="1250" dirty="0"/>
          </a:p>
        </p:txBody>
      </p:sp>
      <p:sp>
        <p:nvSpPr>
          <p:cNvPr id="22" name="Text 20"/>
          <p:cNvSpPr/>
          <p:nvPr/>
        </p:nvSpPr>
        <p:spPr>
          <a:xfrm>
            <a:off x="566928" y="5870448"/>
            <a:ext cx="6949440" cy="292608"/>
          </a:xfrm>
          <a:prstGeom prst="rect">
            <a:avLst/>
          </a:prstGeom>
          <a:noFill/>
          <a:ln/>
        </p:spPr>
        <p:txBody>
          <a:bodyPr wrap="square" lIns="0" tIns="0" rIns="0" bIns="0" rtlCol="0" anchor="ctr"/>
          <a:lstStyle/>
          <a:p>
            <a:pPr indent="0" marL="0">
              <a:buNone/>
            </a:pPr>
            <a:r>
              <a:rPr lang="en-US" sz="1050" i="1" dirty="0">
                <a:solidFill>
                  <a:srgbClr val="7E93A8"/>
                </a:solidFill>
                <a:latin typeface="Calibri" pitchFamily="34" charset="0"/>
                <a:ea typeface="Calibri" pitchFamily="34" charset="-122"/>
                <a:cs typeface="Calibri" pitchFamily="34" charset="-120"/>
              </a:rPr>
              <a:t>Zero other required arguments. No config edits, no notebooks, no path edits.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 Image Restoration</dc:title>
  <dc:subject>PptxGenJS Presentation</dc:subject>
  <dc:creator>ViSaSha</dc:creator>
  <cp:lastModifiedBy>ViSaSha</cp:lastModifiedBy>
  <cp:revision>1</cp:revision>
  <dcterms:created xsi:type="dcterms:W3CDTF">2026-08-18T16:23:44Z</dcterms:created>
  <dcterms:modified xsi:type="dcterms:W3CDTF">2026-08-18T16:23:44Z</dcterms:modified>
</cp:coreProperties>
</file>